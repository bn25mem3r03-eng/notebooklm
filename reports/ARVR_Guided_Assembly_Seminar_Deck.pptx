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91695" cy="381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72E"/>
                </a:solidFill>
                <a:latin typeface="Calibri"/>
              </a:rPr>
              <a:t>SEMINAR &amp; TECHNICAL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 AR/VR and AI-Guided Manual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Assembly Solution for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F4F6F8"/>
                </a:solidFill>
                <a:latin typeface="Calibri"/>
              </a:rPr>
              <a:t>By,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« Your Name »,  Roll No. « 24MEM3Rxx »,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F4F6F8"/>
                </a:solidFill>
                <a:latin typeface="Calibri"/>
              </a:rPr>
              <a:t>M.Tech CIM  —  Department of Mechanical Engineering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B9C6D4"/>
                </a:solidFill>
                <a:latin typeface="Calibri"/>
              </a:rPr>
              <a:t>National Institute of Technology Warangal  · 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2A72E"/>
                </a:solidFill>
                <a:latin typeface="Calibri"/>
              </a:rPr>
              <a:t>OF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868680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68680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2B45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64792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764792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2B45"/>
                </a:solidFill>
                <a:latin typeface="Calibri"/>
              </a:rPr>
              <a:t>Problem &amp;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60904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660904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2B45"/>
                </a:solidFill>
                <a:latin typeface="Calibri"/>
              </a:rPr>
              <a:t>Patent Portfolio (5 patents)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57016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557016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2B45"/>
                </a:solidFill>
                <a:latin typeface="Calibri"/>
              </a:rPr>
              <a:t>Unique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53128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453128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2B45"/>
                </a:solidFill>
                <a:latin typeface="Calibri"/>
              </a:rPr>
              <a:t>Market &amp; Business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349240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349240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2B45"/>
                </a:solidFill>
                <a:latin typeface="Calibri"/>
              </a:rPr>
              <a:t>Financials, Roadmap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•  </a:t>
            </a:r>
            <a:r>
              <a:rPr sz="1700" b="1">
                <a:solidFill>
                  <a:srgbClr val="142B45"/>
                </a:solidFill>
                <a:latin typeface="Calibri"/>
              </a:rPr>
              <a:t>Manual assembly dominates Indian manufacturing — </a:t>
            </a:r>
            <a:r>
              <a:rPr sz="1700">
                <a:solidFill>
                  <a:srgbClr val="1C242E"/>
                </a:solidFill>
                <a:latin typeface="Calibri"/>
              </a:rPr>
              <a:t>automotive harnesses, switchgear, pumps and electronics are built by hand across many low-volume variants.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•  </a:t>
            </a:r>
            <a:r>
              <a:rPr sz="1700" b="1">
                <a:solidFill>
                  <a:srgbClr val="142B45"/>
                </a:solidFill>
                <a:latin typeface="Calibri"/>
              </a:rPr>
              <a:t>Recurring pain: </a:t>
            </a:r>
            <a:r>
              <a:rPr sz="1700">
                <a:solidFill>
                  <a:srgbClr val="1C242E"/>
                </a:solidFill>
                <a:latin typeface="Calibri"/>
              </a:rPr>
              <a:t>wrong or missed parts, wrong sequence, slow onboarding, out-of-date paper SOPs, and no per-unit traceability.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•  </a:t>
            </a:r>
            <a:r>
              <a:rPr sz="1700" b="1">
                <a:solidFill>
                  <a:srgbClr val="142B45"/>
                </a:solidFill>
                <a:latin typeface="Calibri"/>
              </a:rPr>
              <a:t>AR / VR / computer vision help: </a:t>
            </a:r>
            <a:r>
              <a:rPr sz="1700">
                <a:solidFill>
                  <a:srgbClr val="1C242E"/>
                </a:solidFill>
                <a:latin typeface="Calibri"/>
              </a:rPr>
              <a:t>AR shows the next step on the real work, VR trains before touching parts, and AI checks each step from a camera.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•  </a:t>
            </a:r>
            <a:r>
              <a:rPr sz="1700" b="1">
                <a:solidFill>
                  <a:srgbClr val="142B45"/>
                </a:solidFill>
                <a:latin typeface="Calibri"/>
              </a:rPr>
              <a:t>Proven effect: </a:t>
            </a:r>
            <a:r>
              <a:rPr sz="1700">
                <a:solidFill>
                  <a:srgbClr val="1C242E"/>
                </a:solidFill>
                <a:latin typeface="Calibri"/>
              </a:rPr>
              <a:t>overlaying 3D instructions on the work cut assembly errors by 82% in a controlled study (Tang et al., CHI 2003).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•  </a:t>
            </a:r>
            <a:r>
              <a:rPr sz="1700" b="1">
                <a:solidFill>
                  <a:srgbClr val="142B45"/>
                </a:solidFill>
                <a:latin typeface="Calibri"/>
              </a:rPr>
              <a:t>Patent-informed, not patent-protected: </a:t>
            </a:r>
            <a:r>
              <a:rPr sz="1700">
                <a:solidFill>
                  <a:srgbClr val="1C242E"/>
                </a:solidFill>
                <a:latin typeface="Calibri"/>
              </a:rPr>
              <a:t>the architecture draws on five real patents' public disclosures, kept separate from their narrower granted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A. Tang et al., “Comparative effectiveness of AR in object assembly,” CHI 2003, pp. 73-80.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7C86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5778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Human error: </a:t>
            </a:r>
            <a:r>
              <a:rPr sz="1550">
                <a:solidFill>
                  <a:srgbClr val="1C242E"/>
                </a:solidFill>
                <a:latin typeface="Calibri"/>
              </a:rPr>
              <a:t>wrong part, missed screw, wrong torque → rework, scrap, OEM PPM penalties.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Onboarding &amp; attrition: </a:t>
            </a:r>
            <a:r>
              <a:rPr sz="1550">
                <a:solidFill>
                  <a:srgbClr val="1C242E"/>
                </a:solidFill>
                <a:latin typeface="Calibri"/>
              </a:rPr>
              <a:t>shop-floor attrition &gt;18-20%; 80% of employers report a skills shortage.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Stale paper SOPs: </a:t>
            </a:r>
            <a:r>
              <a:rPr sz="1550">
                <a:solidFill>
                  <a:srgbClr val="1C242E"/>
                </a:solidFill>
                <a:latin typeface="Calibri"/>
              </a:rPr>
              <a:t>rarely read during work; many variants confuse the station.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Headset / platform risk: </a:t>
            </a:r>
            <a:r>
              <a:rPr sz="1550">
                <a:solidFill>
                  <a:srgbClr val="1C242E"/>
                </a:solidFill>
                <a:latin typeface="Calibri"/>
              </a:rPr>
              <a:t>HoloLens 2 ended 2024; Dynamics 365 Guides ends 31 Dec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71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7C86"/>
                </a:solidFill>
                <a:latin typeface="Calibri"/>
              </a:rPr>
              <a:t>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Auto components: </a:t>
            </a:r>
            <a:r>
              <a:rPr sz="1550">
                <a:solidFill>
                  <a:srgbClr val="1C242E"/>
                </a:solidFill>
                <a:latin typeface="Calibri"/>
              </a:rPr>
              <a:t>₹6.73 lakh crore turnover FY25 (ACMA), 14% 5-yr CAGR.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Electronics: </a:t>
            </a:r>
            <a:r>
              <a:rPr sz="1550">
                <a:solidFill>
                  <a:srgbClr val="1C242E"/>
                </a:solidFill>
                <a:latin typeface="Calibri"/>
              </a:rPr>
              <a:t>~₹11.3 lakh crore production FY25 (Economic Survey).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Migration gap: </a:t>
            </a:r>
            <a:r>
              <a:rPr sz="1550">
                <a:solidFill>
                  <a:srgbClr val="1C242E"/>
                </a:solidFill>
                <a:latin typeface="Calibri"/>
              </a:rPr>
              <a:t>Guides retirement leaves customers seeking a replacement.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•  </a:t>
            </a:r>
            <a:r>
              <a:rPr sz="1550" b="1">
                <a:solidFill>
                  <a:srgbClr val="142B45"/>
                </a:solidFill>
                <a:latin typeface="Calibri"/>
              </a:rPr>
              <a:t>Policy tailwind: </a:t>
            </a:r>
            <a:r>
              <a:rPr sz="1550">
                <a:solidFill>
                  <a:srgbClr val="1C242E"/>
                </a:solidFill>
                <a:latin typeface="Calibri"/>
              </a:rPr>
              <a:t>Make in India, Industry 4.0, Startup India Seed Fund (≤₹20 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ACMA FY25 Industry Performance Review; Microsoft Learn (Guides retirement).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Patent 1: Projected-Light Guided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63500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10698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US 7,515,981 B2  ·  Granted  ·  LightGuide, Inc.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Inventors: Paul Ryznar, James Ryznar  ·  Priority 2005  ·  US term ~2026 (near expiry); later family runs to ~2032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Projects arrows, highlighted bins, locations and text directly onto the work area.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Steps the operator through the assembly in order, each step confirmed before the next.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Headset-free, station-mounted — the model StepSure follows for the shop floor.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Expiry of the 2005 patent does NOT free the idea: the later family is in force and litigated.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US 7,515,981 B2, “Light guided assembly system,” patents.google.com/patent/US7515981B2.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Patent 2: AR Assembly Assistance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63500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10698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US 10,366,521 B1  ·  Granted  ·  Amazon Technologies, Inc.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Inventors: J. Peacock, J. Watson, S. Wilcox  ·  Filed ~2017  ·  Expected term to ~2037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AR glasses show the information for the current step to the worker.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Camera image data verifies the assembly step; safe paths and restricted zones are overlaid.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Shows guidance + verification belong together — core to StepSure's design.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Prior art: AR guidance + verification is known, so novelty must be in HOW it is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US 10,366,521 B1, “Augmented reality assembly assistance and monitoring,” Amazon, 2019.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Patent 3: ML Assembly Step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63500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10698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US 11,715,300 B1  ·  Granted  ·  assignee likely Robert Bosch GmbH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Inventors: Y. Guo, X. Huang, L. Ren  ·  Filed 2022  ·  Expected term to ~2042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ML model trained on data from 2D images + 3D CAD turns camera frames into feature vectors.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Template matching finds base and incoming parts and the current step; a 2nd model verifies it.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An AR position indicator shows where the part goes, updating as new frames arrive.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Closest to StepSure's AI core — and its BIGGEST freedom-to-operate risk; needs a different method or a licence.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US 11,715,300 B1, “Product assembly step recognition using AR,”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Patent 4: VR Assembly Training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63500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10698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US 12,592,164 B2  ·  Granted  ·  Permco, Inc.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Filed 2022  ·  Granted 2026  ·  Expected term to ~2042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VR headset presents a virtual workbench, tools and components.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Shows an ordered list of steps and highlights the tool and location for each.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A haptic glove teaches workers to feel surface defects such as burrs.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Matches StepSure's VR-training half — one recipe authored once drives both training and floor guidance.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US 12,592,164 B2, “Virtual reality training simulator,” Permco,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Patent 5: AR/VR Interaction with Cobots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63500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10698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US 11,529,737 B2  ·  Granted  ·  Raytheon Company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Inventor: Kristen M. Stone  ·  EP family 4096874  ·  Priority 2020, granted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A wearable AR/VR headset shows the cobot's planned motion path before it moves.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A VR training simulation feeds information to the workstation to help program the path.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Covers StepSure's future human-cobot extension (robot-intent overlay, hand-over).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•  </a:t>
            </a:r>
            <a:r>
              <a:rPr sz="1600">
                <a:solidFill>
                  <a:srgbClr val="1C242E"/>
                </a:solidFill>
                <a:latin typeface="Calibri"/>
              </a:rPr>
              <a:t>The overlay is an INFORMATION aid, not a safety function (ISO 10218 / ISO TS 15066 still apply).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US 11,529,737 B2, “VR/AR interaction with collaborative robots,” Raytheon, 2022.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Unique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29584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29584" cy="762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42B45"/>
                </a:solidFill>
                <a:latin typeface="Calibri"/>
              </a:rPr>
              <a:t>Checked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Camera + tools verify every step before the next unlocks — not just shown.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54480"/>
            <a:ext cx="3529584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554480"/>
            <a:ext cx="3529584" cy="762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81051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42B45"/>
                </a:solidFill>
                <a:latin typeface="Calibri"/>
              </a:rPr>
              <a:t>Headset-free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423160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Fixed camera + projector/screen; shared across shifts; no vendor lock-in.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554480"/>
            <a:ext cx="3529584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54480"/>
            <a:ext cx="3529584" cy="762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81051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42B45"/>
                </a:solidFill>
                <a:latin typeface="Calibri"/>
              </a:rPr>
              <a:t>One recipe, 3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423160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One process drives guidance, CV checking and auto-built VR training.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529584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3529584" cy="762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8795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42B45"/>
                </a:solidFill>
                <a:latin typeface="Calibri"/>
              </a:rPr>
              <a:t>Built for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800600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Icon-first UI, Indian-language voice, INR pricing, cluster-based support.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3931920"/>
            <a:ext cx="3529584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931920"/>
            <a:ext cx="3529584" cy="762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418795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42B45"/>
                </a:solidFill>
                <a:latin typeface="Calibri"/>
              </a:rPr>
              <a:t>Cobot-ready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800600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Same recipe extends to a future robot-intent overlay and hand-over.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989320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1">
                <a:solidFill>
                  <a:srgbClr val="0E7C86"/>
                </a:solidFill>
                <a:latin typeface="Calibri"/>
              </a:rPr>
              <a:t>“Every step checked, every worker productive in days — without headsets, at an Indian price.”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123444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2A72E"/>
                </a:solidFill>
                <a:latin typeface="Calibri"/>
              </a:rPr>
              <a:t>₹6.73 L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Auto-component turnover, FY25 (ACMA)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463040"/>
            <a:ext cx="3566160" cy="123444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5727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2A72E"/>
                </a:solidFill>
                <a:latin typeface="Calibri"/>
              </a:rPr>
              <a:t>~₹11.3 L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2128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Electronics production, FY25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1463040"/>
            <a:ext cx="3566160" cy="123444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5727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2A72E"/>
                </a:solidFill>
                <a:latin typeface="Calibri"/>
              </a:rPr>
              <a:t>~400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2128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Target ICP accounts, 4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Calibri"/>
              </a:rPr>
              <a:t>Competitive landscape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 b="1">
                <a:solidFill>
                  <a:srgbClr val="142B45"/>
                </a:solidFill>
                <a:latin typeface="Calibri"/>
              </a:rPr>
              <a:t>LightGuide: </a:t>
            </a:r>
            <a:r>
              <a:rPr sz="1450">
                <a:solidFill>
                  <a:srgbClr val="1C242E"/>
                </a:solidFill>
                <a:latin typeface="Calibri"/>
              </a:rPr>
              <a:t>mature projected AR; India pricing unverified.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 b="1">
                <a:solidFill>
                  <a:srgbClr val="142B45"/>
                </a:solidFill>
                <a:latin typeface="Calibri"/>
              </a:rPr>
              <a:t>Retrocausal: </a:t>
            </a:r>
            <a:r>
              <a:rPr sz="1450">
                <a:solidFill>
                  <a:srgbClr val="1C242E"/>
                </a:solidFill>
                <a:latin typeface="Calibri"/>
              </a:rPr>
              <a:t>AI action recognition; guidance/VR not core.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 b="1">
                <a:solidFill>
                  <a:srgbClr val="142B45"/>
                </a:solidFill>
                <a:latin typeface="Calibri"/>
              </a:rPr>
              <a:t>PTC Vuforia: </a:t>
            </a:r>
            <a:r>
              <a:rPr sz="1450">
                <a:solidFill>
                  <a:srgbClr val="1C242E"/>
                </a:solidFill>
                <a:latin typeface="Calibri"/>
              </a:rPr>
              <a:t>enterprise AR authoring, per-user quote.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 b="1">
                <a:solidFill>
                  <a:srgbClr val="142B45"/>
                </a:solidFill>
                <a:latin typeface="Calibri"/>
              </a:rPr>
              <a:t>AutoVRse (India): </a:t>
            </a:r>
            <a:r>
              <a:rPr sz="1450">
                <a:solidFill>
                  <a:srgbClr val="1C242E"/>
                </a:solidFill>
                <a:latin typeface="Calibri"/>
              </a:rPr>
              <a:t>VR training-led, not live line checking.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Calibri"/>
              </a:rPr>
              <a:t>Our position &amp;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53035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>
                <a:solidFill>
                  <a:srgbClr val="1C242E"/>
                </a:solidFill>
                <a:latin typeface="Calibri"/>
              </a:rPr>
              <a:t>Verified guidance + VR from one recipe, headset-free, INR.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>
                <a:solidFill>
                  <a:srgbClr val="1C242E"/>
                </a:solidFill>
                <a:latin typeface="Calibri"/>
              </a:rPr>
              <a:t>Tier-1/2 auto suppliers (pilot segment).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>
                <a:solidFill>
                  <a:srgbClr val="1C242E"/>
                </a:solidFill>
                <a:latin typeface="Calibri"/>
              </a:rPr>
              <a:t>Electronics / EMS and electrical.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•  </a:t>
            </a:r>
            <a:r>
              <a:rPr sz="1450">
                <a:solidFill>
                  <a:srgbClr val="1C242E"/>
                </a:solidFill>
                <a:latin typeface="Calibri"/>
              </a:rPr>
              <a:t>OEM plants; ITIs &amp; training centres (VR seats).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Source: ACMA FY25; Knight Frank / industry reports; company disclosures.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5B6B7B"/>
                </a:solidFill>
                <a:latin typeface="Calibri"/>
              </a:rPr>
              <a:t>Hybrid: per-station subscription (main) + hardware near cost + onboarding + VR seats. All prices are assumptions.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66160" cy="1600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63500" cy="1600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037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Station subscription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4261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72E"/>
                </a:solidFill>
                <a:latin typeface="Calibri"/>
              </a:rPr>
              <a:t>₹20,000 / station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981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Main recurring revenue (RaaS-style)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057400"/>
            <a:ext cx="3566160" cy="1600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2057400"/>
            <a:ext cx="63500" cy="1600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2037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Hardware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64261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72E"/>
                </a:solidFill>
                <a:latin typeface="Calibri"/>
              </a:rPr>
              <a:t>~₹1.6 lakh one-time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09981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Sold near ₹1.35 L cost to cut barrier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8" y="2057400"/>
            <a:ext cx="3566160" cy="1600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057400"/>
            <a:ext cx="63500" cy="1600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2037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Onboarding / recipe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64261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72E"/>
                </a:solidFill>
                <a:latin typeface="Calibri"/>
              </a:rPr>
              <a:t>~₹3 lakh per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09981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Process digitisation + MES/ERP link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3566160" cy="1600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63500" cy="1600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782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VR training licence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171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72E"/>
                </a:solidFill>
                <a:latin typeface="Calibri"/>
              </a:rPr>
              <a:t>₹30,000 / headset /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7433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For ITIs &amp; training departments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2544" y="3931920"/>
            <a:ext cx="3566160" cy="1600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52544" y="3931920"/>
            <a:ext cx="63500" cy="1600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40782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Paid pilot (entry)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5171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72E"/>
                </a:solidFill>
                <a:latin typeface="Calibri"/>
              </a:rPr>
              <a:t>~₹7 lakh / 2 stations / 12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97433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Screens prospects, funds case study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8" y="3931920"/>
            <a:ext cx="3566160" cy="1600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56448" y="3931920"/>
            <a:ext cx="63500" cy="1600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40782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2B45"/>
                </a:solidFill>
                <a:latin typeface="Calibri"/>
              </a:rPr>
              <a:t>Cobot Bridge (future)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5171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72E"/>
                </a:solidFill>
                <a:latin typeface="Calibri"/>
              </a:rPr>
              <a:t>~₹5,000 / station /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497433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After FTO clearance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B7B"/>
                </a:solidFill>
                <a:latin typeface="Calibri"/>
              </a:rPr>
              <a:t>Every figure is a labelled assumption, not a forecast. Standard customer = 5 stations.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194560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828800"/>
            <a:ext cx="2956560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828800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Year 1 (Dev &amp; Pilot)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99760" y="1828800"/>
            <a:ext cx="2956560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9488" y="1828800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Year 2 (Scale-Up)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56320" y="1828800"/>
            <a:ext cx="2956560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6048" y="1828800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Year 3 (Break-Even)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95728"/>
            <a:ext cx="2194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395728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B45"/>
                </a:solidFill>
                <a:latin typeface="Calibri"/>
              </a:rPr>
              <a:t>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395728"/>
            <a:ext cx="2956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395728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₹0.2-0.3 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9760" y="2395728"/>
            <a:ext cx="2956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9488" y="2395728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₹1.2-1.5 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56320" y="2395728"/>
            <a:ext cx="2956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2395728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₹3-4 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62656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962656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B45"/>
                </a:solidFill>
                <a:latin typeface="Calibri"/>
              </a:rPr>
              <a:t>Gross margin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962656"/>
            <a:ext cx="295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2962656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~45%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99760" y="2962656"/>
            <a:ext cx="295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9488" y="2962656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~65%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6320" y="2962656"/>
            <a:ext cx="295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6048" y="2962656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~70%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29584"/>
            <a:ext cx="2194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529584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B45"/>
                </a:solidFill>
                <a:latin typeface="Calibri"/>
              </a:rPr>
              <a:t>Key driver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529584"/>
            <a:ext cx="2956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2928" y="3529584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2 paid pilots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9760" y="3529584"/>
            <a:ext cx="2956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9488" y="3529584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3-5 customers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56320" y="3529584"/>
            <a:ext cx="29565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66048" y="3529584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10-15 customers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09651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096512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B45"/>
                </a:solidFill>
                <a:latin typeface="Calibri"/>
              </a:rPr>
              <a:t>Break-even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096512"/>
            <a:ext cx="295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52928" y="4096512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99760" y="4096512"/>
            <a:ext cx="295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09488" y="4096512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N/A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56320" y="4096512"/>
            <a:ext cx="295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6048" y="4096512"/>
            <a:ext cx="2737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E7C86"/>
                </a:solidFill>
                <a:latin typeface="Calibri"/>
              </a:rPr>
              <a:t>~12-13 customers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7C86"/>
                </a:solidFill>
                <a:latin typeface="Calibri"/>
              </a:rPr>
              <a:t>•  </a:t>
            </a:r>
            <a:r>
              <a:rPr sz="1350" b="1">
                <a:solidFill>
                  <a:srgbClr val="142B45"/>
                </a:solidFill>
                <a:latin typeface="Calibri"/>
              </a:rPr>
              <a:t>Year-1 funding need ≈ ₹1.1 crore; </a:t>
            </a:r>
            <a:r>
              <a:rPr sz="1350">
                <a:solidFill>
                  <a:srgbClr val="1C242E"/>
                </a:solidFill>
                <a:latin typeface="Calibri"/>
              </a:rPr>
              <a:t>break-even ≈ 1.2 Cr fixed ÷ 9.6 L gross profit per customer ≈ 12.5 customers (~62 stations).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7C86"/>
                </a:solidFill>
                <a:latin typeface="Calibri"/>
              </a:rPr>
              <a:t>•  </a:t>
            </a:r>
            <a:r>
              <a:rPr sz="1350" b="1">
                <a:solidFill>
                  <a:srgbClr val="142B45"/>
                </a:solidFill>
                <a:latin typeface="Calibri"/>
              </a:rPr>
              <a:t>Most sensitive lever: </a:t>
            </a:r>
            <a:r>
              <a:rPr sz="1350">
                <a:solidFill>
                  <a:srgbClr val="1C242E"/>
                </a:solidFill>
                <a:latin typeface="Calibri"/>
              </a:rPr>
              <a:t>stations per customer — at 10/customer break-even drops to ~6-7. Not profitable in year 1 in any scenario.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Implementation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72E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743200" cy="5029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Phase 1  </a:t>
            </a:r>
            <a:r>
              <a:rPr sz="1300" b="0" i="0">
                <a:solidFill>
                  <a:srgbClr val="CFEAEC"/>
                </a:solidFill>
                <a:latin typeface="Calibri"/>
              </a:rPr>
              <a:t>0-6 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2743200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12848"/>
            <a:ext cx="24140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Prototype: 1 station, 3 check types, ≥95% accuracy; VR trainer; seed funding.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554480"/>
            <a:ext cx="2743200" cy="5029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544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Phase 2  </a:t>
            </a:r>
            <a:r>
              <a:rPr sz="1300" b="0" i="0">
                <a:solidFill>
                  <a:srgbClr val="CFEAEC"/>
                </a:solidFill>
                <a:latin typeface="Calibri"/>
              </a:rPr>
              <a:t>6-12 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8" y="2057400"/>
            <a:ext cx="2743200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12848"/>
            <a:ext cx="24140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Paid pilot at 1 plant; measure KPIs vs baseline; convert + case study.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1554480"/>
            <a:ext cx="2743200" cy="5029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5544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Phase 3  </a:t>
            </a:r>
            <a:r>
              <a:rPr sz="1300" b="0" i="0">
                <a:solidFill>
                  <a:srgbClr val="CFEAEC"/>
                </a:solidFill>
                <a:latin typeface="Calibri"/>
              </a:rPr>
              <a:t>12-24 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2057400"/>
            <a:ext cx="2743200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212848"/>
            <a:ext cx="24140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v1.0: Recipe Studio, dashboard, MES export, multilingual; customers 2-3.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1554480"/>
            <a:ext cx="2743200" cy="5029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155448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Phase 4  </a:t>
            </a:r>
            <a:r>
              <a:rPr sz="1300" b="0" i="0">
                <a:solidFill>
                  <a:srgbClr val="CFEAEC"/>
                </a:solidFill>
                <a:latin typeface="Calibri"/>
              </a:rPr>
              <a:t>24-36 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2057400"/>
            <a:ext cx="2743200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9176" y="2212848"/>
            <a:ext cx="24140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C242E"/>
                </a:solidFill>
                <a:latin typeface="Calibri"/>
              </a:rPr>
              <a:t>Cobot Bridge (post-FTO); break-even; indigenous patents; SE Asia.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2A72E"/>
                </a:solidFill>
                <a:latin typeface="Calibri"/>
              </a:rP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The gap is not AR for assembly — it already exists — but an affordable, headset-free, check-every-step system reusing one recipe for training, guidance and future cobot work. StepSure tests it with one paid pilot, India-first. The decisive unknowns are willingness to pay and real-line CV accuracy; a professional freedom-to-operate opinion is required before any build or sale.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011680" cy="63500"/>
          </a:xfrm>
          <a:prstGeom prst="rect">
            <a:avLst/>
          </a:prstGeom>
          <a:solidFill>
            <a:srgbClr val="F2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4F6F8"/>
                </a:solidFill>
                <a:latin typeface="Calibri"/>
              </a:rPr>
              <a:t>Questions &amp; discussion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9C6D4"/>
                </a:solidFill>
                <a:latin typeface="Calibri"/>
              </a:rPr>
              <a:t>« Your Name »  ·  M.Tech CIM  ·  NIT Warangal  ·  2025-26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