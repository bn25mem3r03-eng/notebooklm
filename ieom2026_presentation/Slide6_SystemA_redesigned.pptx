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SYSTEM A ·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assembly of a 26-component electric motor</a:t>
            </a:r>
            <a:endParaRPr lang="en-US" sz="3000" dirty="0"/>
          </a:p>
        </p:txBody>
      </p:sp>
      <p:pic>
        <p:nvPicPr>
          <p:cNvPr id="4" name="Image 0" descr="Guided assembly workspace: highlighted active component and 3D target-state dis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5577840" cy="26947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4923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Fig. 1  Active component highlighted, with the 3D target-state display above the workspace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4743014"/>
            <a:ext cx="557784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494418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" y="494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488931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Guidance — 3 concurrent channels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520021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Workspace spotlight  ·  continuous 3D target-state display  ·  progress panel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1481328"/>
            <a:ext cx="5105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Placement-validation pipeline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37960" y="1938528"/>
            <a:ext cx="5105095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6684264" y="20482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84264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251192" y="1938528"/>
            <a:ext cx="4236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Record the pose of every component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while the motor is still assembled → these become the placement targets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876288" y="2542032"/>
            <a:ext cx="0" cy="1828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537960" y="2724912"/>
            <a:ext cx="5105095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6684264" y="27706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84264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251192" y="2724912"/>
            <a:ext cx="42364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Parts are scattered; the trainee grasps and releases one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876288" y="3200400"/>
            <a:ext cx="0" cy="1828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537960" y="3383280"/>
            <a:ext cx="5105095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84264" y="34655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684264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251192" y="338328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Check:  right component for this step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  AND  within 0.15 m of its stored pose?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537960" y="4078224"/>
            <a:ext cx="2461108" cy="713232"/>
          </a:xfrm>
          <a:prstGeom prst="roundRect">
            <a:avLst>
              <a:gd name="adj" fmla="val 10256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7" name="Shape 24"/>
          <p:cNvSpPr/>
          <p:nvPr/>
        </p:nvSpPr>
        <p:spPr>
          <a:xfrm>
            <a:off x="7768514" y="3931920"/>
            <a:ext cx="0" cy="14630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6675120" y="4078224"/>
            <a:ext cx="21867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57A74"/>
                </a:solidFill>
              </a:rPr>
              <a:t>Both hold</a:t>
            </a:r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Snaps to exact pose and locks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181948" y="4078224"/>
            <a:ext cx="2461108" cy="713232"/>
          </a:xfrm>
          <a:prstGeom prst="roundRect">
            <a:avLst>
              <a:gd name="adj" fmla="val 10256"/>
            </a:avLst>
          </a:prstGeom>
          <a:solidFill>
            <a:schemeClr val="accent4">
              <a:alpha val="16000"/>
            </a:schemeClr>
          </a:solidFill>
          <a:ln/>
        </p:spPr>
      </p:sp>
      <p:sp>
        <p:nvSpPr>
          <p:cNvPr id="30" name="Shape 27"/>
          <p:cNvSpPr/>
          <p:nvPr/>
        </p:nvSpPr>
        <p:spPr>
          <a:xfrm>
            <a:off x="10412501" y="3931920"/>
            <a:ext cx="0" cy="14630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9319108" y="4078224"/>
            <a:ext cx="21867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039"/>
                </a:solidFill>
              </a:rPr>
              <a:t>Either fails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Rejected — the part stays free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537960" y="4956048"/>
            <a:ext cx="5105095" cy="822960"/>
          </a:xfrm>
          <a:prstGeom prst="roundRect">
            <a:avLst>
              <a:gd name="adj" fmla="val 8889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739128" y="4956048"/>
            <a:ext cx="47027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Matters later: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8 </a:t>
            </a:r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fasten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steps resolve through this placement path — no fastening is simulated, and no assessment data is recorded.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989320"/>
            <a:ext cx="2636444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31520" y="59893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26</a:t>
            </a:r>
            <a:endParaRPr lang="en-US" sz="2600" dirty="0"/>
          </a:p>
        </p:txBody>
      </p:sp>
      <p:sp>
        <p:nvSpPr>
          <p:cNvPr id="36" name="Text 33"/>
          <p:cNvSpPr txBox="1"/>
          <p:nvPr/>
        </p:nvSpPr>
        <p:spPr>
          <a:xfrm>
            <a:off x="1920240" y="5989320"/>
            <a:ext cx="11734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components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(only 2 unique)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3367964" y="5989320"/>
            <a:ext cx="2636444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3550844" y="59893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52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4739564" y="5989320"/>
            <a:ext cx="11734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JSON steps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(assembly + disassembly)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187288" y="5989320"/>
            <a:ext cx="2636444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370168" y="59893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</a:t>
            </a:r>
            <a:endParaRPr lang="en-US" sz="2600" dirty="0"/>
          </a:p>
        </p:txBody>
      </p:sp>
      <p:sp>
        <p:nvSpPr>
          <p:cNvPr id="42" name="Text 39"/>
          <p:cNvSpPr txBox="1"/>
          <p:nvPr/>
        </p:nvSpPr>
        <p:spPr>
          <a:xfrm>
            <a:off x="7558888" y="5989320"/>
            <a:ext cx="11734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action classes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place · insert · fasten · remove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9006611" y="5989320"/>
            <a:ext cx="2636444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9189491" y="59893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2,422</a:t>
            </a:r>
            <a:endParaRPr lang="en-US" sz="2600" dirty="0"/>
          </a:p>
        </p:txBody>
      </p:sp>
      <p:sp>
        <p:nvSpPr>
          <p:cNvPr id="45" name="Text 42"/>
          <p:cNvSpPr txBox="1"/>
          <p:nvPr/>
        </p:nvSpPr>
        <p:spPr>
          <a:xfrm>
            <a:off x="10378211" y="5989320"/>
            <a:ext cx="11734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lines of code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across 10 files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EOM 2026 XR Trainers">
  <a:themeElements>
    <a:clrScheme name="IEOM 2026 XR Trainers">
      <a:dk1>
        <a:srgbClr val="1A1F2B"/>
      </a:dk1>
      <a:lt1>
        <a:srgbClr val="FFFFFF"/>
      </a:lt1>
      <a:dk2>
        <a:srgbClr val="16324F"/>
      </a:dk2>
      <a:lt2>
        <a:srgbClr val="EEF2F5"/>
      </a:lt2>
      <a:accent1>
        <a:srgbClr val="D9701A"/>
      </a:accent1>
      <a:accent2>
        <a:srgbClr val="1B8A84"/>
      </a:accent2>
      <a:accent3>
        <a:srgbClr val="5B6B7C"/>
      </a:accent3>
      <a:accent4>
        <a:srgbClr val="B23A48"/>
      </a:accent4>
      <a:accent5>
        <a:srgbClr val="F2B33D"/>
      </a:accent5>
      <a:accent6>
        <a:srgbClr val="8A99A8"/>
      </a:accent6>
      <a:hlink>
        <a:srgbClr val="1B6FA8"/>
      </a:hlink>
      <a:folHlink>
        <a:srgbClr val="6B4C9A"/>
      </a:folHlink>
    </a:clrScheme>
    <a:fontScheme name="IEOM 2026 XR Train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2026-10-29T09:43:12Z</dcterms:created>
  <dcterms:modified xsi:type="dcterms:W3CDTF">2026-10-29T09:43:12Z</dcterms:modified>
</cp:coreProperties>
</file>