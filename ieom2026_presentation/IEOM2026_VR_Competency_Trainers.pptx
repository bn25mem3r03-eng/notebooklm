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4107d76-4ba8-7343-af41-bda083b7efd2}">
          <p14:sldIdLst>
            <p14:sldId id="256"/>
          </p14:sldIdLst>
        </p14:section>
        <p14:section name="Background &amp; gap" id="{7f1b3b1b-8575-8b4d-189a-c46943326296}">
          <p14:sldIdLst>
            <p14:sldId id="257"/>
            <p14:sldId id="258"/>
            <p14:sldId id="259"/>
          </p14:sldIdLst>
        </p14:section>
        <p14:section name="Method &amp; systems" id="{a2feeff5-f8d7-12f3-3f23-466a7408bcdd}">
          <p14:sldIdLst>
            <p14:sldId id="260"/>
            <p14:sldId id="261"/>
            <p14:sldId id="262"/>
          </p14:sldIdLst>
        </p14:section>
        <p14:section name="Results" id="{834bf25d-3a36-39b0-9b96-d5486dffaa44}">
          <p14:sldIdLst>
            <p14:sldId id="263"/>
            <p14:sldId id="264"/>
            <p14:sldId id="265"/>
          </p14:sldIdLst>
        </p14:section>
        <p14:section name="Discussion &amp; close" id="{ec73c3bc-ecc5-8275-0fdd-9c497df8e752}">
          <p14:sldIdLst>
            <p14:sldId id="266"/>
            <p14:sldId id="267"/>
            <p14:sldId id="268"/>
            <p14:sldId id="269"/>
          </p14:sldIdLst>
        </p14:section>
        <p14:section name="Backup" id="{a7fa506e-a77e-4b07-99f8-fe84a60e4564}">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324F"/>
                </a:solidFill>
                <a:latin typeface="+mn-lt"/>
              </a:defRPr>
            </a:pPr>
            <a:r>
              <a:rPr sz="1400" b="0" i="0" u="none" strike="noStrike">
                <a:solidFill>
                  <a:srgbClr val="16324F"/>
                </a:solidFill>
                <a:latin typeface="+mn-lt"/>
              </a:rPr>
              <a:t>Tool rack composition (n = 88)</a:t>
            </a:r>
          </a:p>
        </c:rich>
      </c:tx>
      <c:layout/>
      <c:overlay val="0"/>
    </c:title>
    <c:autoTitleDeleted val="0"/>
    <c:plotArea>
      <c:layout/>
      <c:barChart>
        <c:barDir val="bar"/>
        <c:grouping val="clustered"/>
        <c:varyColors val="0"/>
        <c:ser>
          <c:idx val="0"/>
          <c:order val="0"/>
          <c:tx>
            <c:strRef>
              <c:f>Sheet1!$B$1</c:f>
              <c:strCache>
                <c:ptCount val="1"/>
                <c:pt idx="0">
                  <c:v>Tools on the rack</c:v>
                </c:pt>
              </c:strCache>
            </c:strRef>
          </c:tx>
          <c:spPr>
            <a:solidFill>
              <a:srgbClr val="1B8A84"/>
            </a:solidFill>
            <a:effectLst/>
          </c:spPr>
          <c:invertIfNegative val="0"/>
          <c:dLbls>
            <c:numFmt formatCode="#,##0" sourceLinked="0"/>
            <c:txPr>
              <a:bodyPr/>
              <a:lstStyle/>
              <a:p>
                <a:pPr>
                  <a:defRPr b="0" i="0" strike="noStrike" sz="1200" u="none">
                    <a:solidFill>
                      <a:srgbClr val="1A1F2B"/>
                    </a:solidFill>
                    <a:latin typeface="+mn-lt"/>
                  </a:defRPr>
                </a:pPr>
              </a:p>
            </c:txPr>
            <c:showLegendKey val="0"/>
            <c:showVal val="1"/>
            <c:showCatName val="0"/>
            <c:showSerName val="0"/>
            <c:showPercent val="0"/>
            <c:showBubbleSize val="0"/>
            <c:showLeaderLines val="0"/>
          </c:dLbls>
          <c:cat>
            <c:multiLvlStrRef>
              <c:f>Sheet1!$A$2:$A$8</c:f>
              <c:multiLvlStrCache>
                <c:ptCount val="7"/>
                <c:lvl>
                  <c:pt idx="0">
                    <c:v>Combination spanners (6–32 mm)</c:v>
                  </c:pt>
                  <c:pt idx="1">
                    <c:v>Ring spanners (6–32 mm)</c:v>
                  </c:pt>
                  <c:pt idx="2">
                    <c:v>Sockets (8–22 mm)</c:v>
                  </c:pt>
                  <c:pt idx="3">
                    <c:v>T-handle hex keys</c:v>
                  </c:pt>
                  <c:pt idx="4">
                    <c:v>Open-end attachments</c:v>
                  </c:pt>
                  <c:pt idx="5">
                    <c:v>Torque instruments</c:v>
                  </c:pt>
                  <c:pt idx="6">
                    <c:v>Ratchet</c:v>
                  </c:pt>
                </c:lvl>
              </c:multiLvlStrCache>
            </c:multiLvlStrRef>
          </c:cat>
          <c:val>
            <c:numRef>
              <c:f>Sheet1!$B$2:$B$8</c:f>
              <c:numCache>
                <c:formatCode>General</c:formatCode>
                <c:ptCount val="7"/>
                <c:pt idx="0">
                  <c:v>26</c:v>
                </c:pt>
                <c:pt idx="1">
                  <c:v>26</c:v>
                </c:pt>
                <c:pt idx="2">
                  <c:v>14</c:v>
                </c:pt>
                <c:pt idx="3">
                  <c:v>9</c:v>
                </c:pt>
                <c:pt idx="4">
                  <c:v>8</c:v>
                </c:pt>
                <c:pt idx="5">
                  <c:v>4</c:v>
                </c:pt>
                <c:pt idx="6">
                  <c:v>1</c:v>
                </c:pt>
              </c:numCache>
            </c:numRef>
          </c:val>
        </c:ser>
        <c:dLbls>
          <c:numFmt formatCode="#,##0" sourceLinked="0"/>
          <c:txPr>
            <a:bodyPr/>
            <a:lstStyle/>
            <a:p>
              <a:pPr>
                <a:defRPr b="0" i="0" strike="noStrike" sz="1200" u="none">
                  <a:solidFill>
                    <a:srgbClr val="1A1F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A1F2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324F"/>
                </a:solidFill>
                <a:latin typeface="+mn-lt"/>
              </a:defRPr>
            </a:pPr>
            <a:r>
              <a:rPr sz="1400" b="0" i="0" u="none" strike="noStrike">
                <a:solidFill>
                  <a:srgbClr val="16324F"/>
                </a:solidFill>
                <a:latin typeface="+mn-lt"/>
              </a:rPr>
              <a:t>System A component manifest (Table 2, n = 26)</a:t>
            </a:r>
          </a:p>
        </c:rich>
      </c:tx>
      <c:layout/>
      <c:overlay val="0"/>
    </c:title>
    <c:autoTitleDeleted val="0"/>
    <c:plotArea>
      <c:layout/>
      <c:barChart>
        <c:barDir val="bar"/>
        <c:grouping val="clustered"/>
        <c:varyColors val="0"/>
        <c:ser>
          <c:idx val="0"/>
          <c:order val="0"/>
          <c:tx>
            <c:strRef>
              <c:f>Sheet1!$B$1</c:f>
              <c:strCache>
                <c:ptCount val="1"/>
                <c:pt idx="0">
                  <c:v>Components</c:v>
                </c:pt>
              </c:strCache>
            </c:strRef>
          </c:tx>
          <c:spPr>
            <a:solidFill>
              <a:srgbClr val="D9701A"/>
            </a:solidFill>
            <a:effectLst/>
          </c:spPr>
          <c:invertIfNegative val="0"/>
          <c:dLbls>
            <c:numFmt formatCode="#,##0" sourceLinked="0"/>
            <c:txPr>
              <a:bodyPr/>
              <a:lstStyle/>
              <a:p>
                <a:pPr>
                  <a:defRPr b="0" i="0" strike="noStrike" sz="1200" u="none">
                    <a:solidFill>
                      <a:srgbClr val="1A1F2B"/>
                    </a:solidFill>
                    <a:latin typeface="+mn-lt"/>
                  </a:defRPr>
                </a:pPr>
              </a:p>
            </c:txPr>
            <c:showLegendKey val="0"/>
            <c:showVal val="1"/>
            <c:showCatName val="0"/>
            <c:showSerName val="0"/>
            <c:showPercent val="0"/>
            <c:showBubbleSize val="0"/>
            <c:showLeaderLines val="0"/>
          </c:dLbls>
          <c:cat>
            <c:multiLvlStrRef>
              <c:f>Sheet1!$A$2:$A$8</c:f>
              <c:multiLvlStrCache>
                <c:ptCount val="7"/>
                <c:lvl>
                  <c:pt idx="0">
                    <c:v>Stator (Stator_Core)</c:v>
                  </c:pt>
                  <c:pt idx="1">
                    <c:v>Rotor (Rotor_Bearing_Shaft)</c:v>
                  </c:pt>
                  <c:pt idx="2">
                    <c:v>Bearings</c:v>
                  </c:pt>
                  <c:pt idx="3">
                    <c:v>Stator holders</c:v>
                  </c:pt>
                  <c:pt idx="4">
                    <c:v>Spacers</c:v>
                  </c:pt>
                  <c:pt idx="5">
                    <c:v>Threaded rods</c:v>
                  </c:pt>
                  <c:pt idx="6">
                    <c:v>Hex nuts</c:v>
                  </c:pt>
                </c:lvl>
              </c:multiLvlStrCache>
            </c:multiLvlStrRef>
          </c:cat>
          <c:val>
            <c:numRef>
              <c:f>Sheet1!$B$2:$B$8</c:f>
              <c:numCache>
                <c:formatCode>General</c:formatCode>
                <c:ptCount val="7"/>
                <c:pt idx="0">
                  <c:v>1</c:v>
                </c:pt>
                <c:pt idx="1">
                  <c:v>1</c:v>
                </c:pt>
                <c:pt idx="2">
                  <c:v>2</c:v>
                </c:pt>
                <c:pt idx="3">
                  <c:v>2</c:v>
                </c:pt>
                <c:pt idx="4">
                  <c:v>8</c:v>
                </c:pt>
                <c:pt idx="5">
                  <c:v>4</c:v>
                </c:pt>
                <c:pt idx="6">
                  <c:v>8</c:v>
                </c:pt>
              </c:numCache>
            </c:numRef>
          </c:val>
        </c:ser>
        <c:dLbls>
          <c:numFmt formatCode="#,##0" sourceLinked="0"/>
          <c:txPr>
            <a:bodyPr/>
            <a:lstStyle/>
            <a:p>
              <a:pPr>
                <a:defRPr b="0" i="0" strike="noStrike" sz="1200" u="none">
                  <a:solidFill>
                    <a:srgbClr val="1A1F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A1F2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 ~20 s]
Good morning. I am Binet N B from NIT Warangal, presenting joint work with Professor V Vasu and Mula Hruthik.
We built two virtual reality trainers on the same platform — one for assembling an electric motor, one for choosing the right hand tool — and we ask a simple question: what does it actually take to turn a VR scene into a trainer?
→ Transition: First, why this matters for manufacturing.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[0:20–1:05 | ~45 s]
Manual assembly is still skill dependent. It handles part variation and low-volume, high-mix work, so product quality depends on the operator. VR is an established way to train this: no material use, no hazard, unlimited repetition. And standalone headsets have removed the cost barrier.
(Point right.) Today a commercial framework gives you grasping, ray pointing, hand poses and locomotion by configuration — an object you can pick up. But a trainer needs more: a task, a check of what the trainee did, guidance, and a record of performance. The framework gives none of that.
→ Transition: What does the literature say about that missing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[1:05–1:55 | ~50 s]
Three recent reviews — Daling and Schlittmeier, Di Pasquale, and Yang — confirm that immersive training works, and Di Pasquale notes that structured assessment is still rare. Wang et al. reached competency in fewer attempts than video. The closest system to ours, Alfaro-Viquez 2025, is a Quest 3 welding trainer evaluated with users. Lin et al. and Eswaran et al. derive the task specification from the product model — remember that.
(Point to dark box.) The gap: no one reports what must be built above the framework to get a trainer, or what that costs.
→ Transition: That gap sets our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[1:55–2:35 | ~40 s]
Four objectives: describe both trainers; separate what the framework supplies from what we had to write, and measure it; compare the design strategies; and report how to verify a trainer without a headset.
Three contributions: the boundary made explicit — 5,186 lines of custom code; one shared design principle found by comparing two independent builds; and device-free verification methods.
(Bottom line.) To be clear on scope: this is an implementation account. We make no claim about learning outcomes.
→ Transition: Here is how the comparison was set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[2:35–3:15 | ~40 s]
We treat the two trainers as parallel cases — built independently, for different tasks, never merged. For each, we describe the task model, validation rule, guidance and assessment; we locate the framework boundary by counting components and code; and we report verification.
(Point to table.) The comparison is fair because both use Unity 6, the same render pipeline, the Meta Interaction SDK, OpenXR and the Quest 3 — only minor versions differ. One qualification: different developers. So we compare only structural decisions linked to task requirements, not coding style.
→ Transition: System A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[3:15–4:15 | ~60 s]
System A trains assembly of a 26-component electric motor. Only 2 parts are unique; the other 24 come in identical groups such as spacers and hex nuts.
The sequence is not in the code. It sits in a JSON file — 26 steps for assembly and 26 for disassembly — so it can be changed without recompiling.
(Point right.) At start-up, while the motor is still assembled, the system records the pose of every part. Those poses become the targets. When the trainee releases a part, it checks two things: is it the right part for this step, and is it within 0.15 metres of its target? If yes, it snaps and locks; if not, it stays free.
Guidance uses three channels — the highlight and 3D target you see in Figure 1, plus a progress panel. Two points for later: the 8 fasten steps are treated as placement, and no assessment data is recorded.
→ Transition: System B is very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[4:15–5:15 | ~60 s]
System B trains tool selection. The trainee sees a fastener and must pick the right tool from a rack of 88 (point to chart) — spanners from 6 to 32 mm, sockets, hex keys, four torque instruments — then fit it and turn it. Figure 2 shows a 24 mm spanner on a nut.
The rack has deliberate gaps — no 31 mm spanner, no 20 mm socket — so the generator scans the rack at the start instead of using a fixed size table.
A tool is accepted only if type, size and, where needed, torque match. A wrong tool simply doesn't turn the fastener, and it is recorded for the debrief.
(Bottom left.) Three stages: 90 seconds of free observation, a guided stage, and a scored assessment. Selection carries 60 of 100 points; efficiency only 10, because rewarding speed on torque work would teach the wrong habit.
→ Transition: Now the first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[5:15–6:10 | ~55 s]
This is the central finding. Everything below the dashed line came from the Meta SDK by configuration — grasping, ray selection, hand poses, constrained rotation, locomotion. In System B that is 183 ray interactables and 94 grabbables, with no interaction code written.
Everything above the line had to be written. The framework has no idea of a task, a correct object, a fastener, a tool size, or a score.
That layer cost 5,186 lines across 21 files — about 2,400 in System A and 2,800 in System B.
In one line: the framework solves handling objects; the trainer is left to the developer.
→ Transition: How did the two systems build that layer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[6:10–7:15 | ~65 s]
(Walk the table quickly.) A authors its sequence in a file; B generates jobs at session start. A validates by part identity and a 0.15-metre tolerance; B by tool type, size and torque. A guides with three simultaneous channels; B removes support in stages. On failure, A rejects the placement; B refuses to turn the fastener.
(Point to dark box.) But one decision is shared, and it was reached independently: neither system keeps its task specification in code — both derive it from the scene. A captures targets from the product model, so a revised model needs no re-targeting. B scans the rack, so it never asks for a tool that is not there.
The reason is the same: a hard-coded specification goes stale, and the error is then blamed on the trainee. This matches Lin et al. 2024.
→ Transition: How do we know the systems work as 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[7:15–8:10 | ~55 s]
Hand tracking only works in the headset, so System B adds a headless layer that runs the session logic directly. Because generation is seeded, we can inspect any number of sessions.
We ran 200 seeds at 8 jobs per session — 685 torque jobs — and checked each for three defects: no instrument, a target outside the instrument's range, or a target it cannot dial. Zero defects.
All four torque instruments respond at 0.060 newton-metres per degree. Training and assessment share no sizes, so assessment tests the rule, not memory.
(Point right.) This proves software correctness — not learning. System A was checked by enumeration against its parts list.
→ Transition: The comparison also suggests how to combine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[8:10–9:00 | ~50 s]
The two systems complement each other. System A names fastening in its schema but treats it as placement. System B simulates fastening in detail but without any assembly around it.
(Point to the red tag and dashed boxes.) We propose — and these are proposals only — two steps. First, dispatch on the action field: place, insert and remove go to A's validation; fasten goes to B's fastening mechanic. One task file would then describe a full work instruction. Second, a shared assessment layer: extend B's capture of wrong pickups to A's placement errors, which A currently throws away.
Both systems already communicate through events, so this is technically coherent.
→ Transition: What does this mean, and where does it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[9:00–9:45 | ~45 s]
Contributions: the framework boundary, made explicit and measured; a comparison of independent design decisions; and verification methods without a device.
For practitioners: interaction is the cheap part — budget for the training layer. Derive the task specification from the scene, so product or rack changes don't become false trainee errors. And seed your generator, so every session can be checked automatically.
(Point right.) Limitations, stated plainly: no user study, so no claim on learning or transfer; two systems by two developers on one platform; and the integration is a proposal.
→ Transition: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[9:45–10:15 | ~30 s]
All four objectives are met: both trainers described; the boundary measured at 5,186 lines; one shared principle — derive the task specification from the scene; and 685 jobs verified without a headset.
Next: implement the dispatch, extend assessment to System A, and run a user study.
(Read the bottom line.) Interaction can now be configured; the competency trainer still has to be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[10:15–10:30 | ~15 s]
Part of this work was done under the ASEAN collaborative project between NIT Warangal and Universiti Malaysia Pahang Al-Sultan Abdullah. Thank you — I am happy to take questions.
(About 1:30 of buffer remains in the 12-minute slot. For questions on verification or task generation, jump to slides 15–16.)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only if asked how verification was done, where the numbers come from, or about scene complexity / performance.
Three-layer gate in System B: structural assertions over the scene graph; a clean play-mode console as a hard gate; then headless simulation through reflection. All counts were enumerated, not sampled. Scene: 458 mesh instances, about 2.1 million triangles, 63 materials. The paper does not report frame rate — if asked, say so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if asked about System A's part list, the JSON schema, how System B generates jobs, or the scoring weights.
26 parts; only the stator and rotor are unique. Generation enforces coverage, interleaving, a no-repeat window, and an exclusion set between training and assessment; it is seeded, so sessions can be reissued. Wrong selections are captured by polling grasp state for a rising edge — one event per pickup.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Vasu, Binet &amp; Hruthik  ·  IEOM 2026, Bangalore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rtlCol="0"/>
          <a:lstStyle>
            <a:lvl1pPr indent="0" marL="0">
              <a:buNone/>
              <a:defRPr lang="en-US" sz="1200" b="1" spc="200" kern="0" dirty="0">
                <a:solidFill>
                  <a:schemeClr val="accent5"/>
                </a:solidFill>
              </a:defRPr>
            </a:lvl1pPr>
          </a:lstStyle>
          <a:p>
            <a:pPr indent="0" marL="0">
              <a:buNone/>
            </a:pP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6"/>
                </a:solidFill>
              </a:rPr>
              <a:t>Vasu, Binet &amp; Hruthik  ·  IEOM 2026, Bangalore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ystem A guided assembly workspace">    </p:cNvPr>
          <p:cNvPicPr>
            <a:picLocks noChangeAspect="1"/>
          </p:cNvPicPr>
          <p:nvPr/>
        </p:nvPicPr>
        <p:blipFill>
          <a:blip r:embed="rId1"/>
          <a:srcRect l="0" r="0" t="0" b="0"/>
          <a:stretch/>
        </p:blipFill>
        <p:spPr>
          <a:xfrm>
            <a:off x="7680960" y="0"/>
            <a:ext cx="4510735" cy="3429000"/>
          </a:xfrm>
          <a:prstGeom prst="rect">
            <a:avLst/>
          </a:prstGeom>
        </p:spPr>
      </p:pic>
      <p:pic>
        <p:nvPicPr>
          <p:cNvPr id="3" name="Image 1" descr="System B tool rack and spanner on fastener">    </p:cNvPr>
          <p:cNvPicPr>
            <a:picLocks noChangeAspect="1"/>
          </p:cNvPicPr>
          <p:nvPr/>
        </p:nvPicPr>
        <p:blipFill>
          <a:blip r:embed="rId2"/>
          <a:srcRect l="0" r="0" t="0" b="0"/>
          <a:stretch/>
        </p:blipFill>
        <p:spPr>
          <a:xfrm>
            <a:off x="7680960" y="3429000"/>
            <a:ext cx="4510735" cy="3429000"/>
          </a:xfrm>
          <a:prstGeom prst="rect">
            <a:avLst/>
          </a:prstGeom>
        </p:spPr>
      </p:pic>
      <p:sp>
        <p:nvSpPr>
          <p:cNvPr id="4" name="Shape 0"/>
          <p:cNvSpPr/>
          <p:nvPr/>
        </p:nvSpPr>
        <p:spPr>
          <a:xfrm>
            <a:off x="7863840" y="2880360"/>
            <a:ext cx="2514600" cy="384048"/>
          </a:xfrm>
          <a:prstGeom prst="roundRect">
            <a:avLst>
              <a:gd name="adj" fmla="val 19048"/>
            </a:avLst>
          </a:prstGeom>
          <a:solidFill>
            <a:schemeClr val="tx2">
              <a:alpha val="85000"/>
            </a:schemeClr>
          </a:solidFill>
          <a:ln/>
        </p:spPr>
      </p:sp>
      <p:sp>
        <p:nvSpPr>
          <p:cNvPr id="5" name="Shape 1"/>
          <p:cNvSpPr/>
          <p:nvPr/>
        </p:nvSpPr>
        <p:spPr>
          <a:xfrm>
            <a:off x="7918704" y="2935224"/>
            <a:ext cx="274320" cy="274320"/>
          </a:xfrm>
          <a:prstGeom prst="ellipse">
            <a:avLst/>
          </a:prstGeom>
          <a:solidFill>
            <a:schemeClr val="accent1"/>
          </a:solidFill>
          <a:ln w="12700">
            <a:solidFill>
              <a:schemeClr val="accent1"/>
            </a:solidFill>
            <a:prstDash val="solid"/>
          </a:ln>
        </p:spPr>
      </p:sp>
      <p:sp>
        <p:nvSpPr>
          <p:cNvPr id="6" name="Text 2"/>
          <p:cNvSpPr txBox="1"/>
          <p:nvPr/>
        </p:nvSpPr>
        <p:spPr>
          <a:xfrm>
            <a:off x="7918704" y="2935224"/>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A</a:t>
            </a:r>
            <a:endParaRPr lang="en-US" sz="1100" dirty="0"/>
          </a:p>
        </p:txBody>
      </p:sp>
      <p:sp>
        <p:nvSpPr>
          <p:cNvPr id="7" name="Text 3"/>
          <p:cNvSpPr txBox="1"/>
          <p:nvPr/>
        </p:nvSpPr>
        <p:spPr>
          <a:xfrm>
            <a:off x="8266176" y="2880360"/>
            <a:ext cx="2103120" cy="384048"/>
          </a:xfrm>
          <a:prstGeom prst="rect">
            <a:avLst/>
          </a:prstGeom>
          <a:noFill/>
          <a:ln/>
        </p:spPr>
        <p:txBody>
          <a:bodyPr wrap="square" lIns="0" tIns="0" rIns="0" bIns="0" rtlCol="0" anchor="ctr"/>
          <a:lstStyle/>
          <a:p>
            <a:pPr indent="0" marL="0">
              <a:buNone/>
            </a:pPr>
            <a:r>
              <a:rPr lang="en-US" sz="1200" b="1" dirty="0">
                <a:solidFill>
                  <a:schemeClr val="bg1"/>
                </a:solidFill>
              </a:rPr>
              <a:t>Guided motor assembly</a:t>
            </a:r>
            <a:endParaRPr lang="en-US" sz="1200" dirty="0"/>
          </a:p>
        </p:txBody>
      </p:sp>
      <p:sp>
        <p:nvSpPr>
          <p:cNvPr id="8" name="Shape 4"/>
          <p:cNvSpPr/>
          <p:nvPr/>
        </p:nvSpPr>
        <p:spPr>
          <a:xfrm>
            <a:off x="7863840" y="6309360"/>
            <a:ext cx="2514600" cy="384048"/>
          </a:xfrm>
          <a:prstGeom prst="roundRect">
            <a:avLst>
              <a:gd name="adj" fmla="val 19048"/>
            </a:avLst>
          </a:prstGeom>
          <a:solidFill>
            <a:schemeClr val="tx2">
              <a:alpha val="85000"/>
            </a:schemeClr>
          </a:solidFill>
          <a:ln/>
        </p:spPr>
      </p:sp>
      <p:sp>
        <p:nvSpPr>
          <p:cNvPr id="9" name="Shape 5"/>
          <p:cNvSpPr/>
          <p:nvPr/>
        </p:nvSpPr>
        <p:spPr>
          <a:xfrm>
            <a:off x="7918704" y="6364224"/>
            <a:ext cx="274320" cy="274320"/>
          </a:xfrm>
          <a:prstGeom prst="ellipse">
            <a:avLst/>
          </a:prstGeom>
          <a:solidFill>
            <a:schemeClr val="accent2"/>
          </a:solidFill>
          <a:ln w="12700">
            <a:solidFill>
              <a:schemeClr val="accent2"/>
            </a:solidFill>
            <a:prstDash val="solid"/>
          </a:ln>
        </p:spPr>
      </p:sp>
      <p:sp>
        <p:nvSpPr>
          <p:cNvPr id="10" name="Text 6"/>
          <p:cNvSpPr txBox="1"/>
          <p:nvPr/>
        </p:nvSpPr>
        <p:spPr>
          <a:xfrm>
            <a:off x="7918704" y="6364224"/>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B</a:t>
            </a:r>
            <a:endParaRPr lang="en-US" sz="1100" dirty="0"/>
          </a:p>
        </p:txBody>
      </p:sp>
      <p:sp>
        <p:nvSpPr>
          <p:cNvPr id="11" name="Text 7"/>
          <p:cNvSpPr txBox="1"/>
          <p:nvPr/>
        </p:nvSpPr>
        <p:spPr>
          <a:xfrm>
            <a:off x="8266176" y="6309360"/>
            <a:ext cx="2103120" cy="384048"/>
          </a:xfrm>
          <a:prstGeom prst="rect">
            <a:avLst/>
          </a:prstGeom>
          <a:noFill/>
          <a:ln/>
        </p:spPr>
        <p:txBody>
          <a:bodyPr wrap="square" lIns="0" tIns="0" rIns="0" bIns="0" rtlCol="0" anchor="ctr"/>
          <a:lstStyle/>
          <a:p>
            <a:pPr indent="0" marL="0">
              <a:buNone/>
            </a:pPr>
            <a:r>
              <a:rPr lang="en-US" sz="1200" b="1" dirty="0">
                <a:solidFill>
                  <a:schemeClr val="bg1"/>
                </a:solidFill>
              </a:rPr>
              <a:t>Hand-tool selection</a:t>
            </a:r>
            <a:endParaRPr lang="en-US" sz="1200" dirty="0"/>
          </a:p>
        </p:txBody>
      </p:sp>
      <p:sp>
        <p:nvSpPr>
          <p:cNvPr id="12" name="Text 8"/>
          <p:cNvSpPr txBox="1"/>
          <p:nvPr/>
        </p:nvSpPr>
        <p:spPr>
          <a:xfrm>
            <a:off x="548640" y="640080"/>
            <a:ext cx="6766560" cy="320040"/>
          </a:xfrm>
          <a:prstGeom prst="rect">
            <a:avLst/>
          </a:prstGeom>
          <a:noFill/>
          <a:ln/>
        </p:spPr>
        <p:txBody>
          <a:bodyPr wrap="square" lIns="0" tIns="0" rIns="0" bIns="0" rtlCol="0" anchor="t"/>
          <a:lstStyle/>
          <a:p>
            <a:pPr indent="0" marL="0">
              <a:buNone/>
            </a:pPr>
            <a:r>
              <a:rPr lang="en-US" sz="1300" b="1" dirty="0">
                <a:solidFill>
                  <a:schemeClr val="accent5"/>
                </a:solidFill>
              </a:rPr>
              <a:t>6th IEOM India International Conference  ·  Bangalore, India  ·  5–7 November 2026</a:t>
            </a:r>
            <a:endParaRPr lang="en-US" sz="1300" dirty="0"/>
          </a:p>
        </p:txBody>
      </p:sp>
      <p:sp>
        <p:nvSpPr>
          <p:cNvPr id="13" name="Text 9"/>
          <p:cNvSpPr txBox="1"/>
          <p:nvPr/>
        </p:nvSpPr>
        <p:spPr>
          <a:xfrm>
            <a:off x="548640" y="1188720"/>
            <a:ext cx="6766560" cy="265176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Design and Implementation of Two Virtual Reality Competency Trainers for Manual Assembly and Hand-Tool Selection on a Common Extended Reality Platform</a:t>
            </a:r>
            <a:endParaRPr lang="en-US" sz="3000" dirty="0"/>
          </a:p>
        </p:txBody>
      </p:sp>
      <p:sp>
        <p:nvSpPr>
          <p:cNvPr id="14" name="Text 10"/>
          <p:cNvSpPr txBox="1"/>
          <p:nvPr/>
        </p:nvSpPr>
        <p:spPr>
          <a:xfrm>
            <a:off x="548640" y="4206240"/>
            <a:ext cx="6766560" cy="411480"/>
          </a:xfrm>
          <a:prstGeom prst="rect">
            <a:avLst/>
          </a:prstGeom>
          <a:noFill/>
          <a:ln/>
        </p:spPr>
        <p:txBody>
          <a:bodyPr wrap="square" lIns="0" tIns="0" rIns="0" bIns="0" rtlCol="0" anchor="t"/>
          <a:lstStyle/>
          <a:p>
            <a:pPr indent="0" marL="0">
              <a:buNone/>
            </a:pPr>
            <a:r>
              <a:rPr lang="en-US" sz="1800" b="1" dirty="0">
                <a:solidFill>
                  <a:schemeClr val="bg1"/>
                </a:solidFill>
              </a:rPr>
              <a:t>Prof. V Vasu</a:t>
            </a:r>
            <a:pPr indent="0" marL="0">
              <a:buNone/>
            </a:pPr>
            <a:r>
              <a:rPr lang="en-US" sz="1800" baseline="30000" dirty="0">
                <a:solidFill>
                  <a:schemeClr val="bg1"/>
                </a:solidFill>
              </a:rPr>
              <a:t>¹</a:t>
            </a:r>
            <a:pPr indent="0" marL="0">
              <a:buNone/>
            </a:pPr>
            <a:r>
              <a:rPr lang="en-US" sz="1800" b="1" dirty="0">
                <a:solidFill>
                  <a:schemeClr val="bg1"/>
                </a:solidFill>
              </a:rPr>
              <a:t>   ·   Binet N B</a:t>
            </a:r>
            <a:pPr indent="0" marL="0">
              <a:buNone/>
            </a:pPr>
            <a:r>
              <a:rPr lang="en-US" sz="1800" baseline="30000" dirty="0">
                <a:solidFill>
                  <a:schemeClr val="bg1"/>
                </a:solidFill>
              </a:rPr>
              <a:t>¹</a:t>
            </a:r>
            <a:pPr indent="0" marL="0">
              <a:buNone/>
            </a:pPr>
            <a:r>
              <a:rPr lang="en-US" sz="1800" b="1" dirty="0">
                <a:solidFill>
                  <a:schemeClr val="bg1"/>
                </a:solidFill>
              </a:rPr>
              <a:t>   ·   Mula Hruthik</a:t>
            </a:r>
            <a:pPr indent="0" marL="0">
              <a:buNone/>
            </a:pPr>
            <a:r>
              <a:rPr lang="en-US" sz="1800" baseline="30000" dirty="0">
                <a:solidFill>
                  <a:schemeClr val="bg1"/>
                </a:solidFill>
              </a:rPr>
              <a:t>²</a:t>
            </a:r>
            <a:endParaRPr lang="en-US" sz="1800" dirty="0"/>
          </a:p>
        </p:txBody>
      </p:sp>
      <p:sp>
        <p:nvSpPr>
          <p:cNvPr id="15" name="Text 11"/>
          <p:cNvSpPr txBox="1"/>
          <p:nvPr/>
        </p:nvSpPr>
        <p:spPr>
          <a:xfrm>
            <a:off x="548640" y="4754880"/>
            <a:ext cx="6766560" cy="731520"/>
          </a:xfrm>
          <a:prstGeom prst="rect">
            <a:avLst/>
          </a:prstGeom>
          <a:noFill/>
          <a:ln/>
        </p:spPr>
        <p:txBody>
          <a:bodyPr wrap="square" lIns="0" tIns="0" rIns="0" bIns="0" rtlCol="0" anchor="t"/>
          <a:lstStyle/>
          <a:p>
            <a:pPr indent="0" marL="0">
              <a:spcAft>
                <a:spcPts val="400"/>
              </a:spcAft>
              <a:buNone/>
            </a:pPr>
            <a:r>
              <a:rPr lang="en-US" sz="1300" dirty="0">
                <a:solidFill>
                  <a:schemeClr val="bg2"/>
                </a:solidFill>
              </a:rPr>
              <a:t>¹ Department of Mechanical Engineering, National Institute of Technology Warangal, Telangana, India</a:t>
            </a:r>
            <a:endParaRPr lang="en-US" sz="1300" dirty="0"/>
          </a:p>
          <a:p>
            <a:pPr indent="0" marL="0">
              <a:spcAft>
                <a:spcPts val="400"/>
              </a:spcAft>
              <a:buNone/>
            </a:pPr>
            <a:r>
              <a:rPr lang="en-US" sz="1300" dirty="0">
                <a:solidFill>
                  <a:schemeClr val="bg2"/>
                </a:solidFill>
              </a:rPr>
              <a:t>² Independent AR/VR developer, Warangal, Telangana, India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BACKGROUND &amp; MOTIVATION</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Interaction is now cheap — competency trainers are not</a:t>
            </a:r>
            <a:endParaRPr lang="en-US" sz="3000" dirty="0"/>
          </a:p>
        </p:txBody>
      </p:sp>
      <p:sp>
        <p:nvSpPr>
          <p:cNvPr id="4" name="Shape 2"/>
          <p:cNvSpPr/>
          <p:nvPr/>
        </p:nvSpPr>
        <p:spPr>
          <a:xfrm>
            <a:off x="548640" y="1600200"/>
            <a:ext cx="640080" cy="640080"/>
          </a:xfrm>
          <a:prstGeom prst="ellipse">
            <a:avLst/>
          </a:prstGeom>
          <a:solidFill>
            <a:schemeClr val="tx2"/>
          </a:solidFill>
          <a:ln w="12700">
            <a:solidFill>
              <a:schemeClr val="tx2"/>
            </a:solidFill>
            <a:prstDash val="solid"/>
          </a:ln>
        </p:spPr>
      </p:sp>
      <p:pic>
        <p:nvPicPr>
          <p:cNvPr id="5" name="Image 0" descr="preencoded.png">    </p:cNvPr>
          <p:cNvPicPr>
            <a:picLocks noChangeAspect="1"/>
          </p:cNvPicPr>
          <p:nvPr/>
        </p:nvPicPr>
        <p:blipFill>
          <a:blip r:embed="rId1"/>
          <a:stretch>
            <a:fillRect/>
          </a:stretch>
        </p:blipFill>
        <p:spPr>
          <a:xfrm>
            <a:off x="708660" y="1760220"/>
            <a:ext cx="320040" cy="320040"/>
          </a:xfrm>
          <a:prstGeom prst="rect">
            <a:avLst/>
          </a:prstGeom>
        </p:spPr>
      </p:pic>
      <p:sp>
        <p:nvSpPr>
          <p:cNvPr id="6" name="Text 3"/>
          <p:cNvSpPr txBox="1"/>
          <p:nvPr/>
        </p:nvSpPr>
        <p:spPr>
          <a:xfrm>
            <a:off x="1417320" y="1600200"/>
            <a:ext cx="5029200" cy="365760"/>
          </a:xfrm>
          <a:prstGeom prst="rect">
            <a:avLst/>
          </a:prstGeom>
          <a:noFill/>
          <a:ln/>
        </p:spPr>
        <p:txBody>
          <a:bodyPr wrap="square" lIns="0" tIns="0" rIns="0" bIns="0" rtlCol="0" anchor="t"/>
          <a:lstStyle/>
          <a:p>
            <a:pPr indent="0" marL="0">
              <a:buNone/>
            </a:pPr>
            <a:r>
              <a:rPr lang="en-US" sz="1700" b="1" dirty="0">
                <a:solidFill>
                  <a:schemeClr val="tx2"/>
                </a:solidFill>
              </a:rPr>
              <a:t>Manual assembly remains skill dependent</a:t>
            </a:r>
            <a:endParaRPr lang="en-US" sz="1700" dirty="0"/>
          </a:p>
        </p:txBody>
      </p:sp>
      <p:sp>
        <p:nvSpPr>
          <p:cNvPr id="7" name="Text 4"/>
          <p:cNvSpPr txBox="1"/>
          <p:nvPr/>
        </p:nvSpPr>
        <p:spPr>
          <a:xfrm>
            <a:off x="1417320" y="1984248"/>
            <a:ext cx="5029200" cy="1005840"/>
          </a:xfrm>
          <a:prstGeom prst="rect">
            <a:avLst/>
          </a:prstGeom>
          <a:noFill/>
          <a:ln/>
        </p:spPr>
        <p:txBody>
          <a:bodyPr wrap="square" lIns="0" tIns="0" rIns="0" bIns="0" rtlCol="0" anchor="t"/>
          <a:lstStyle/>
          <a:p>
            <a:pPr indent="0" marL="0">
              <a:buNone/>
            </a:pPr>
            <a:r>
              <a:rPr lang="en-US" sz="1400" dirty="0">
                <a:solidFill>
                  <a:schemeClr val="tx1"/>
                </a:solidFill>
              </a:rPr>
              <a:t>It absorbs part-to-part variation, handles compliant components and supports low-volume, high-mix work without retooling — so quality is bound to operator competence.</a:t>
            </a:r>
            <a:endParaRPr lang="en-US" sz="1400" dirty="0"/>
          </a:p>
        </p:txBody>
      </p:sp>
      <p:sp>
        <p:nvSpPr>
          <p:cNvPr id="8" name="Shape 5"/>
          <p:cNvSpPr/>
          <p:nvPr/>
        </p:nvSpPr>
        <p:spPr>
          <a:xfrm>
            <a:off x="548640" y="3108960"/>
            <a:ext cx="640080" cy="640080"/>
          </a:xfrm>
          <a:prstGeom prst="ellipse">
            <a:avLst/>
          </a:prstGeom>
          <a:solidFill>
            <a:schemeClr val="tx2"/>
          </a:solidFill>
          <a:ln w="12700">
            <a:solidFill>
              <a:schemeClr val="tx2"/>
            </a:solidFill>
            <a:prstDash val="solid"/>
          </a:ln>
        </p:spPr>
      </p:sp>
      <p:pic>
        <p:nvPicPr>
          <p:cNvPr id="9" name="Image 1" descr="preencoded.png">    </p:cNvPr>
          <p:cNvPicPr>
            <a:picLocks noChangeAspect="1"/>
          </p:cNvPicPr>
          <p:nvPr/>
        </p:nvPicPr>
        <p:blipFill>
          <a:blip r:embed="rId2"/>
          <a:stretch>
            <a:fillRect/>
          </a:stretch>
        </p:blipFill>
        <p:spPr>
          <a:xfrm>
            <a:off x="708660" y="3268980"/>
            <a:ext cx="320040" cy="320040"/>
          </a:xfrm>
          <a:prstGeom prst="rect">
            <a:avLst/>
          </a:prstGeom>
        </p:spPr>
      </p:pic>
      <p:sp>
        <p:nvSpPr>
          <p:cNvPr id="10" name="Text 6"/>
          <p:cNvSpPr txBox="1"/>
          <p:nvPr/>
        </p:nvSpPr>
        <p:spPr>
          <a:xfrm>
            <a:off x="1417320" y="3108960"/>
            <a:ext cx="5029200" cy="365760"/>
          </a:xfrm>
          <a:prstGeom prst="rect">
            <a:avLst/>
          </a:prstGeom>
          <a:noFill/>
          <a:ln/>
        </p:spPr>
        <p:txBody>
          <a:bodyPr wrap="square" lIns="0" tIns="0" rIns="0" bIns="0" rtlCol="0" anchor="t"/>
          <a:lstStyle/>
          <a:p>
            <a:pPr indent="0" marL="0">
              <a:buNone/>
            </a:pPr>
            <a:r>
              <a:rPr lang="en-US" sz="1700" b="1" dirty="0">
                <a:solidFill>
                  <a:schemeClr val="tx2"/>
                </a:solidFill>
              </a:rPr>
              <a:t>VR is an established training medium</a:t>
            </a:r>
            <a:endParaRPr lang="en-US" sz="1700" dirty="0"/>
          </a:p>
        </p:txBody>
      </p:sp>
      <p:sp>
        <p:nvSpPr>
          <p:cNvPr id="11" name="Text 7"/>
          <p:cNvSpPr txBox="1"/>
          <p:nvPr/>
        </p:nvSpPr>
        <p:spPr>
          <a:xfrm>
            <a:off x="1417320" y="3493008"/>
            <a:ext cx="5029200" cy="1005840"/>
          </a:xfrm>
          <a:prstGeom prst="rect">
            <a:avLst/>
          </a:prstGeom>
          <a:noFill/>
          <a:ln/>
        </p:spPr>
        <p:txBody>
          <a:bodyPr wrap="square" lIns="0" tIns="0" rIns="0" bIns="0" rtlCol="0" anchor="t"/>
          <a:lstStyle/>
          <a:p>
            <a:pPr indent="0" marL="0">
              <a:buNone/>
            </a:pPr>
            <a:r>
              <a:rPr lang="en-US" sz="1400" dirty="0">
                <a:solidFill>
                  <a:schemeClr val="tx1"/>
                </a:solidFill>
              </a:rPr>
              <a:t>No material use, no hazard exposure, unlimited repetition, direct instrumentation of trainee behaviour (Boud et al. 1999; Carlson et al. 2015).</a:t>
            </a:r>
            <a:endParaRPr lang="en-US" sz="1400" dirty="0"/>
          </a:p>
        </p:txBody>
      </p:sp>
      <p:sp>
        <p:nvSpPr>
          <p:cNvPr id="12" name="Shape 8"/>
          <p:cNvSpPr/>
          <p:nvPr/>
        </p:nvSpPr>
        <p:spPr>
          <a:xfrm>
            <a:off x="548640" y="4617720"/>
            <a:ext cx="640080" cy="640080"/>
          </a:xfrm>
          <a:prstGeom prst="ellipse">
            <a:avLst/>
          </a:prstGeom>
          <a:solidFill>
            <a:schemeClr val="tx2"/>
          </a:solidFill>
          <a:ln w="12700">
            <a:solidFill>
              <a:schemeClr val="tx2"/>
            </a:solidFill>
            <a:prstDash val="solid"/>
          </a:ln>
        </p:spPr>
      </p:sp>
      <p:pic>
        <p:nvPicPr>
          <p:cNvPr id="13" name="Image 2" descr="preencoded.png">    </p:cNvPr>
          <p:cNvPicPr>
            <a:picLocks noChangeAspect="1"/>
          </p:cNvPicPr>
          <p:nvPr/>
        </p:nvPicPr>
        <p:blipFill>
          <a:blip r:embed="rId3"/>
          <a:stretch>
            <a:fillRect/>
          </a:stretch>
        </p:blipFill>
        <p:spPr>
          <a:xfrm>
            <a:off x="708660" y="4777740"/>
            <a:ext cx="320040" cy="320040"/>
          </a:xfrm>
          <a:prstGeom prst="rect">
            <a:avLst/>
          </a:prstGeom>
        </p:spPr>
      </p:pic>
      <p:sp>
        <p:nvSpPr>
          <p:cNvPr id="14" name="Text 9"/>
          <p:cNvSpPr txBox="1"/>
          <p:nvPr/>
        </p:nvSpPr>
        <p:spPr>
          <a:xfrm>
            <a:off x="1417320" y="4617720"/>
            <a:ext cx="5029200" cy="365760"/>
          </a:xfrm>
          <a:prstGeom prst="rect">
            <a:avLst/>
          </a:prstGeom>
          <a:noFill/>
          <a:ln/>
        </p:spPr>
        <p:txBody>
          <a:bodyPr wrap="square" lIns="0" tIns="0" rIns="0" bIns="0" rtlCol="0" anchor="t"/>
          <a:lstStyle/>
          <a:p>
            <a:pPr indent="0" marL="0">
              <a:buNone/>
            </a:pPr>
            <a:r>
              <a:rPr lang="en-US" sz="1700" b="1" dirty="0">
                <a:solidFill>
                  <a:schemeClr val="tx2"/>
                </a:solidFill>
              </a:rPr>
              <a:t>Standalone headsets removed the cost barrier</a:t>
            </a:r>
            <a:endParaRPr lang="en-US" sz="1700" dirty="0"/>
          </a:p>
        </p:txBody>
      </p:sp>
      <p:sp>
        <p:nvSpPr>
          <p:cNvPr id="15" name="Text 10"/>
          <p:cNvSpPr txBox="1"/>
          <p:nvPr/>
        </p:nvSpPr>
        <p:spPr>
          <a:xfrm>
            <a:off x="1417320" y="5001768"/>
            <a:ext cx="5029200" cy="1005840"/>
          </a:xfrm>
          <a:prstGeom prst="rect">
            <a:avLst/>
          </a:prstGeom>
          <a:noFill/>
          <a:ln/>
        </p:spPr>
        <p:txBody>
          <a:bodyPr wrap="square" lIns="0" tIns="0" rIns="0" bIns="0" rtlCol="0" anchor="t"/>
          <a:lstStyle/>
          <a:p>
            <a:pPr indent="0" marL="0">
              <a:buNone/>
            </a:pPr>
            <a:r>
              <a:rPr lang="en-US" sz="1400" dirty="0">
                <a:solidFill>
                  <a:schemeClr val="tx1"/>
                </a:solidFill>
              </a:rPr>
              <a:t>Inside-out tracking and bare-hand recognition: immersive training no longer needs a specialist facility.</a:t>
            </a:r>
            <a:endParaRPr lang="en-US" sz="1400" dirty="0"/>
          </a:p>
        </p:txBody>
      </p:sp>
      <p:sp>
        <p:nvSpPr>
          <p:cNvPr id="16" name="Shape 11"/>
          <p:cNvSpPr/>
          <p:nvPr/>
        </p:nvSpPr>
        <p:spPr>
          <a:xfrm>
            <a:off x="6903720" y="1554480"/>
            <a:ext cx="4739335" cy="2011680"/>
          </a:xfrm>
          <a:prstGeom prst="roundRect">
            <a:avLst>
              <a:gd name="adj" fmla="val 3636"/>
            </a:avLst>
          </a:prstGeom>
          <a:solidFill>
            <a:schemeClr val="accent3">
              <a:alpha val="15000"/>
            </a:schemeClr>
          </a:solidFill>
          <a:ln/>
        </p:spPr>
      </p:sp>
      <p:sp>
        <p:nvSpPr>
          <p:cNvPr id="17" name="Text 12"/>
          <p:cNvSpPr txBox="1"/>
          <p:nvPr/>
        </p:nvSpPr>
        <p:spPr>
          <a:xfrm>
            <a:off x="7132320" y="1691640"/>
            <a:ext cx="4282135" cy="320040"/>
          </a:xfrm>
          <a:prstGeom prst="rect">
            <a:avLst/>
          </a:prstGeom>
          <a:noFill/>
          <a:ln/>
        </p:spPr>
        <p:txBody>
          <a:bodyPr wrap="square" lIns="0" tIns="0" rIns="0" bIns="0" rtlCol="0" anchor="t"/>
          <a:lstStyle/>
          <a:p>
            <a:pPr indent="0" marL="0">
              <a:buNone/>
            </a:pPr>
            <a:r>
              <a:rPr lang="en-US" sz="1400" b="1" dirty="0">
                <a:solidFill>
                  <a:schemeClr val="accent3"/>
                </a:solidFill>
              </a:rPr>
              <a:t>Commercial interaction framework supplies (configured)</a:t>
            </a:r>
            <a:endParaRPr lang="en-US" sz="1400" dirty="0"/>
          </a:p>
        </p:txBody>
      </p:sp>
      <p:sp>
        <p:nvSpPr>
          <p:cNvPr id="18" name="Shape 13"/>
          <p:cNvSpPr/>
          <p:nvPr/>
        </p:nvSpPr>
        <p:spPr>
          <a:xfrm>
            <a:off x="7132320" y="2121408"/>
            <a:ext cx="932688" cy="384048"/>
          </a:xfrm>
          <a:prstGeom prst="roundRect">
            <a:avLst>
              <a:gd name="adj" fmla="val 19048"/>
            </a:avLst>
          </a:prstGeom>
          <a:solidFill>
            <a:schemeClr val="bg1"/>
          </a:solidFill>
          <a:ln/>
        </p:spPr>
      </p:sp>
      <p:sp>
        <p:nvSpPr>
          <p:cNvPr id="19" name="Text 14"/>
          <p:cNvSpPr txBox="1"/>
          <p:nvPr/>
        </p:nvSpPr>
        <p:spPr>
          <a:xfrm>
            <a:off x="7132320" y="2121408"/>
            <a:ext cx="932688" cy="384048"/>
          </a:xfrm>
          <a:prstGeom prst="rect">
            <a:avLst/>
          </a:prstGeom>
          <a:noFill/>
          <a:ln/>
        </p:spPr>
        <p:txBody>
          <a:bodyPr wrap="square" lIns="0" tIns="0" rIns="0" bIns="0" rtlCol="0" anchor="ctr"/>
          <a:lstStyle/>
          <a:p>
            <a:pPr algn="ctr" indent="0" marL="0">
              <a:buNone/>
            </a:pPr>
            <a:r>
              <a:rPr lang="en-US" sz="1400" dirty="0">
                <a:solidFill>
                  <a:schemeClr val="tx1"/>
                </a:solidFill>
              </a:rPr>
              <a:t>Grasping</a:t>
            </a:r>
            <a:endParaRPr lang="en-US" sz="1400" dirty="0"/>
          </a:p>
        </p:txBody>
      </p:sp>
      <p:sp>
        <p:nvSpPr>
          <p:cNvPr id="20" name="Shape 15"/>
          <p:cNvSpPr/>
          <p:nvPr/>
        </p:nvSpPr>
        <p:spPr>
          <a:xfrm>
            <a:off x="8202168" y="2121408"/>
            <a:ext cx="1316736" cy="384048"/>
          </a:xfrm>
          <a:prstGeom prst="roundRect">
            <a:avLst>
              <a:gd name="adj" fmla="val 19048"/>
            </a:avLst>
          </a:prstGeom>
          <a:solidFill>
            <a:schemeClr val="bg1"/>
          </a:solidFill>
          <a:ln/>
        </p:spPr>
      </p:sp>
      <p:sp>
        <p:nvSpPr>
          <p:cNvPr id="21" name="Text 16"/>
          <p:cNvSpPr txBox="1"/>
          <p:nvPr/>
        </p:nvSpPr>
        <p:spPr>
          <a:xfrm>
            <a:off x="8202168" y="2121408"/>
            <a:ext cx="1316736" cy="384048"/>
          </a:xfrm>
          <a:prstGeom prst="rect">
            <a:avLst/>
          </a:prstGeom>
          <a:noFill/>
          <a:ln/>
        </p:spPr>
        <p:txBody>
          <a:bodyPr wrap="square" lIns="0" tIns="0" rIns="0" bIns="0" rtlCol="0" anchor="ctr"/>
          <a:lstStyle/>
          <a:p>
            <a:pPr algn="ctr" indent="0" marL="0">
              <a:buNone/>
            </a:pPr>
            <a:r>
              <a:rPr lang="en-US" sz="1400" dirty="0">
                <a:solidFill>
                  <a:schemeClr val="tx1"/>
                </a:solidFill>
              </a:rPr>
              <a:t>Ray pointing</a:t>
            </a:r>
            <a:endParaRPr lang="en-US" sz="1400" dirty="0"/>
          </a:p>
        </p:txBody>
      </p:sp>
      <p:sp>
        <p:nvSpPr>
          <p:cNvPr id="22" name="Shape 17"/>
          <p:cNvSpPr/>
          <p:nvPr/>
        </p:nvSpPr>
        <p:spPr>
          <a:xfrm>
            <a:off x="9656064" y="2121408"/>
            <a:ext cx="1220724" cy="384048"/>
          </a:xfrm>
          <a:prstGeom prst="roundRect">
            <a:avLst>
              <a:gd name="adj" fmla="val 19048"/>
            </a:avLst>
          </a:prstGeom>
          <a:solidFill>
            <a:schemeClr val="bg1"/>
          </a:solidFill>
          <a:ln/>
        </p:spPr>
      </p:sp>
      <p:sp>
        <p:nvSpPr>
          <p:cNvPr id="23" name="Text 18"/>
          <p:cNvSpPr txBox="1"/>
          <p:nvPr/>
        </p:nvSpPr>
        <p:spPr>
          <a:xfrm>
            <a:off x="9656064" y="2121408"/>
            <a:ext cx="1220724" cy="384048"/>
          </a:xfrm>
          <a:prstGeom prst="rect">
            <a:avLst/>
          </a:prstGeom>
          <a:noFill/>
          <a:ln/>
        </p:spPr>
        <p:txBody>
          <a:bodyPr wrap="square" lIns="0" tIns="0" rIns="0" bIns="0" rtlCol="0" anchor="ctr"/>
          <a:lstStyle/>
          <a:p>
            <a:pPr algn="ctr" indent="0" marL="0">
              <a:buNone/>
            </a:pPr>
            <a:r>
              <a:rPr lang="en-US" sz="1400" dirty="0">
                <a:solidFill>
                  <a:schemeClr val="tx1"/>
                </a:solidFill>
              </a:rPr>
              <a:t>UI pointing</a:t>
            </a:r>
            <a:endParaRPr lang="en-US" sz="1400" dirty="0"/>
          </a:p>
        </p:txBody>
      </p:sp>
      <p:sp>
        <p:nvSpPr>
          <p:cNvPr id="24" name="Shape 19"/>
          <p:cNvSpPr/>
          <p:nvPr/>
        </p:nvSpPr>
        <p:spPr>
          <a:xfrm>
            <a:off x="7132320" y="2624328"/>
            <a:ext cx="1988820" cy="384048"/>
          </a:xfrm>
          <a:prstGeom prst="roundRect">
            <a:avLst>
              <a:gd name="adj" fmla="val 19048"/>
            </a:avLst>
          </a:prstGeom>
          <a:solidFill>
            <a:schemeClr val="bg1"/>
          </a:solidFill>
          <a:ln/>
        </p:spPr>
      </p:sp>
      <p:sp>
        <p:nvSpPr>
          <p:cNvPr id="25" name="Text 20"/>
          <p:cNvSpPr txBox="1"/>
          <p:nvPr/>
        </p:nvSpPr>
        <p:spPr>
          <a:xfrm>
            <a:off x="7132320" y="2624328"/>
            <a:ext cx="1988820" cy="384048"/>
          </a:xfrm>
          <a:prstGeom prst="rect">
            <a:avLst/>
          </a:prstGeom>
          <a:noFill/>
          <a:ln/>
        </p:spPr>
        <p:txBody>
          <a:bodyPr wrap="square" lIns="0" tIns="0" rIns="0" bIns="0" rtlCol="0" anchor="ctr"/>
          <a:lstStyle/>
          <a:p>
            <a:pPr algn="ctr" indent="0" marL="0">
              <a:buNone/>
            </a:pPr>
            <a:r>
              <a:rPr lang="en-US" sz="1400" dirty="0">
                <a:solidFill>
                  <a:schemeClr val="tx1"/>
                </a:solidFill>
              </a:rPr>
              <a:t>Hand-pose authoring</a:t>
            </a:r>
            <a:endParaRPr lang="en-US" sz="1400" dirty="0"/>
          </a:p>
        </p:txBody>
      </p:sp>
      <p:sp>
        <p:nvSpPr>
          <p:cNvPr id="26" name="Shape 21"/>
          <p:cNvSpPr/>
          <p:nvPr/>
        </p:nvSpPr>
        <p:spPr>
          <a:xfrm>
            <a:off x="9258300" y="2624328"/>
            <a:ext cx="1124712" cy="384048"/>
          </a:xfrm>
          <a:prstGeom prst="roundRect">
            <a:avLst>
              <a:gd name="adj" fmla="val 19048"/>
            </a:avLst>
          </a:prstGeom>
          <a:solidFill>
            <a:schemeClr val="bg1"/>
          </a:solidFill>
          <a:ln/>
        </p:spPr>
      </p:sp>
      <p:sp>
        <p:nvSpPr>
          <p:cNvPr id="27" name="Text 22"/>
          <p:cNvSpPr txBox="1"/>
          <p:nvPr/>
        </p:nvSpPr>
        <p:spPr>
          <a:xfrm>
            <a:off x="9258300" y="2624328"/>
            <a:ext cx="1124712" cy="384048"/>
          </a:xfrm>
          <a:prstGeom prst="rect">
            <a:avLst/>
          </a:prstGeom>
          <a:noFill/>
          <a:ln/>
        </p:spPr>
        <p:txBody>
          <a:bodyPr wrap="square" lIns="0" tIns="0" rIns="0" bIns="0" rtlCol="0" anchor="ctr"/>
          <a:lstStyle/>
          <a:p>
            <a:pPr algn="ctr" indent="0" marL="0">
              <a:buNone/>
            </a:pPr>
            <a:r>
              <a:rPr lang="en-US" sz="1400" dirty="0">
                <a:solidFill>
                  <a:schemeClr val="tx1"/>
                </a:solidFill>
              </a:rPr>
              <a:t>Locomotion</a:t>
            </a:r>
            <a:endParaRPr lang="en-US" sz="1400" dirty="0"/>
          </a:p>
        </p:txBody>
      </p:sp>
      <p:sp>
        <p:nvSpPr>
          <p:cNvPr id="28" name="Text 23"/>
          <p:cNvSpPr txBox="1"/>
          <p:nvPr/>
        </p:nvSpPr>
        <p:spPr>
          <a:xfrm>
            <a:off x="7132320" y="3108960"/>
            <a:ext cx="4282135" cy="320040"/>
          </a:xfrm>
          <a:prstGeom prst="rect">
            <a:avLst/>
          </a:prstGeom>
          <a:noFill/>
          <a:ln/>
        </p:spPr>
        <p:txBody>
          <a:bodyPr wrap="square" lIns="0" tIns="0" rIns="0" bIns="0" rtlCol="0" anchor="t"/>
          <a:lstStyle/>
          <a:p>
            <a:pPr indent="0" marL="0">
              <a:buNone/>
            </a:pPr>
            <a:r>
              <a:rPr lang="en-US" sz="1400" i="1" dirty="0">
                <a:solidFill>
                  <a:schemeClr val="accent3"/>
                </a:solidFill>
              </a:rPr>
              <a:t>→ an object that can be picked up</a:t>
            </a:r>
            <a:endParaRPr lang="en-US" sz="1400" dirty="0"/>
          </a:p>
        </p:txBody>
      </p:sp>
      <p:sp>
        <p:nvSpPr>
          <p:cNvPr id="29" name="Shape 24"/>
          <p:cNvSpPr/>
          <p:nvPr/>
        </p:nvSpPr>
        <p:spPr>
          <a:xfrm>
            <a:off x="6903720" y="3749040"/>
            <a:ext cx="4739335" cy="2377440"/>
          </a:xfrm>
          <a:prstGeom prst="roundRect">
            <a:avLst>
              <a:gd name="adj" fmla="val 3077"/>
            </a:avLst>
          </a:prstGeom>
          <a:solidFill>
            <a:schemeClr val="accent1">
              <a:alpha val="15000"/>
            </a:schemeClr>
          </a:solidFill>
          <a:ln/>
        </p:spPr>
      </p:sp>
      <p:sp>
        <p:nvSpPr>
          <p:cNvPr id="30" name="Text 25"/>
          <p:cNvSpPr txBox="1"/>
          <p:nvPr/>
        </p:nvSpPr>
        <p:spPr>
          <a:xfrm>
            <a:off x="7132320" y="3886200"/>
            <a:ext cx="4282135" cy="320040"/>
          </a:xfrm>
          <a:prstGeom prst="rect">
            <a:avLst/>
          </a:prstGeom>
          <a:noFill/>
          <a:ln/>
        </p:spPr>
        <p:txBody>
          <a:bodyPr wrap="square" lIns="0" tIns="0" rIns="0" bIns="0" rtlCol="0" anchor="t"/>
          <a:lstStyle/>
          <a:p>
            <a:pPr indent="0" marL="0">
              <a:buNone/>
            </a:pPr>
            <a:r>
              <a:rPr lang="en-US" sz="1400" b="1" dirty="0">
                <a:solidFill>
                  <a:schemeClr val="accent1"/>
                </a:solidFill>
              </a:rPr>
              <a:t>A competency trainer also needs (must be written)</a:t>
            </a:r>
            <a:endParaRPr lang="en-US" sz="1400" dirty="0"/>
          </a:p>
        </p:txBody>
      </p:sp>
      <p:sp>
        <p:nvSpPr>
          <p:cNvPr id="31" name="Text 26"/>
          <p:cNvSpPr txBox="1"/>
          <p:nvPr/>
        </p:nvSpPr>
        <p:spPr>
          <a:xfrm>
            <a:off x="7132320" y="4251960"/>
            <a:ext cx="4282135" cy="128016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chemeClr val="tx1"/>
                </a:solidFill>
              </a:rPr>
              <a:t>A representation of the task</a:t>
            </a:r>
            <a:endParaRPr lang="en-US" sz="1400" dirty="0"/>
          </a:p>
          <a:p>
            <a:pPr marL="203200" indent="-203200">
              <a:spcAft>
                <a:spcPts val="300"/>
              </a:spcAft>
              <a:buSzPct val="100000"/>
              <a:buChar char="•"/>
            </a:pPr>
            <a:r>
              <a:rPr lang="en-US" sz="1400" dirty="0">
                <a:solidFill>
                  <a:schemeClr val="tx1"/>
                </a:solidFill>
              </a:rPr>
              <a:t>Validation of what the trainee did against it</a:t>
            </a:r>
            <a:endParaRPr lang="en-US" sz="1400" dirty="0"/>
          </a:p>
          <a:p>
            <a:pPr marL="203200" indent="-203200">
              <a:spcAft>
                <a:spcPts val="300"/>
              </a:spcAft>
              <a:buSzPct val="100000"/>
              <a:buChar char="•"/>
            </a:pPr>
            <a:r>
              <a:rPr lang="en-US" sz="1400" dirty="0">
                <a:solidFill>
                  <a:schemeClr val="tx1"/>
                </a:solidFill>
              </a:rPr>
              <a:t>Guidance that advances with progress</a:t>
            </a:r>
            <a:endParaRPr lang="en-US" sz="1400" dirty="0"/>
          </a:p>
          <a:p>
            <a:pPr marL="203200" indent="-203200">
              <a:spcAft>
                <a:spcPts val="300"/>
              </a:spcAft>
              <a:buSzPct val="100000"/>
              <a:buChar char="•"/>
            </a:pPr>
            <a:r>
              <a:rPr lang="en-US" sz="1400" dirty="0">
                <a:solidFill>
                  <a:schemeClr val="tx1"/>
                </a:solidFill>
              </a:rPr>
              <a:t>Recording of performance, where scored</a:t>
            </a:r>
            <a:endParaRPr lang="en-US" sz="1400" dirty="0"/>
          </a:p>
        </p:txBody>
      </p:sp>
      <p:sp>
        <p:nvSpPr>
          <p:cNvPr id="32" name="Text 27"/>
          <p:cNvSpPr txBox="1"/>
          <p:nvPr/>
        </p:nvSpPr>
        <p:spPr>
          <a:xfrm>
            <a:off x="7132320" y="5532120"/>
            <a:ext cx="4282135" cy="502920"/>
          </a:xfrm>
          <a:prstGeom prst="rect">
            <a:avLst/>
          </a:prstGeom>
          <a:noFill/>
          <a:ln/>
        </p:spPr>
        <p:txBody>
          <a:bodyPr wrap="square" lIns="0" tIns="0" rIns="0" bIns="0" rtlCol="0" anchor="t"/>
          <a:lstStyle/>
          <a:p>
            <a:pPr indent="0" marL="0">
              <a:buNone/>
            </a:pPr>
            <a:r>
              <a:rPr lang="en-US" sz="1300" b="1" i="1" dirty="0">
                <a:solidFill>
                  <a:schemeClr val="tx2"/>
                </a:solidFill>
              </a:rPr>
              <a:t>The path from a working grasp system to a working trainer is not well documented.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LITERATURE &amp; RESEARCH GAP</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Prior work shows VR training works — not what it takes to build</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926080"/>
                <a:gridCol w="3657600"/>
                <a:gridCol w="4510735"/>
              </a:tblGrid>
              <a:tr h="429768">
                <a:tc>
                  <a:txBody>
                    <a:bodyPr/>
                    <a:lstStyle/>
                    <a:p>
                      <a:pPr indent="0" marL="0">
                        <a:buNone/>
                      </a:pPr>
                      <a:r>
                        <a:rPr lang="en-US" sz="1300" b="1" dirty="0">
                          <a:solidFill>
                            <a:schemeClr val="bg1"/>
                          </a:solidFill>
                        </a:rPr>
                        <a:t>Study</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Scope</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What it establishes</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solidFill>
                      <a:schemeClr val="tx2"/>
                    </a:solidFill>
                  </a:tcPr>
                </a:tc>
              </a:tr>
              <a:tr h="429768">
                <a:tc>
                  <a:txBody>
                    <a:bodyPr/>
                    <a:lstStyle/>
                    <a:p>
                      <a:pPr indent="0" marL="0">
                        <a:buNone/>
                      </a:pPr>
                      <a:r>
                        <a:rPr lang="en-US" sz="1300" dirty="0">
                          <a:solidFill>
                            <a:schemeClr val="tx1"/>
                          </a:solidFill>
                        </a:rPr>
                        <a:t>Daling &amp; Schlittmeier (2024)</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Scoping review: AR/VR/MR for manual assembly</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Effects on objective and subjective measures; protocol structure explains much outcome variation</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r h="429768">
                <a:tc>
                  <a:txBody>
                    <a:bodyPr/>
                    <a:lstStyle/>
                    <a:p>
                      <a:pPr indent="0" marL="0">
                        <a:buNone/>
                      </a:pPr>
                      <a:r>
                        <a:rPr lang="en-US" sz="1300" dirty="0">
                          <a:solidFill>
                            <a:schemeClr val="tx1"/>
                          </a:solidFill>
                        </a:rPr>
                        <a:t>Di Pasquale et al. (2024)</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Systematic review: VR assembly &amp; disassembly</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Structured assessment remains uncommon</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r h="429768">
                <a:tc>
                  <a:txBody>
                    <a:bodyPr/>
                    <a:lstStyle/>
                    <a:p>
                      <a:pPr indent="0" marL="0">
                        <a:buNone/>
                      </a:pPr>
                      <a:r>
                        <a:rPr lang="en-US" sz="1300" dirty="0">
                          <a:solidFill>
                            <a:schemeClr val="tx1"/>
                          </a:solidFill>
                        </a:rPr>
                        <a:t>Yang et al. (2023)</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VR in manufacturing education</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Effectiveness reviewed across disciplines and environments</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r h="429768">
                <a:tc>
                  <a:txBody>
                    <a:bodyPr/>
                    <a:lstStyle/>
                    <a:p>
                      <a:pPr indent="0" marL="0">
                        <a:buNone/>
                      </a:pPr>
                      <a:r>
                        <a:rPr lang="en-US" sz="1300" dirty="0">
                          <a:solidFill>
                            <a:schemeClr val="tx1"/>
                          </a:solidFill>
                        </a:rPr>
                        <a:t>Wang et al. (2022)</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VR engine-assembly trainer (Unity, Quest 2)</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Competency in fewer attempts than video demonstration</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r h="429768">
                <a:tc>
                  <a:txBody>
                    <a:bodyPr/>
                    <a:lstStyle/>
                    <a:p>
                      <a:pPr indent="0" marL="0">
                        <a:buNone/>
                      </a:pPr>
                      <a:r>
                        <a:rPr lang="en-US" sz="1300" dirty="0">
                          <a:solidFill>
                            <a:schemeClr val="tx1"/>
                          </a:solidFill>
                        </a:rPr>
                        <a:t>Alfaro-Viquez et al. (2025)</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Meta Quest 3 welding trainer — closest system</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User evaluation: reduced execution time, fewer positioning errors</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r h="429768">
                <a:tc>
                  <a:txBody>
                    <a:bodyPr/>
                    <a:lstStyle/>
                    <a:p>
                      <a:pPr indent="0" marL="0">
                        <a:buNone/>
                      </a:pPr>
                      <a:r>
                        <a:rPr lang="en-US" sz="1300" dirty="0">
                          <a:solidFill>
                            <a:schemeClr val="tx1"/>
                          </a:solidFill>
                        </a:rPr>
                        <a:t>Lin et al. (2024); Eswaran et al. (2024)</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AR instruction authoring</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Task specification derived as data from the product/CAD model</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r h="429768">
                <a:tc>
                  <a:txBody>
                    <a:bodyPr/>
                    <a:lstStyle/>
                    <a:p>
                      <a:pPr indent="0" marL="0">
                        <a:buNone/>
                      </a:pPr>
                      <a:r>
                        <a:rPr lang="en-US" sz="1300" b="1" dirty="0">
                          <a:solidFill>
                            <a:schemeClr val="accent1"/>
                          </a:solidFill>
                        </a:rPr>
                        <a:t>This paper</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b="1" dirty="0">
                          <a:solidFill>
                            <a:schemeClr val="tx1"/>
                          </a:solidFill>
                        </a:rPr>
                        <a:t>Two Quest trainers, one platform</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b="1" dirty="0">
                          <a:solidFill>
                            <a:schemeClr val="tx1"/>
                          </a:solidFill>
                        </a:rPr>
                        <a:t>What is built above the framework, and its cost (5,186 lines); decisions compared</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bl>
          </a:graphicData>
        </a:graphic>
      </p:graphicFrame>
      <p:sp>
        <p:nvSpPr>
          <p:cNvPr id="5" name="Shape 2"/>
          <p:cNvSpPr/>
          <p:nvPr/>
        </p:nvSpPr>
        <p:spPr>
          <a:xfrm>
            <a:off x="548640" y="5257800"/>
            <a:ext cx="11094415" cy="914400"/>
          </a:xfrm>
          <a:prstGeom prst="roundRect">
            <a:avLst>
              <a:gd name="adj" fmla="val 8000"/>
            </a:avLst>
          </a:prstGeom>
          <a:solidFill>
            <a:schemeClr val="tx2"/>
          </a:solidFill>
          <a:ln/>
        </p:spPr>
      </p:sp>
      <p:sp>
        <p:nvSpPr>
          <p:cNvPr id="6" name="Shape 3"/>
          <p:cNvSpPr/>
          <p:nvPr/>
        </p:nvSpPr>
        <p:spPr>
          <a:xfrm>
            <a:off x="777240" y="5458968"/>
            <a:ext cx="512064" cy="512064"/>
          </a:xfrm>
          <a:prstGeom prst="ellipse">
            <a:avLst/>
          </a:prstGeom>
          <a:solidFill>
            <a:schemeClr val="accent1"/>
          </a:solidFill>
          <a:ln w="12700">
            <a:solidFill>
              <a:schemeClr val="accent1"/>
            </a:solidFill>
            <a:prstDash val="solid"/>
          </a:ln>
        </p:spPr>
      </p:sp>
      <p:sp>
        <p:nvSpPr>
          <p:cNvPr id="7" name="Text 4"/>
          <p:cNvSpPr txBox="1"/>
          <p:nvPr/>
        </p:nvSpPr>
        <p:spPr>
          <a:xfrm>
            <a:off x="777240" y="5458968"/>
            <a:ext cx="512064" cy="512064"/>
          </a:xfrm>
          <a:prstGeom prst="rect">
            <a:avLst/>
          </a:prstGeom>
          <a:noFill/>
          <a:ln/>
        </p:spPr>
        <p:txBody>
          <a:bodyPr wrap="square" lIns="0" tIns="0" rIns="0" bIns="0" rtlCol="0" anchor="ctr"/>
          <a:lstStyle/>
          <a:p>
            <a:pPr algn="ctr" indent="0" marL="0">
              <a:buNone/>
            </a:pPr>
            <a:r>
              <a:rPr lang="en-US" sz="1100" b="1" dirty="0">
                <a:solidFill>
                  <a:schemeClr val="bg1"/>
                </a:solidFill>
              </a:rPr>
              <a:t>GAP</a:t>
            </a:r>
            <a:endParaRPr lang="en-US" sz="1100" dirty="0"/>
          </a:p>
        </p:txBody>
      </p:sp>
      <p:sp>
        <p:nvSpPr>
          <p:cNvPr id="8" name="Text 5"/>
          <p:cNvSpPr txBox="1"/>
          <p:nvPr/>
        </p:nvSpPr>
        <p:spPr>
          <a:xfrm>
            <a:off x="1508760" y="5257800"/>
            <a:ext cx="9905695" cy="914400"/>
          </a:xfrm>
          <a:prstGeom prst="rect">
            <a:avLst/>
          </a:prstGeom>
          <a:noFill/>
          <a:ln/>
        </p:spPr>
        <p:txBody>
          <a:bodyPr wrap="square" lIns="0" tIns="0" rIns="0" bIns="0" rtlCol="0" anchor="ctr"/>
          <a:lstStyle/>
          <a:p>
            <a:pPr indent="0" marL="0">
              <a:buNone/>
            </a:pPr>
            <a:r>
              <a:rPr lang="en-US" sz="1600" b="1" dirty="0">
                <a:solidFill>
                  <a:schemeClr val="bg1"/>
                </a:solidFill>
              </a:rPr>
              <a:t>None of these reports what must be built above a commercial interaction framework to obtain a competency trainer — nor how much effort that layer represents.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OBJECTIVES &amp; CONTRIBUTIONS</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Objectives and contributions</a:t>
            </a:r>
            <a:endParaRPr lang="en-US" sz="3000" dirty="0"/>
          </a:p>
        </p:txBody>
      </p:sp>
      <p:sp>
        <p:nvSpPr>
          <p:cNvPr id="4" name="Text 2"/>
          <p:cNvSpPr txBox="1"/>
          <p:nvPr/>
        </p:nvSpPr>
        <p:spPr>
          <a:xfrm>
            <a:off x="548640" y="1463040"/>
            <a:ext cx="5303520" cy="365760"/>
          </a:xfrm>
          <a:prstGeom prst="rect">
            <a:avLst/>
          </a:prstGeom>
          <a:noFill/>
          <a:ln/>
        </p:spPr>
        <p:txBody>
          <a:bodyPr wrap="square" lIns="0" tIns="0" rIns="0" bIns="0" rtlCol="0" anchor="t"/>
          <a:lstStyle/>
          <a:p>
            <a:pPr indent="0" marL="0">
              <a:buNone/>
            </a:pPr>
            <a:r>
              <a:rPr lang="en-US" sz="1800" b="1" dirty="0">
                <a:solidFill>
                  <a:schemeClr val="tx2"/>
                </a:solidFill>
              </a:rPr>
              <a:t>Objectives</a:t>
            </a:r>
            <a:endParaRPr lang="en-US" sz="1800" dirty="0"/>
          </a:p>
        </p:txBody>
      </p:sp>
      <p:sp>
        <p:nvSpPr>
          <p:cNvPr id="5" name="Shape 3"/>
          <p:cNvSpPr/>
          <p:nvPr/>
        </p:nvSpPr>
        <p:spPr>
          <a:xfrm>
            <a:off x="548640" y="1965960"/>
            <a:ext cx="438912" cy="438912"/>
          </a:xfrm>
          <a:prstGeom prst="ellipse">
            <a:avLst/>
          </a:prstGeom>
          <a:solidFill>
            <a:schemeClr val="tx2"/>
          </a:solidFill>
          <a:ln w="12700">
            <a:solidFill>
              <a:schemeClr val="tx2"/>
            </a:solidFill>
            <a:prstDash val="solid"/>
          </a:ln>
        </p:spPr>
      </p:sp>
      <p:sp>
        <p:nvSpPr>
          <p:cNvPr id="6" name="Text 4"/>
          <p:cNvSpPr txBox="1"/>
          <p:nvPr/>
        </p:nvSpPr>
        <p:spPr>
          <a:xfrm>
            <a:off x="548640" y="196596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1188720" y="1929384"/>
            <a:ext cx="4663440" cy="822960"/>
          </a:xfrm>
          <a:prstGeom prst="rect">
            <a:avLst/>
          </a:prstGeom>
          <a:noFill/>
          <a:ln/>
        </p:spPr>
        <p:txBody>
          <a:bodyPr wrap="square" lIns="0" tIns="0" rIns="0" bIns="0" rtlCol="0" anchor="t"/>
          <a:lstStyle/>
          <a:p>
            <a:pPr indent="0" marL="0">
              <a:buNone/>
            </a:pPr>
            <a:r>
              <a:rPr lang="en-US" sz="1400" dirty="0">
                <a:solidFill>
                  <a:schemeClr val="tx1"/>
                </a:solidFill>
              </a:rPr>
              <a:t>Describe two VR competency trainers for different industrial tasks, built on one XR platform</a:t>
            </a:r>
            <a:endParaRPr lang="en-US" sz="1400" dirty="0"/>
          </a:p>
        </p:txBody>
      </p:sp>
      <p:sp>
        <p:nvSpPr>
          <p:cNvPr id="8" name="Shape 6"/>
          <p:cNvSpPr/>
          <p:nvPr/>
        </p:nvSpPr>
        <p:spPr>
          <a:xfrm>
            <a:off x="548640" y="2880360"/>
            <a:ext cx="438912" cy="438912"/>
          </a:xfrm>
          <a:prstGeom prst="ellipse">
            <a:avLst/>
          </a:prstGeom>
          <a:solidFill>
            <a:schemeClr val="tx2"/>
          </a:solidFill>
          <a:ln w="12700">
            <a:solidFill>
              <a:schemeClr val="tx2"/>
            </a:solidFill>
            <a:prstDash val="solid"/>
          </a:ln>
        </p:spPr>
      </p:sp>
      <p:sp>
        <p:nvSpPr>
          <p:cNvPr id="9" name="Text 7"/>
          <p:cNvSpPr txBox="1"/>
          <p:nvPr/>
        </p:nvSpPr>
        <p:spPr>
          <a:xfrm>
            <a:off x="548640" y="288036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8"/>
          <p:cNvSpPr txBox="1"/>
          <p:nvPr/>
        </p:nvSpPr>
        <p:spPr>
          <a:xfrm>
            <a:off x="1188720" y="2843784"/>
            <a:ext cx="4663440" cy="822960"/>
          </a:xfrm>
          <a:prstGeom prst="rect">
            <a:avLst/>
          </a:prstGeom>
          <a:noFill/>
          <a:ln/>
        </p:spPr>
        <p:txBody>
          <a:bodyPr wrap="square" lIns="0" tIns="0" rIns="0" bIns="0" rtlCol="0" anchor="t"/>
          <a:lstStyle/>
          <a:p>
            <a:pPr indent="0" marL="0">
              <a:buNone/>
            </a:pPr>
            <a:r>
              <a:rPr lang="en-US" sz="1400" dirty="0">
                <a:solidFill>
                  <a:schemeClr val="tx1"/>
                </a:solidFill>
              </a:rPr>
              <a:t>Identify what a commercial interaction framework supplies and what must be developed — and quantify that effort</a:t>
            </a:r>
            <a:endParaRPr lang="en-US" sz="1400" dirty="0"/>
          </a:p>
        </p:txBody>
      </p:sp>
      <p:sp>
        <p:nvSpPr>
          <p:cNvPr id="11" name="Shape 9"/>
          <p:cNvSpPr/>
          <p:nvPr/>
        </p:nvSpPr>
        <p:spPr>
          <a:xfrm>
            <a:off x="548640" y="3794760"/>
            <a:ext cx="438912" cy="438912"/>
          </a:xfrm>
          <a:prstGeom prst="ellipse">
            <a:avLst/>
          </a:prstGeom>
          <a:solidFill>
            <a:schemeClr val="tx2"/>
          </a:solidFill>
          <a:ln w="12700">
            <a:solidFill>
              <a:schemeClr val="tx2"/>
            </a:solidFill>
            <a:prstDash val="solid"/>
          </a:ln>
        </p:spPr>
      </p:sp>
      <p:sp>
        <p:nvSpPr>
          <p:cNvPr id="12" name="Text 10"/>
          <p:cNvSpPr txBox="1"/>
          <p:nvPr/>
        </p:nvSpPr>
        <p:spPr>
          <a:xfrm>
            <a:off x="548640" y="379476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Text 11"/>
          <p:cNvSpPr txBox="1"/>
          <p:nvPr/>
        </p:nvSpPr>
        <p:spPr>
          <a:xfrm>
            <a:off x="1188720" y="3758184"/>
            <a:ext cx="4663440" cy="822960"/>
          </a:xfrm>
          <a:prstGeom prst="rect">
            <a:avLst/>
          </a:prstGeom>
          <a:noFill/>
          <a:ln/>
        </p:spPr>
        <p:txBody>
          <a:bodyPr wrap="square" lIns="0" tIns="0" rIns="0" bIns="0" rtlCol="0" anchor="t"/>
          <a:lstStyle/>
          <a:p>
            <a:pPr indent="0" marL="0">
              <a:buNone/>
            </a:pPr>
            <a:r>
              <a:rPr lang="en-US" sz="1400" dirty="0">
                <a:solidFill>
                  <a:schemeClr val="tx1"/>
                </a:solidFill>
              </a:rPr>
              <a:t>Compare task specification, validation and guidance strategies; identify the common design principle</a:t>
            </a:r>
            <a:endParaRPr lang="en-US" sz="1400" dirty="0"/>
          </a:p>
        </p:txBody>
      </p:sp>
      <p:sp>
        <p:nvSpPr>
          <p:cNvPr id="14" name="Shape 12"/>
          <p:cNvSpPr/>
          <p:nvPr/>
        </p:nvSpPr>
        <p:spPr>
          <a:xfrm>
            <a:off x="548640" y="4709160"/>
            <a:ext cx="438912" cy="438912"/>
          </a:xfrm>
          <a:prstGeom prst="ellipse">
            <a:avLst/>
          </a:prstGeom>
          <a:solidFill>
            <a:schemeClr val="tx2"/>
          </a:solidFill>
          <a:ln w="12700">
            <a:solidFill>
              <a:schemeClr val="tx2"/>
            </a:solidFill>
            <a:prstDash val="solid"/>
          </a:ln>
        </p:spPr>
      </p:sp>
      <p:sp>
        <p:nvSpPr>
          <p:cNvPr id="15" name="Text 13"/>
          <p:cNvSpPr txBox="1"/>
          <p:nvPr/>
        </p:nvSpPr>
        <p:spPr>
          <a:xfrm>
            <a:off x="548640" y="470916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6" name="Text 14"/>
          <p:cNvSpPr txBox="1"/>
          <p:nvPr/>
        </p:nvSpPr>
        <p:spPr>
          <a:xfrm>
            <a:off x="1188720" y="4672584"/>
            <a:ext cx="4663440" cy="822960"/>
          </a:xfrm>
          <a:prstGeom prst="rect">
            <a:avLst/>
          </a:prstGeom>
          <a:noFill/>
          <a:ln/>
        </p:spPr>
        <p:txBody>
          <a:bodyPr wrap="square" lIns="0" tIns="0" rIns="0" bIns="0" rtlCol="0" anchor="t"/>
          <a:lstStyle/>
          <a:p>
            <a:pPr indent="0" marL="0">
              <a:buNone/>
            </a:pPr>
            <a:r>
              <a:rPr lang="en-US" sz="1400" dirty="0">
                <a:solidFill>
                  <a:schemeClr val="tx1"/>
                </a:solidFill>
              </a:rPr>
              <a:t>Report verification methods usable when interaction cannot be exercised outside the headset</a:t>
            </a:r>
            <a:endParaRPr lang="en-US" sz="1400" dirty="0"/>
          </a:p>
        </p:txBody>
      </p:sp>
      <p:sp>
        <p:nvSpPr>
          <p:cNvPr id="17" name="Text 15"/>
          <p:cNvSpPr txBox="1"/>
          <p:nvPr/>
        </p:nvSpPr>
        <p:spPr>
          <a:xfrm>
            <a:off x="6400800" y="1463040"/>
            <a:ext cx="5242255" cy="365760"/>
          </a:xfrm>
          <a:prstGeom prst="rect">
            <a:avLst/>
          </a:prstGeom>
          <a:noFill/>
          <a:ln/>
        </p:spPr>
        <p:txBody>
          <a:bodyPr wrap="square" lIns="0" tIns="0" rIns="0" bIns="0" rtlCol="0" anchor="t"/>
          <a:lstStyle/>
          <a:p>
            <a:pPr indent="0" marL="0">
              <a:buNone/>
            </a:pPr>
            <a:r>
              <a:rPr lang="en-US" sz="1800" b="1" dirty="0">
                <a:solidFill>
                  <a:schemeClr val="tx2"/>
                </a:solidFill>
              </a:rPr>
              <a:t>Contributions</a:t>
            </a:r>
            <a:endParaRPr lang="en-US" sz="1800" dirty="0"/>
          </a:p>
        </p:txBody>
      </p:sp>
      <p:sp>
        <p:nvSpPr>
          <p:cNvPr id="18" name="Shape 16"/>
          <p:cNvSpPr/>
          <p:nvPr/>
        </p:nvSpPr>
        <p:spPr>
          <a:xfrm>
            <a:off x="6400800" y="1965960"/>
            <a:ext cx="5242255" cy="1078992"/>
          </a:xfrm>
          <a:prstGeom prst="roundRect">
            <a:avLst>
              <a:gd name="adj" fmla="val 6780"/>
            </a:avLst>
          </a:prstGeom>
          <a:solidFill>
            <a:schemeClr val="bg2"/>
          </a:solidFill>
          <a:ln/>
        </p:spPr>
      </p:sp>
      <p:sp>
        <p:nvSpPr>
          <p:cNvPr id="19" name="Text 17"/>
          <p:cNvSpPr txBox="1"/>
          <p:nvPr/>
        </p:nvSpPr>
        <p:spPr>
          <a:xfrm>
            <a:off x="6629400" y="2075688"/>
            <a:ext cx="4785055" cy="320040"/>
          </a:xfrm>
          <a:prstGeom prst="rect">
            <a:avLst/>
          </a:prstGeom>
          <a:noFill/>
          <a:ln/>
        </p:spPr>
        <p:txBody>
          <a:bodyPr wrap="square" lIns="0" tIns="0" rIns="0" bIns="0" rtlCol="0" anchor="t"/>
          <a:lstStyle/>
          <a:p>
            <a:pPr indent="0" marL="0">
              <a:buNone/>
            </a:pPr>
            <a:r>
              <a:rPr lang="en-US" sz="1500" b="1" dirty="0">
                <a:solidFill>
                  <a:schemeClr val="accent1"/>
                </a:solidFill>
              </a:rPr>
              <a:t>Boundary made explicit</a:t>
            </a:r>
            <a:endParaRPr lang="en-US" sz="1500" dirty="0"/>
          </a:p>
        </p:txBody>
      </p:sp>
      <p:sp>
        <p:nvSpPr>
          <p:cNvPr id="20" name="Text 18"/>
          <p:cNvSpPr txBox="1"/>
          <p:nvPr/>
        </p:nvSpPr>
        <p:spPr>
          <a:xfrm>
            <a:off x="6629400" y="2395728"/>
            <a:ext cx="4785055" cy="594360"/>
          </a:xfrm>
          <a:prstGeom prst="rect">
            <a:avLst/>
          </a:prstGeom>
          <a:noFill/>
          <a:ln/>
        </p:spPr>
        <p:txBody>
          <a:bodyPr wrap="square" lIns="0" tIns="0" rIns="0" bIns="0" rtlCol="0" anchor="t"/>
          <a:lstStyle/>
          <a:p>
            <a:pPr indent="0" marL="0">
              <a:buNone/>
            </a:pPr>
            <a:r>
              <a:rPr lang="en-US" sz="1400" dirty="0">
                <a:solidFill>
                  <a:schemeClr val="tx1"/>
                </a:solidFill>
              </a:rPr>
              <a:t>Framework vs. custom application layer, quantified: 5,186 lines of code across 21 source files</a:t>
            </a:r>
            <a:endParaRPr lang="en-US" sz="1400" dirty="0"/>
          </a:p>
        </p:txBody>
      </p:sp>
      <p:sp>
        <p:nvSpPr>
          <p:cNvPr id="21" name="Shape 19"/>
          <p:cNvSpPr/>
          <p:nvPr/>
        </p:nvSpPr>
        <p:spPr>
          <a:xfrm>
            <a:off x="6400800" y="3182112"/>
            <a:ext cx="5242255" cy="1078992"/>
          </a:xfrm>
          <a:prstGeom prst="roundRect">
            <a:avLst>
              <a:gd name="adj" fmla="val 6780"/>
            </a:avLst>
          </a:prstGeom>
          <a:solidFill>
            <a:schemeClr val="bg2"/>
          </a:solidFill>
          <a:ln/>
        </p:spPr>
      </p:sp>
      <p:sp>
        <p:nvSpPr>
          <p:cNvPr id="22" name="Text 20"/>
          <p:cNvSpPr txBox="1"/>
          <p:nvPr/>
        </p:nvSpPr>
        <p:spPr>
          <a:xfrm>
            <a:off x="6629400" y="3291840"/>
            <a:ext cx="4785055" cy="320040"/>
          </a:xfrm>
          <a:prstGeom prst="rect">
            <a:avLst/>
          </a:prstGeom>
          <a:noFill/>
          <a:ln/>
        </p:spPr>
        <p:txBody>
          <a:bodyPr wrap="square" lIns="0" tIns="0" rIns="0" bIns="0" rtlCol="0" anchor="t"/>
          <a:lstStyle/>
          <a:p>
            <a:pPr indent="0" marL="0">
              <a:buNone/>
            </a:pPr>
            <a:r>
              <a:rPr lang="en-US" sz="1500" b="1" dirty="0">
                <a:solidFill>
                  <a:schemeClr val="accent1"/>
                </a:solidFill>
              </a:rPr>
              <a:t>Design decisions isolated</a:t>
            </a:r>
            <a:endParaRPr lang="en-US" sz="1500" dirty="0"/>
          </a:p>
        </p:txBody>
      </p:sp>
      <p:sp>
        <p:nvSpPr>
          <p:cNvPr id="23" name="Text 21"/>
          <p:cNvSpPr txBox="1"/>
          <p:nvPr/>
        </p:nvSpPr>
        <p:spPr>
          <a:xfrm>
            <a:off x="6629400" y="3611880"/>
            <a:ext cx="4785055" cy="594360"/>
          </a:xfrm>
          <a:prstGeom prst="rect">
            <a:avLst/>
          </a:prstGeom>
          <a:noFill/>
          <a:ln/>
        </p:spPr>
        <p:txBody>
          <a:bodyPr wrap="square" lIns="0" tIns="0" rIns="0" bIns="0" rtlCol="0" anchor="t"/>
          <a:lstStyle/>
          <a:p>
            <a:pPr indent="0" marL="0">
              <a:buNone/>
            </a:pPr>
            <a:r>
              <a:rPr lang="en-US" sz="1400" dirty="0">
                <a:solidFill>
                  <a:schemeClr val="tx1"/>
                </a:solidFill>
              </a:rPr>
              <a:t>Two independent builds on one platform as parallel cases → one shared principle: derive the task specification from the scene</a:t>
            </a:r>
            <a:endParaRPr lang="en-US" sz="1400" dirty="0"/>
          </a:p>
        </p:txBody>
      </p:sp>
      <p:sp>
        <p:nvSpPr>
          <p:cNvPr id="24" name="Shape 22"/>
          <p:cNvSpPr/>
          <p:nvPr/>
        </p:nvSpPr>
        <p:spPr>
          <a:xfrm>
            <a:off x="6400800" y="4398264"/>
            <a:ext cx="5242255" cy="1078992"/>
          </a:xfrm>
          <a:prstGeom prst="roundRect">
            <a:avLst>
              <a:gd name="adj" fmla="val 6780"/>
            </a:avLst>
          </a:prstGeom>
          <a:solidFill>
            <a:schemeClr val="bg2"/>
          </a:solidFill>
          <a:ln/>
        </p:spPr>
      </p:sp>
      <p:sp>
        <p:nvSpPr>
          <p:cNvPr id="25" name="Text 23"/>
          <p:cNvSpPr txBox="1"/>
          <p:nvPr/>
        </p:nvSpPr>
        <p:spPr>
          <a:xfrm>
            <a:off x="6629400" y="4507992"/>
            <a:ext cx="4785055" cy="320040"/>
          </a:xfrm>
          <a:prstGeom prst="rect">
            <a:avLst/>
          </a:prstGeom>
          <a:noFill/>
          <a:ln/>
        </p:spPr>
        <p:txBody>
          <a:bodyPr wrap="square" lIns="0" tIns="0" rIns="0" bIns="0" rtlCol="0" anchor="t"/>
          <a:lstStyle/>
          <a:p>
            <a:pPr indent="0" marL="0">
              <a:buNone/>
            </a:pPr>
            <a:r>
              <a:rPr lang="en-US" sz="1500" b="1" dirty="0">
                <a:solidFill>
                  <a:schemeClr val="accent1"/>
                </a:solidFill>
              </a:rPr>
              <a:t>Device-free verification</a:t>
            </a:r>
            <a:endParaRPr lang="en-US" sz="1500" dirty="0"/>
          </a:p>
        </p:txBody>
      </p:sp>
      <p:sp>
        <p:nvSpPr>
          <p:cNvPr id="26" name="Text 24"/>
          <p:cNvSpPr txBox="1"/>
          <p:nvPr/>
        </p:nvSpPr>
        <p:spPr>
          <a:xfrm>
            <a:off x="6629400" y="4828032"/>
            <a:ext cx="4785055" cy="594360"/>
          </a:xfrm>
          <a:prstGeom prst="rect">
            <a:avLst/>
          </a:prstGeom>
          <a:noFill/>
          <a:ln/>
        </p:spPr>
        <p:txBody>
          <a:bodyPr wrap="square" lIns="0" tIns="0" rIns="0" bIns="0" rtlCol="0" anchor="t"/>
          <a:lstStyle/>
          <a:p>
            <a:pPr indent="0" marL="0">
              <a:buNone/>
            </a:pPr>
            <a:r>
              <a:rPr lang="en-US" sz="1400" dirty="0">
                <a:solidFill>
                  <a:schemeClr val="tx1"/>
                </a:solidFill>
              </a:rPr>
              <a:t>Programmatic scene checks and seeded, headless simulation of session logic</a:t>
            </a:r>
            <a:endParaRPr lang="en-US" sz="1400" dirty="0"/>
          </a:p>
        </p:txBody>
      </p:sp>
      <p:sp>
        <p:nvSpPr>
          <p:cNvPr id="27" name="Text 25"/>
          <p:cNvSpPr txBox="1"/>
          <p:nvPr/>
        </p:nvSpPr>
        <p:spPr>
          <a:xfrm>
            <a:off x="548640" y="5715000"/>
            <a:ext cx="11094415" cy="457200"/>
          </a:xfrm>
          <a:prstGeom prst="rect">
            <a:avLst/>
          </a:prstGeom>
          <a:noFill/>
          <a:ln/>
        </p:spPr>
        <p:txBody>
          <a:bodyPr wrap="square" lIns="0" tIns="0" rIns="0" bIns="0" rtlCol="0" anchor="ctr"/>
          <a:lstStyle/>
          <a:p>
            <a:pPr indent="0" marL="0">
              <a:buNone/>
            </a:pPr>
            <a:r>
              <a:rPr lang="en-US" sz="1400" i="1" dirty="0">
                <a:solidFill>
                  <a:schemeClr val="accent3"/>
                </a:solidFill>
              </a:rPr>
              <a:t>Scope: an account of implementation — not a new interaction technique, not a training algorithm, and not a claim of instructional effectiveness.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RESEARCH APPROACH</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Two trainers analysed as parallel cases on one platform</a:t>
            </a:r>
            <a:endParaRPr lang="en-US" sz="3000" dirty="0"/>
          </a:p>
        </p:txBody>
      </p:sp>
      <p:sp>
        <p:nvSpPr>
          <p:cNvPr id="4" name="Shape 2"/>
          <p:cNvSpPr/>
          <p:nvPr/>
        </p:nvSpPr>
        <p:spPr>
          <a:xfrm>
            <a:off x="548640" y="1508760"/>
            <a:ext cx="5212080" cy="932688"/>
          </a:xfrm>
          <a:prstGeom prst="roundRect">
            <a:avLst>
              <a:gd name="adj" fmla="val 7843"/>
            </a:avLst>
          </a:prstGeom>
          <a:solidFill>
            <a:schemeClr val="bg2"/>
          </a:solidFill>
          <a:ln/>
        </p:spPr>
      </p:sp>
      <p:sp>
        <p:nvSpPr>
          <p:cNvPr id="5" name="Shape 3"/>
          <p:cNvSpPr/>
          <p:nvPr/>
        </p:nvSpPr>
        <p:spPr>
          <a:xfrm>
            <a:off x="731520" y="1737360"/>
            <a:ext cx="475488" cy="475488"/>
          </a:xfrm>
          <a:prstGeom prst="ellipse">
            <a:avLst/>
          </a:prstGeom>
          <a:solidFill>
            <a:schemeClr val="accent1"/>
          </a:solidFill>
          <a:ln w="12700">
            <a:solidFill>
              <a:schemeClr val="accent1"/>
            </a:solidFill>
            <a:prstDash val="solid"/>
          </a:ln>
        </p:spPr>
      </p:sp>
      <p:sp>
        <p:nvSpPr>
          <p:cNvPr id="6" name="Text 4"/>
          <p:cNvSpPr txBox="1"/>
          <p:nvPr/>
        </p:nvSpPr>
        <p:spPr>
          <a:xfrm>
            <a:off x="731520" y="173736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417320" y="1600200"/>
            <a:ext cx="4206240" cy="320040"/>
          </a:xfrm>
          <a:prstGeom prst="rect">
            <a:avLst/>
          </a:prstGeom>
          <a:noFill/>
          <a:ln/>
        </p:spPr>
        <p:txBody>
          <a:bodyPr wrap="square" lIns="0" tIns="0" rIns="0" bIns="0" rtlCol="0" anchor="t"/>
          <a:lstStyle/>
          <a:p>
            <a:pPr indent="0" marL="0">
              <a:buNone/>
            </a:pPr>
            <a:r>
              <a:rPr lang="en-US" sz="1500" b="1" dirty="0">
                <a:solidFill>
                  <a:schemeClr val="tx2"/>
                </a:solidFill>
              </a:rPr>
              <a:t>Parallel cases</a:t>
            </a:r>
            <a:endParaRPr lang="en-US" sz="1500" dirty="0"/>
          </a:p>
        </p:txBody>
      </p:sp>
      <p:sp>
        <p:nvSpPr>
          <p:cNvPr id="8" name="Text 6"/>
          <p:cNvSpPr txBox="1"/>
          <p:nvPr/>
        </p:nvSpPr>
        <p:spPr>
          <a:xfrm>
            <a:off x="1417320" y="1920240"/>
            <a:ext cx="4206240" cy="502920"/>
          </a:xfrm>
          <a:prstGeom prst="rect">
            <a:avLst/>
          </a:prstGeom>
          <a:noFill/>
          <a:ln/>
        </p:spPr>
        <p:txBody>
          <a:bodyPr wrap="square" lIns="0" tIns="0" rIns="0" bIns="0" rtlCol="0" anchor="t"/>
          <a:lstStyle/>
          <a:p>
            <a:pPr indent="0" marL="0">
              <a:buNone/>
            </a:pPr>
            <a:r>
              <a:rPr lang="en-US" sz="1300" dirty="0">
                <a:solidFill>
                  <a:schemeClr val="tx1"/>
                </a:solidFill>
              </a:rPr>
              <a:t>Two trainers built independently by the authors for different tasks; never merged</a:t>
            </a:r>
            <a:endParaRPr lang="en-US" sz="1300" dirty="0"/>
          </a:p>
        </p:txBody>
      </p:sp>
      <p:sp>
        <p:nvSpPr>
          <p:cNvPr id="9" name="Shape 7"/>
          <p:cNvSpPr/>
          <p:nvPr/>
        </p:nvSpPr>
        <p:spPr>
          <a:xfrm>
            <a:off x="969264" y="2441448"/>
            <a:ext cx="0" cy="237744"/>
          </a:xfrm>
          <a:prstGeom prst="line">
            <a:avLst/>
          </a:prstGeom>
          <a:noFill/>
          <a:ln w="19050">
            <a:solidFill>
              <a:schemeClr val="accent3"/>
            </a:solidFill>
            <a:prstDash val="solid"/>
            <a:tailEnd type="triangle"/>
          </a:ln>
        </p:spPr>
      </p:sp>
      <p:sp>
        <p:nvSpPr>
          <p:cNvPr id="10" name="Shape 8"/>
          <p:cNvSpPr/>
          <p:nvPr/>
        </p:nvSpPr>
        <p:spPr>
          <a:xfrm>
            <a:off x="548640" y="2679192"/>
            <a:ext cx="5212080" cy="932688"/>
          </a:xfrm>
          <a:prstGeom prst="roundRect">
            <a:avLst>
              <a:gd name="adj" fmla="val 7843"/>
            </a:avLst>
          </a:prstGeom>
          <a:solidFill>
            <a:schemeClr val="bg2"/>
          </a:solidFill>
          <a:ln/>
        </p:spPr>
      </p:sp>
      <p:sp>
        <p:nvSpPr>
          <p:cNvPr id="11" name="Shape 9"/>
          <p:cNvSpPr/>
          <p:nvPr/>
        </p:nvSpPr>
        <p:spPr>
          <a:xfrm>
            <a:off x="731520" y="2907792"/>
            <a:ext cx="475488" cy="475488"/>
          </a:xfrm>
          <a:prstGeom prst="ellipse">
            <a:avLst/>
          </a:prstGeom>
          <a:solidFill>
            <a:schemeClr val="accent1"/>
          </a:solidFill>
          <a:ln w="12700">
            <a:solidFill>
              <a:schemeClr val="accent1"/>
            </a:solidFill>
            <a:prstDash val="solid"/>
          </a:ln>
        </p:spPr>
      </p:sp>
      <p:sp>
        <p:nvSpPr>
          <p:cNvPr id="12" name="Text 10"/>
          <p:cNvSpPr txBox="1"/>
          <p:nvPr/>
        </p:nvSpPr>
        <p:spPr>
          <a:xfrm>
            <a:off x="731520" y="2907792"/>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1417320" y="2770632"/>
            <a:ext cx="4206240" cy="320040"/>
          </a:xfrm>
          <a:prstGeom prst="rect">
            <a:avLst/>
          </a:prstGeom>
          <a:noFill/>
          <a:ln/>
        </p:spPr>
        <p:txBody>
          <a:bodyPr wrap="square" lIns="0" tIns="0" rIns="0" bIns="0" rtlCol="0" anchor="t"/>
          <a:lstStyle/>
          <a:p>
            <a:pPr indent="0" marL="0">
              <a:buNone/>
            </a:pPr>
            <a:r>
              <a:rPr lang="en-US" sz="1500" b="1" dirty="0">
                <a:solidFill>
                  <a:schemeClr val="tx2"/>
                </a:solidFill>
              </a:rPr>
              <a:t>Characterise each system</a:t>
            </a:r>
            <a:endParaRPr lang="en-US" sz="1500" dirty="0"/>
          </a:p>
        </p:txBody>
      </p:sp>
      <p:sp>
        <p:nvSpPr>
          <p:cNvPr id="14" name="Text 12"/>
          <p:cNvSpPr txBox="1"/>
          <p:nvPr/>
        </p:nvSpPr>
        <p:spPr>
          <a:xfrm>
            <a:off x="1417320" y="3090672"/>
            <a:ext cx="4206240" cy="502920"/>
          </a:xfrm>
          <a:prstGeom prst="rect">
            <a:avLst/>
          </a:prstGeom>
          <a:noFill/>
          <a:ln/>
        </p:spPr>
        <p:txBody>
          <a:bodyPr wrap="square" lIns="0" tIns="0" rIns="0" bIns="0" rtlCol="0" anchor="t"/>
          <a:lstStyle/>
          <a:p>
            <a:pPr indent="0" marL="0">
              <a:buNone/>
            </a:pPr>
            <a:r>
              <a:rPr lang="en-US" sz="1300" dirty="0">
                <a:solidFill>
                  <a:schemeClr val="tx1"/>
                </a:solidFill>
              </a:rPr>
              <a:t>Task model · validation rule · guidance strategy · assessment behaviour</a:t>
            </a:r>
            <a:endParaRPr lang="en-US" sz="1300" dirty="0"/>
          </a:p>
        </p:txBody>
      </p:sp>
      <p:sp>
        <p:nvSpPr>
          <p:cNvPr id="15" name="Shape 13"/>
          <p:cNvSpPr/>
          <p:nvPr/>
        </p:nvSpPr>
        <p:spPr>
          <a:xfrm>
            <a:off x="969264" y="3611880"/>
            <a:ext cx="0" cy="237744"/>
          </a:xfrm>
          <a:prstGeom prst="line">
            <a:avLst/>
          </a:prstGeom>
          <a:noFill/>
          <a:ln w="19050">
            <a:solidFill>
              <a:schemeClr val="accent3"/>
            </a:solidFill>
            <a:prstDash val="solid"/>
            <a:tailEnd type="triangle"/>
          </a:ln>
        </p:spPr>
      </p:sp>
      <p:sp>
        <p:nvSpPr>
          <p:cNvPr id="16" name="Shape 14"/>
          <p:cNvSpPr/>
          <p:nvPr/>
        </p:nvSpPr>
        <p:spPr>
          <a:xfrm>
            <a:off x="548640" y="3849624"/>
            <a:ext cx="5212080" cy="932688"/>
          </a:xfrm>
          <a:prstGeom prst="roundRect">
            <a:avLst>
              <a:gd name="adj" fmla="val 7843"/>
            </a:avLst>
          </a:prstGeom>
          <a:solidFill>
            <a:schemeClr val="bg2"/>
          </a:solidFill>
          <a:ln/>
        </p:spPr>
      </p:sp>
      <p:sp>
        <p:nvSpPr>
          <p:cNvPr id="17" name="Shape 15"/>
          <p:cNvSpPr/>
          <p:nvPr/>
        </p:nvSpPr>
        <p:spPr>
          <a:xfrm>
            <a:off x="731520" y="4078224"/>
            <a:ext cx="475488" cy="475488"/>
          </a:xfrm>
          <a:prstGeom prst="ellipse">
            <a:avLst/>
          </a:prstGeom>
          <a:solidFill>
            <a:schemeClr val="accent1"/>
          </a:solidFill>
          <a:ln w="12700">
            <a:solidFill>
              <a:schemeClr val="accent1"/>
            </a:solidFill>
            <a:prstDash val="solid"/>
          </a:ln>
        </p:spPr>
      </p:sp>
      <p:sp>
        <p:nvSpPr>
          <p:cNvPr id="18" name="Text 16"/>
          <p:cNvSpPr txBox="1"/>
          <p:nvPr/>
        </p:nvSpPr>
        <p:spPr>
          <a:xfrm>
            <a:off x="731520" y="4078224"/>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17"/>
          <p:cNvSpPr txBox="1"/>
          <p:nvPr/>
        </p:nvSpPr>
        <p:spPr>
          <a:xfrm>
            <a:off x="1417320" y="3941064"/>
            <a:ext cx="4206240" cy="320040"/>
          </a:xfrm>
          <a:prstGeom prst="rect">
            <a:avLst/>
          </a:prstGeom>
          <a:noFill/>
          <a:ln/>
        </p:spPr>
        <p:txBody>
          <a:bodyPr wrap="square" lIns="0" tIns="0" rIns="0" bIns="0" rtlCol="0" anchor="t"/>
          <a:lstStyle/>
          <a:p>
            <a:pPr indent="0" marL="0">
              <a:buNone/>
            </a:pPr>
            <a:r>
              <a:rPr lang="en-US" sz="1500" b="1" dirty="0">
                <a:solidFill>
                  <a:schemeClr val="tx2"/>
                </a:solidFill>
              </a:rPr>
              <a:t>Locate the framework boundary</a:t>
            </a:r>
            <a:endParaRPr lang="en-US" sz="1500" dirty="0"/>
          </a:p>
        </p:txBody>
      </p:sp>
      <p:sp>
        <p:nvSpPr>
          <p:cNvPr id="20" name="Text 18"/>
          <p:cNvSpPr txBox="1"/>
          <p:nvPr/>
        </p:nvSpPr>
        <p:spPr>
          <a:xfrm>
            <a:off x="1417320" y="4261104"/>
            <a:ext cx="4206240" cy="502920"/>
          </a:xfrm>
          <a:prstGeom prst="rect">
            <a:avLst/>
          </a:prstGeom>
          <a:noFill/>
          <a:ln/>
        </p:spPr>
        <p:txBody>
          <a:bodyPr wrap="square" lIns="0" tIns="0" rIns="0" bIns="0" rtlCol="0" anchor="t"/>
          <a:lstStyle/>
          <a:p>
            <a:pPr indent="0" marL="0">
              <a:buNone/>
            </a:pPr>
            <a:r>
              <a:rPr lang="en-US" sz="1300" dirty="0">
                <a:solidFill>
                  <a:schemeClr val="tx1"/>
                </a:solidFill>
              </a:rPr>
              <a:t>Census of interaction components; custom code counted in lines and files</a:t>
            </a:r>
            <a:endParaRPr lang="en-US" sz="1300" dirty="0"/>
          </a:p>
        </p:txBody>
      </p:sp>
      <p:sp>
        <p:nvSpPr>
          <p:cNvPr id="21" name="Shape 19"/>
          <p:cNvSpPr/>
          <p:nvPr/>
        </p:nvSpPr>
        <p:spPr>
          <a:xfrm>
            <a:off x="969264" y="4782312"/>
            <a:ext cx="0" cy="237744"/>
          </a:xfrm>
          <a:prstGeom prst="line">
            <a:avLst/>
          </a:prstGeom>
          <a:noFill/>
          <a:ln w="19050">
            <a:solidFill>
              <a:schemeClr val="accent3"/>
            </a:solidFill>
            <a:prstDash val="solid"/>
            <a:tailEnd type="triangle"/>
          </a:ln>
        </p:spPr>
      </p:sp>
      <p:sp>
        <p:nvSpPr>
          <p:cNvPr id="22" name="Shape 20"/>
          <p:cNvSpPr/>
          <p:nvPr/>
        </p:nvSpPr>
        <p:spPr>
          <a:xfrm>
            <a:off x="548640" y="5020056"/>
            <a:ext cx="5212080" cy="932688"/>
          </a:xfrm>
          <a:prstGeom prst="roundRect">
            <a:avLst>
              <a:gd name="adj" fmla="val 7843"/>
            </a:avLst>
          </a:prstGeom>
          <a:solidFill>
            <a:schemeClr val="bg2"/>
          </a:solidFill>
          <a:ln/>
        </p:spPr>
      </p:sp>
      <p:sp>
        <p:nvSpPr>
          <p:cNvPr id="23" name="Shape 21"/>
          <p:cNvSpPr/>
          <p:nvPr/>
        </p:nvSpPr>
        <p:spPr>
          <a:xfrm>
            <a:off x="731520" y="5248656"/>
            <a:ext cx="475488" cy="475488"/>
          </a:xfrm>
          <a:prstGeom prst="ellipse">
            <a:avLst/>
          </a:prstGeom>
          <a:solidFill>
            <a:schemeClr val="accent1"/>
          </a:solidFill>
          <a:ln w="12700">
            <a:solidFill>
              <a:schemeClr val="accent1"/>
            </a:solidFill>
            <a:prstDash val="solid"/>
          </a:ln>
        </p:spPr>
      </p:sp>
      <p:sp>
        <p:nvSpPr>
          <p:cNvPr id="24" name="Text 22"/>
          <p:cNvSpPr txBox="1"/>
          <p:nvPr/>
        </p:nvSpPr>
        <p:spPr>
          <a:xfrm>
            <a:off x="731520" y="5248656"/>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5" name="Text 23"/>
          <p:cNvSpPr txBox="1"/>
          <p:nvPr/>
        </p:nvSpPr>
        <p:spPr>
          <a:xfrm>
            <a:off x="1417320" y="5111496"/>
            <a:ext cx="4206240" cy="320040"/>
          </a:xfrm>
          <a:prstGeom prst="rect">
            <a:avLst/>
          </a:prstGeom>
          <a:noFill/>
          <a:ln/>
        </p:spPr>
        <p:txBody>
          <a:bodyPr wrap="square" lIns="0" tIns="0" rIns="0" bIns="0" rtlCol="0" anchor="t"/>
          <a:lstStyle/>
          <a:p>
            <a:pPr indent="0" marL="0">
              <a:buNone/>
            </a:pPr>
            <a:r>
              <a:rPr lang="en-US" sz="1500" b="1" dirty="0">
                <a:solidFill>
                  <a:schemeClr val="tx2"/>
                </a:solidFill>
              </a:rPr>
              <a:t>Verify without a device</a:t>
            </a:r>
            <a:endParaRPr lang="en-US" sz="1500" dirty="0"/>
          </a:p>
        </p:txBody>
      </p:sp>
      <p:sp>
        <p:nvSpPr>
          <p:cNvPr id="26" name="Text 24"/>
          <p:cNvSpPr txBox="1"/>
          <p:nvPr/>
        </p:nvSpPr>
        <p:spPr>
          <a:xfrm>
            <a:off x="1417320" y="5431536"/>
            <a:ext cx="4206240" cy="502920"/>
          </a:xfrm>
          <a:prstGeom prst="rect">
            <a:avLst/>
          </a:prstGeom>
          <a:noFill/>
          <a:ln/>
        </p:spPr>
        <p:txBody>
          <a:bodyPr wrap="square" lIns="0" tIns="0" rIns="0" bIns="0" rtlCol="0" anchor="t"/>
          <a:lstStyle/>
          <a:p>
            <a:pPr indent="0" marL="0">
              <a:buNone/>
            </a:pPr>
            <a:r>
              <a:rPr lang="en-US" sz="1300" dirty="0">
                <a:solidFill>
                  <a:schemeClr val="tx1"/>
                </a:solidFill>
              </a:rPr>
              <a:t>Programmatic scene checks; seeded headless session simulation (System B)</a:t>
            </a:r>
            <a:endParaRPr lang="en-US" sz="1300" dirty="0"/>
          </a:p>
        </p:txBody>
      </p:sp>
      <p:sp>
        <p:nvSpPr>
          <p:cNvPr id="27" name="Text 25"/>
          <p:cNvSpPr txBox="1"/>
          <p:nvPr/>
        </p:nvSpPr>
        <p:spPr>
          <a:xfrm>
            <a:off x="6172200" y="1463040"/>
            <a:ext cx="5470855" cy="320040"/>
          </a:xfrm>
          <a:prstGeom prst="rect">
            <a:avLst/>
          </a:prstGeom>
          <a:noFill/>
          <a:ln/>
        </p:spPr>
        <p:txBody>
          <a:bodyPr wrap="square" lIns="0" tIns="0" rIns="0" bIns="0" rtlCol="0" anchor="t"/>
          <a:lstStyle/>
          <a:p>
            <a:pPr indent="0" marL="0">
              <a:buNone/>
            </a:pPr>
            <a:r>
              <a:rPr lang="en-US" sz="1500" b="1" dirty="0">
                <a:solidFill>
                  <a:schemeClr val="tx2"/>
                </a:solidFill>
              </a:rPr>
              <a:t>Shared platform (Table 1)</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172200" y="1828800"/>
          <a:ext cx="5470855" cy="914400"/>
        </p:xfrm>
        <a:graphic>
          <a:graphicData uri="http://schemas.openxmlformats.org/drawingml/2006/table">
            <a:tbl>
              <a:tblPr/>
              <a:tblGrid>
                <a:gridCol w="1600200"/>
                <a:gridCol w="1828800"/>
                <a:gridCol w="2041855"/>
              </a:tblGrid>
              <a:tr h="365760">
                <a:tc>
                  <a:txBody>
                    <a:bodyPr/>
                    <a:lstStyle/>
                    <a:p>
                      <a:pPr indent="0" marL="0">
                        <a:buNone/>
                      </a:pPr>
                      <a:r>
                        <a:rPr lang="en-US" sz="1200" b="1" dirty="0">
                          <a:solidFill>
                            <a:schemeClr val="bg1"/>
                          </a:solidFill>
                        </a:rPr>
                        <a:t>Property</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System A</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System B</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solidFill>
                      <a:schemeClr val="accent2"/>
                    </a:solidFill>
                  </a:tcPr>
                </a:tc>
              </a:tr>
              <a:tr h="365760">
                <a:tc>
                  <a:txBody>
                    <a:bodyPr/>
                    <a:lstStyle/>
                    <a:p>
                      <a:pPr indent="0" marL="0">
                        <a:buNone/>
                      </a:pPr>
                      <a:r>
                        <a:rPr lang="en-US" sz="1200" dirty="0">
                          <a:solidFill>
                            <a:schemeClr val="tx1"/>
                          </a:solidFill>
                        </a:rPr>
                        <a:t>Engine</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200" dirty="0">
                          <a:solidFill>
                            <a:schemeClr val="tx1"/>
                          </a:solidFill>
                        </a:rPr>
                        <a:t>Unity 6000.0.43f1</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200" dirty="0">
                          <a:solidFill>
                            <a:schemeClr val="tx1"/>
                          </a:solidFill>
                        </a:rPr>
                        <a:t>Unity 6000.3.10f1</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r h="365760">
                <a:tc>
                  <a:txBody>
                    <a:bodyPr/>
                    <a:lstStyle/>
                    <a:p>
                      <a:pPr indent="0" marL="0">
                        <a:buNone/>
                      </a:pPr>
                      <a:r>
                        <a:rPr lang="en-US" sz="1200" dirty="0">
                          <a:solidFill>
                            <a:schemeClr val="tx1"/>
                          </a:solidFill>
                        </a:rPr>
                        <a:t>Render pipeline</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200" dirty="0">
                          <a:solidFill>
                            <a:schemeClr val="tx1"/>
                          </a:solidFill>
                        </a:rPr>
                        <a:t>URP 17.0.4</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200" dirty="0">
                          <a:solidFill>
                            <a:schemeClr val="tx1"/>
                          </a:solidFill>
                        </a:rPr>
                        <a:t>URP 17.3</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r h="365760">
                <a:tc>
                  <a:txBody>
                    <a:bodyPr/>
                    <a:lstStyle/>
                    <a:p>
                      <a:pPr indent="0" marL="0">
                        <a:buNone/>
                      </a:pPr>
                      <a:r>
                        <a:rPr lang="en-US" sz="1200" dirty="0">
                          <a:solidFill>
                            <a:schemeClr val="tx1"/>
                          </a:solidFill>
                        </a:rPr>
                        <a:t>Interaction framework</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200" dirty="0">
                          <a:solidFill>
                            <a:schemeClr val="tx1"/>
                          </a:solidFill>
                        </a:rPr>
                        <a:t>Meta Interaction SDK 201.0.0</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200" dirty="0">
                          <a:solidFill>
                            <a:schemeClr val="tx1"/>
                          </a:solidFill>
                        </a:rPr>
                        <a:t>Meta Interaction SDK 203.0.0</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r h="365760">
                <a:tc>
                  <a:txBody>
                    <a:bodyPr/>
                    <a:lstStyle/>
                    <a:p>
                      <a:pPr indent="0" marL="0">
                        <a:buNone/>
                      </a:pPr>
                      <a:r>
                        <a:rPr lang="en-US" sz="1200" dirty="0">
                          <a:solidFill>
                            <a:schemeClr val="tx1"/>
                          </a:solidFill>
                        </a:rPr>
                        <a:t>XR backend</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200" dirty="0">
                          <a:solidFill>
                            <a:schemeClr val="tx1"/>
                          </a:solidFill>
                        </a:rPr>
                        <a:t>OpenXR 1.14.3</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200" dirty="0">
                          <a:solidFill>
                            <a:schemeClr val="tx1"/>
                          </a:solidFill>
                        </a:rPr>
                        <a:t>OpenXR 1.16.1</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r h="365760">
                <a:tc>
                  <a:txBody>
                    <a:bodyPr/>
                    <a:lstStyle/>
                    <a:p>
                      <a:pPr indent="0" marL="0">
                        <a:buNone/>
                      </a:pPr>
                      <a:r>
                        <a:rPr lang="en-US" sz="1200" dirty="0">
                          <a:solidFill>
                            <a:schemeClr val="tx1"/>
                          </a:solidFill>
                        </a:rPr>
                        <a:t>Target hardware</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200" dirty="0">
                          <a:solidFill>
                            <a:schemeClr val="tx1"/>
                          </a:solidFill>
                        </a:rPr>
                        <a:t>Meta Quest 3, standalone</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200" dirty="0">
                          <a:solidFill>
                            <a:schemeClr val="tx1"/>
                          </a:solidFill>
                        </a:rPr>
                        <a:t>Meta Quest 3 and 3S, standalone</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r h="365760">
                <a:tc>
                  <a:txBody>
                    <a:bodyPr/>
                    <a:lstStyle/>
                    <a:p>
                      <a:pPr indent="0" marL="0">
                        <a:buNone/>
                      </a:pPr>
                      <a:r>
                        <a:rPr lang="en-US" sz="1200" dirty="0">
                          <a:solidFill>
                            <a:schemeClr val="tx1"/>
                          </a:solidFill>
                        </a:rPr>
                        <a:t>Task model</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200" dirty="0">
                          <a:solidFill>
                            <a:schemeClr val="tx1"/>
                          </a:solidFill>
                        </a:rPr>
                        <a:t>Authored sequence, 26 steps</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200" dirty="0">
                          <a:solidFill>
                            <a:schemeClr val="tx1"/>
                          </a:solidFill>
                        </a:rPr>
                        <a:t>Seeded generation from scene scan</a:t>
                      </a:r>
                      <a:endParaRPr lang="en-US" sz="12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bl>
          </a:graphicData>
        </a:graphic>
      </p:graphicFrame>
      <p:sp>
        <p:nvSpPr>
          <p:cNvPr id="29" name="Shape 26"/>
          <p:cNvSpPr/>
          <p:nvPr/>
        </p:nvSpPr>
        <p:spPr>
          <a:xfrm>
            <a:off x="6172200" y="4800600"/>
            <a:ext cx="5470855" cy="1371600"/>
          </a:xfrm>
          <a:prstGeom prst="roundRect">
            <a:avLst>
              <a:gd name="adj" fmla="val 5333"/>
            </a:avLst>
          </a:prstGeom>
          <a:solidFill>
            <a:schemeClr val="accent3">
              <a:alpha val="15000"/>
            </a:schemeClr>
          </a:solidFill>
          <a:ln/>
        </p:spPr>
      </p:sp>
      <p:sp>
        <p:nvSpPr>
          <p:cNvPr id="30" name="Text 27"/>
          <p:cNvSpPr txBox="1"/>
          <p:nvPr/>
        </p:nvSpPr>
        <p:spPr>
          <a:xfrm>
            <a:off x="6355080" y="4846320"/>
            <a:ext cx="5105095" cy="1280160"/>
          </a:xfrm>
          <a:prstGeom prst="rect">
            <a:avLst/>
          </a:prstGeom>
          <a:noFill/>
          <a:ln/>
        </p:spPr>
        <p:txBody>
          <a:bodyPr wrap="square" lIns="0" tIns="0" rIns="0" bIns="0" rtlCol="0" anchor="ctr"/>
          <a:lstStyle/>
          <a:p>
            <a:pPr indent="0" marL="0">
              <a:spcAft>
                <a:spcPts val="600"/>
              </a:spcAft>
              <a:buNone/>
            </a:pPr>
            <a:r>
              <a:rPr lang="en-US" sz="1300" b="1" dirty="0">
                <a:solidFill>
                  <a:schemeClr val="tx2"/>
                </a:solidFill>
              </a:rPr>
              <a:t>Why comparable: </a:t>
            </a:r>
            <a:pPr indent="0" marL="0">
              <a:spcAft>
                <a:spcPts val="600"/>
              </a:spcAft>
              <a:buNone/>
            </a:pPr>
            <a:r>
              <a:rPr lang="en-US" sz="1300" dirty="0">
                <a:solidFill>
                  <a:schemeClr val="tx1"/>
                </a:solidFill>
              </a:rPr>
              <a:t>same engine family, framework, device and build method → differences reflect design decisions, not platform.</a:t>
            </a:r>
            <a:endParaRPr lang="en-US" sz="1300" dirty="0"/>
          </a:p>
          <a:p>
            <a:pPr indent="0" marL="0">
              <a:spcAft>
                <a:spcPts val="600"/>
              </a:spcAft>
              <a:buNone/>
            </a:pPr>
            <a:r>
              <a:rPr lang="en-US" sz="1300" b="1" dirty="0">
                <a:solidFill>
                  <a:schemeClr val="accent4"/>
                </a:solidFill>
              </a:rPr>
              <a:t>Qualification: </a:t>
            </a:r>
            <a:pPr indent="0" marL="0">
              <a:spcAft>
                <a:spcPts val="600"/>
              </a:spcAft>
              <a:buNone/>
            </a:pPr>
            <a:r>
              <a:rPr lang="en-US" sz="1300" dirty="0">
                <a:solidFill>
                  <a:schemeClr val="tx1"/>
                </a:solidFill>
              </a:rPr>
              <a:t>different authors, so only structural decisions traceable to each task's requirements are compared.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SYSTEM A · IMPLEMENTATION</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System A — guided assembly of a 26-component electric motor</a:t>
            </a:r>
            <a:endParaRPr lang="en-US" sz="3000" dirty="0"/>
          </a:p>
        </p:txBody>
      </p:sp>
      <p:pic>
        <p:nvPicPr>
          <p:cNvPr id="4" name="Image 0" descr="Guided assembly workspace with highlighted component and 3D target display">    </p:cNvPr>
          <p:cNvPicPr>
            <a:picLocks noChangeAspect="1"/>
          </p:cNvPicPr>
          <p:nvPr/>
        </p:nvPicPr>
        <p:blipFill>
          <a:blip r:embed="rId1"/>
          <a:stretch>
            <a:fillRect/>
          </a:stretch>
        </p:blipFill>
        <p:spPr>
          <a:xfrm>
            <a:off x="548640" y="1463040"/>
            <a:ext cx="5760720" cy="2783110"/>
          </a:xfrm>
          <a:prstGeom prst="rect">
            <a:avLst/>
          </a:prstGeom>
        </p:spPr>
      </p:pic>
      <p:sp>
        <p:nvSpPr>
          <p:cNvPr id="5" name="Text 2"/>
          <p:cNvSpPr txBox="1"/>
          <p:nvPr/>
        </p:nvSpPr>
        <p:spPr>
          <a:xfrm>
            <a:off x="548640" y="4319302"/>
            <a:ext cx="5760720" cy="274320"/>
          </a:xfrm>
          <a:prstGeom prst="rect">
            <a:avLst/>
          </a:prstGeom>
          <a:noFill/>
          <a:ln/>
        </p:spPr>
        <p:txBody>
          <a:bodyPr wrap="square" lIns="0" tIns="0" rIns="0" bIns="0" rtlCol="0" anchor="t"/>
          <a:lstStyle/>
          <a:p>
            <a:pPr indent="0" marL="0">
              <a:buNone/>
            </a:pPr>
            <a:r>
              <a:rPr lang="en-US" sz="1100" i="1" dirty="0">
                <a:solidFill>
                  <a:schemeClr val="accent3"/>
                </a:solidFill>
              </a:rPr>
              <a:t>Fig. 1  Workspace with the highlighted active component and the 3D target-state display</a:t>
            </a:r>
            <a:endParaRPr lang="en-US" sz="1100" dirty="0"/>
          </a:p>
        </p:txBody>
      </p:sp>
      <p:sp>
        <p:nvSpPr>
          <p:cNvPr id="6" name="Shape 3"/>
          <p:cNvSpPr/>
          <p:nvPr/>
        </p:nvSpPr>
        <p:spPr>
          <a:xfrm>
            <a:off x="548640" y="4754880"/>
            <a:ext cx="1351026" cy="1417320"/>
          </a:xfrm>
          <a:prstGeom prst="roundRect">
            <a:avLst>
              <a:gd name="adj" fmla="val 5415"/>
            </a:avLst>
          </a:prstGeom>
          <a:solidFill>
            <a:schemeClr val="accent1">
              <a:alpha val="12000"/>
            </a:schemeClr>
          </a:solidFill>
          <a:ln/>
        </p:spPr>
      </p:sp>
      <p:sp>
        <p:nvSpPr>
          <p:cNvPr id="7" name="Text 4"/>
          <p:cNvSpPr txBox="1"/>
          <p:nvPr/>
        </p:nvSpPr>
        <p:spPr>
          <a:xfrm>
            <a:off x="640080" y="4846320"/>
            <a:ext cx="1168146" cy="457200"/>
          </a:xfrm>
          <a:prstGeom prst="rect">
            <a:avLst/>
          </a:prstGeom>
          <a:noFill/>
          <a:ln/>
        </p:spPr>
        <p:txBody>
          <a:bodyPr wrap="square" lIns="0" tIns="0" rIns="0" bIns="0" rtlCol="0" anchor="ctr"/>
          <a:lstStyle/>
          <a:p>
            <a:pPr algn="ctr" indent="0" marL="0">
              <a:buNone/>
            </a:pPr>
            <a:r>
              <a:rPr lang="en-US" sz="2400" b="1" dirty="0">
                <a:solidFill>
                  <a:schemeClr val="accent1"/>
                </a:solidFill>
              </a:rPr>
              <a:t>26</a:t>
            </a:r>
            <a:endParaRPr lang="en-US" sz="2400" dirty="0"/>
          </a:p>
        </p:txBody>
      </p:sp>
      <p:sp>
        <p:nvSpPr>
          <p:cNvPr id="8" name="Text 5"/>
          <p:cNvSpPr txBox="1"/>
          <p:nvPr/>
        </p:nvSpPr>
        <p:spPr>
          <a:xfrm>
            <a:off x="640080" y="5321808"/>
            <a:ext cx="1168146" cy="777240"/>
          </a:xfrm>
          <a:prstGeom prst="rect">
            <a:avLst/>
          </a:prstGeom>
          <a:noFill/>
          <a:ln/>
        </p:spPr>
        <p:txBody>
          <a:bodyPr wrap="square" lIns="0" tIns="0" rIns="0" bIns="0" rtlCol="0" anchor="t"/>
          <a:lstStyle/>
          <a:p>
            <a:pPr algn="ctr" indent="0" marL="0">
              <a:buNone/>
            </a:pPr>
            <a:r>
              <a:rPr lang="en-US" sz="1200" dirty="0">
                <a:solidFill>
                  <a:schemeClr val="tx1"/>
                </a:solidFill>
              </a:rPr>
              <a:t>components — only 2 unique</a:t>
            </a:r>
            <a:endParaRPr lang="en-US" sz="1200" dirty="0"/>
          </a:p>
        </p:txBody>
      </p:sp>
      <p:sp>
        <p:nvSpPr>
          <p:cNvPr id="9" name="Shape 6"/>
          <p:cNvSpPr/>
          <p:nvPr/>
        </p:nvSpPr>
        <p:spPr>
          <a:xfrm>
            <a:off x="2018538" y="4754880"/>
            <a:ext cx="1351026" cy="1417320"/>
          </a:xfrm>
          <a:prstGeom prst="roundRect">
            <a:avLst>
              <a:gd name="adj" fmla="val 5415"/>
            </a:avLst>
          </a:prstGeom>
          <a:solidFill>
            <a:schemeClr val="accent1">
              <a:alpha val="12000"/>
            </a:schemeClr>
          </a:solidFill>
          <a:ln/>
        </p:spPr>
      </p:sp>
      <p:sp>
        <p:nvSpPr>
          <p:cNvPr id="10" name="Text 7"/>
          <p:cNvSpPr txBox="1"/>
          <p:nvPr/>
        </p:nvSpPr>
        <p:spPr>
          <a:xfrm>
            <a:off x="2109978" y="4846320"/>
            <a:ext cx="1168146" cy="457200"/>
          </a:xfrm>
          <a:prstGeom prst="rect">
            <a:avLst/>
          </a:prstGeom>
          <a:noFill/>
          <a:ln/>
        </p:spPr>
        <p:txBody>
          <a:bodyPr wrap="square" lIns="0" tIns="0" rIns="0" bIns="0" rtlCol="0" anchor="ctr"/>
          <a:lstStyle/>
          <a:p>
            <a:pPr algn="ctr" indent="0" marL="0">
              <a:buNone/>
            </a:pPr>
            <a:r>
              <a:rPr lang="en-US" sz="2400" b="1" dirty="0">
                <a:solidFill>
                  <a:schemeClr val="accent1"/>
                </a:solidFill>
              </a:rPr>
              <a:t>26 × 2</a:t>
            </a:r>
            <a:endParaRPr lang="en-US" sz="2400" dirty="0"/>
          </a:p>
        </p:txBody>
      </p:sp>
      <p:sp>
        <p:nvSpPr>
          <p:cNvPr id="11" name="Text 8"/>
          <p:cNvSpPr txBox="1"/>
          <p:nvPr/>
        </p:nvSpPr>
        <p:spPr>
          <a:xfrm>
            <a:off x="2109978" y="5321808"/>
            <a:ext cx="1168146" cy="777240"/>
          </a:xfrm>
          <a:prstGeom prst="rect">
            <a:avLst/>
          </a:prstGeom>
          <a:noFill/>
          <a:ln/>
        </p:spPr>
        <p:txBody>
          <a:bodyPr wrap="square" lIns="0" tIns="0" rIns="0" bIns="0" rtlCol="0" anchor="t"/>
          <a:lstStyle/>
          <a:p>
            <a:pPr algn="ctr" indent="0" marL="0">
              <a:buNone/>
            </a:pPr>
            <a:r>
              <a:rPr lang="en-US" sz="1200" dirty="0">
                <a:solidFill>
                  <a:schemeClr val="tx1"/>
                </a:solidFill>
              </a:rPr>
              <a:t>JSON steps: assembly + disassembly</a:t>
            </a:r>
            <a:endParaRPr lang="en-US" sz="1200" dirty="0"/>
          </a:p>
        </p:txBody>
      </p:sp>
      <p:sp>
        <p:nvSpPr>
          <p:cNvPr id="12" name="Shape 9"/>
          <p:cNvSpPr/>
          <p:nvPr/>
        </p:nvSpPr>
        <p:spPr>
          <a:xfrm>
            <a:off x="3488436" y="4754880"/>
            <a:ext cx="1351026" cy="1417320"/>
          </a:xfrm>
          <a:prstGeom prst="roundRect">
            <a:avLst>
              <a:gd name="adj" fmla="val 5415"/>
            </a:avLst>
          </a:prstGeom>
          <a:solidFill>
            <a:schemeClr val="accent1">
              <a:alpha val="12000"/>
            </a:schemeClr>
          </a:solidFill>
          <a:ln/>
        </p:spPr>
      </p:sp>
      <p:sp>
        <p:nvSpPr>
          <p:cNvPr id="13" name="Text 10"/>
          <p:cNvSpPr txBox="1"/>
          <p:nvPr/>
        </p:nvSpPr>
        <p:spPr>
          <a:xfrm>
            <a:off x="3579876" y="4846320"/>
            <a:ext cx="1168146" cy="457200"/>
          </a:xfrm>
          <a:prstGeom prst="rect">
            <a:avLst/>
          </a:prstGeom>
          <a:noFill/>
          <a:ln/>
        </p:spPr>
        <p:txBody>
          <a:bodyPr wrap="square" lIns="0" tIns="0" rIns="0" bIns="0" rtlCol="0" anchor="ctr"/>
          <a:lstStyle/>
          <a:p>
            <a:pPr algn="ctr" indent="0" marL="0">
              <a:buNone/>
            </a:pPr>
            <a:r>
              <a:rPr lang="en-US" sz="2400" b="1" dirty="0">
                <a:solidFill>
                  <a:schemeClr val="accent1"/>
                </a:solidFill>
              </a:rPr>
              <a:t>4</a:t>
            </a:r>
            <a:endParaRPr lang="en-US" sz="2400" dirty="0"/>
          </a:p>
        </p:txBody>
      </p:sp>
      <p:sp>
        <p:nvSpPr>
          <p:cNvPr id="14" name="Text 11"/>
          <p:cNvSpPr txBox="1"/>
          <p:nvPr/>
        </p:nvSpPr>
        <p:spPr>
          <a:xfrm>
            <a:off x="3579876" y="5321808"/>
            <a:ext cx="1168146" cy="777240"/>
          </a:xfrm>
          <a:prstGeom prst="rect">
            <a:avLst/>
          </a:prstGeom>
          <a:noFill/>
          <a:ln/>
        </p:spPr>
        <p:txBody>
          <a:bodyPr wrap="square" lIns="0" tIns="0" rIns="0" bIns="0" rtlCol="0" anchor="t"/>
          <a:lstStyle/>
          <a:p>
            <a:pPr algn="ctr" indent="0" marL="0">
              <a:buNone/>
            </a:pPr>
            <a:r>
              <a:rPr lang="en-US" sz="1200" dirty="0">
                <a:solidFill>
                  <a:schemeClr val="tx1"/>
                </a:solidFill>
              </a:rPr>
              <a:t>action classes: place · insert · fasten · remove</a:t>
            </a:r>
            <a:endParaRPr lang="en-US" sz="1200" dirty="0"/>
          </a:p>
        </p:txBody>
      </p:sp>
      <p:sp>
        <p:nvSpPr>
          <p:cNvPr id="15" name="Shape 12"/>
          <p:cNvSpPr/>
          <p:nvPr/>
        </p:nvSpPr>
        <p:spPr>
          <a:xfrm>
            <a:off x="4958334" y="4754880"/>
            <a:ext cx="1351026" cy="1417320"/>
          </a:xfrm>
          <a:prstGeom prst="roundRect">
            <a:avLst>
              <a:gd name="adj" fmla="val 5415"/>
            </a:avLst>
          </a:prstGeom>
          <a:solidFill>
            <a:schemeClr val="accent1">
              <a:alpha val="12000"/>
            </a:schemeClr>
          </a:solidFill>
          <a:ln/>
        </p:spPr>
      </p:sp>
      <p:sp>
        <p:nvSpPr>
          <p:cNvPr id="16" name="Text 13"/>
          <p:cNvSpPr txBox="1"/>
          <p:nvPr/>
        </p:nvSpPr>
        <p:spPr>
          <a:xfrm>
            <a:off x="5049774" y="4846320"/>
            <a:ext cx="1168146" cy="457200"/>
          </a:xfrm>
          <a:prstGeom prst="rect">
            <a:avLst/>
          </a:prstGeom>
          <a:noFill/>
          <a:ln/>
        </p:spPr>
        <p:txBody>
          <a:bodyPr wrap="square" lIns="0" tIns="0" rIns="0" bIns="0" rtlCol="0" anchor="ctr"/>
          <a:lstStyle/>
          <a:p>
            <a:pPr algn="ctr" indent="0" marL="0">
              <a:buNone/>
            </a:pPr>
            <a:r>
              <a:rPr lang="en-US" sz="2400" b="1" dirty="0">
                <a:solidFill>
                  <a:schemeClr val="accent1"/>
                </a:solidFill>
              </a:rPr>
              <a:t>2,422</a:t>
            </a:r>
            <a:endParaRPr lang="en-US" sz="2400" dirty="0"/>
          </a:p>
        </p:txBody>
      </p:sp>
      <p:sp>
        <p:nvSpPr>
          <p:cNvPr id="17" name="Text 14"/>
          <p:cNvSpPr txBox="1"/>
          <p:nvPr/>
        </p:nvSpPr>
        <p:spPr>
          <a:xfrm>
            <a:off x="5049774" y="5321808"/>
            <a:ext cx="1168146" cy="777240"/>
          </a:xfrm>
          <a:prstGeom prst="rect">
            <a:avLst/>
          </a:prstGeom>
          <a:noFill/>
          <a:ln/>
        </p:spPr>
        <p:txBody>
          <a:bodyPr wrap="square" lIns="0" tIns="0" rIns="0" bIns="0" rtlCol="0" anchor="t"/>
          <a:lstStyle/>
          <a:p>
            <a:pPr algn="ctr" indent="0" marL="0">
              <a:buNone/>
            </a:pPr>
            <a:r>
              <a:rPr lang="en-US" sz="1200" dirty="0">
                <a:solidFill>
                  <a:schemeClr val="tx1"/>
                </a:solidFill>
              </a:rPr>
              <a:t>lines / 10 files (state machine 772)</a:t>
            </a:r>
            <a:endParaRPr lang="en-US" sz="1200" dirty="0"/>
          </a:p>
        </p:txBody>
      </p:sp>
      <p:sp>
        <p:nvSpPr>
          <p:cNvPr id="18" name="Text 15"/>
          <p:cNvSpPr txBox="1"/>
          <p:nvPr/>
        </p:nvSpPr>
        <p:spPr>
          <a:xfrm>
            <a:off x="6675120" y="1463040"/>
            <a:ext cx="4967935" cy="320040"/>
          </a:xfrm>
          <a:prstGeom prst="rect">
            <a:avLst/>
          </a:prstGeom>
          <a:noFill/>
          <a:ln/>
        </p:spPr>
        <p:txBody>
          <a:bodyPr wrap="square" lIns="0" tIns="0" rIns="0" bIns="0" rtlCol="0" anchor="t"/>
          <a:lstStyle/>
          <a:p>
            <a:pPr indent="0" marL="0">
              <a:buNone/>
            </a:pPr>
            <a:r>
              <a:rPr lang="en-US" sz="1600" b="1" dirty="0">
                <a:solidFill>
                  <a:schemeClr val="tx2"/>
                </a:solidFill>
              </a:rPr>
              <a:t>Placement validation</a:t>
            </a:r>
            <a:endParaRPr lang="en-US" sz="1600" dirty="0"/>
          </a:p>
        </p:txBody>
      </p:sp>
      <p:sp>
        <p:nvSpPr>
          <p:cNvPr id="19" name="Shape 16"/>
          <p:cNvSpPr/>
          <p:nvPr/>
        </p:nvSpPr>
        <p:spPr>
          <a:xfrm>
            <a:off x="6675120" y="1828800"/>
            <a:ext cx="4967935" cy="548640"/>
          </a:xfrm>
          <a:prstGeom prst="roundRect">
            <a:avLst>
              <a:gd name="adj" fmla="val 13333"/>
            </a:avLst>
          </a:prstGeom>
          <a:solidFill>
            <a:schemeClr val="bg2"/>
          </a:solidFill>
          <a:ln/>
        </p:spPr>
      </p:sp>
      <p:sp>
        <p:nvSpPr>
          <p:cNvPr id="20" name="Text 17"/>
          <p:cNvSpPr txBox="1"/>
          <p:nvPr/>
        </p:nvSpPr>
        <p:spPr>
          <a:xfrm>
            <a:off x="6812280" y="1828800"/>
            <a:ext cx="4693615" cy="548640"/>
          </a:xfrm>
          <a:prstGeom prst="rect">
            <a:avLst/>
          </a:prstGeom>
          <a:noFill/>
          <a:ln/>
        </p:spPr>
        <p:txBody>
          <a:bodyPr wrap="square" lIns="0" tIns="0" rIns="0" bIns="0" rtlCol="0" anchor="ctr"/>
          <a:lstStyle/>
          <a:p>
            <a:pPr indent="0" marL="0">
              <a:buNone/>
            </a:pPr>
            <a:r>
              <a:rPr lang="en-US" sz="1300" dirty="0">
                <a:solidFill>
                  <a:schemeClr val="tx1"/>
                </a:solidFill>
              </a:rPr>
              <a:t>Scene start: record the world pose of every component while the motor is still assembled → placement targets</a:t>
            </a:r>
            <a:endParaRPr lang="en-US" sz="1300" dirty="0"/>
          </a:p>
        </p:txBody>
      </p:sp>
      <p:sp>
        <p:nvSpPr>
          <p:cNvPr id="21" name="Shape 18"/>
          <p:cNvSpPr/>
          <p:nvPr/>
        </p:nvSpPr>
        <p:spPr>
          <a:xfrm>
            <a:off x="9159088" y="2377440"/>
            <a:ext cx="0" cy="182880"/>
          </a:xfrm>
          <a:prstGeom prst="line">
            <a:avLst/>
          </a:prstGeom>
          <a:noFill/>
          <a:ln w="19050">
            <a:solidFill>
              <a:schemeClr val="accent3"/>
            </a:solidFill>
            <a:prstDash val="solid"/>
            <a:tailEnd type="triangle"/>
          </a:ln>
        </p:spPr>
      </p:sp>
      <p:sp>
        <p:nvSpPr>
          <p:cNvPr id="22" name="Shape 19"/>
          <p:cNvSpPr/>
          <p:nvPr/>
        </p:nvSpPr>
        <p:spPr>
          <a:xfrm>
            <a:off x="6675120" y="2560320"/>
            <a:ext cx="4967935" cy="411480"/>
          </a:xfrm>
          <a:prstGeom prst="roundRect">
            <a:avLst>
              <a:gd name="adj" fmla="val 17778"/>
            </a:avLst>
          </a:prstGeom>
          <a:solidFill>
            <a:schemeClr val="bg2"/>
          </a:solidFill>
          <a:ln/>
        </p:spPr>
      </p:sp>
      <p:sp>
        <p:nvSpPr>
          <p:cNvPr id="23" name="Text 20"/>
          <p:cNvSpPr txBox="1"/>
          <p:nvPr/>
        </p:nvSpPr>
        <p:spPr>
          <a:xfrm>
            <a:off x="6812280" y="2560320"/>
            <a:ext cx="4693615" cy="411480"/>
          </a:xfrm>
          <a:prstGeom prst="rect">
            <a:avLst/>
          </a:prstGeom>
          <a:noFill/>
          <a:ln/>
        </p:spPr>
        <p:txBody>
          <a:bodyPr wrap="square" lIns="0" tIns="0" rIns="0" bIns="0" rtlCol="0" anchor="ctr"/>
          <a:lstStyle/>
          <a:p>
            <a:pPr indent="0" marL="0">
              <a:buNone/>
            </a:pPr>
            <a:r>
              <a:rPr lang="en-US" sz="1300" dirty="0">
                <a:solidFill>
                  <a:schemeClr val="tx1"/>
                </a:solidFill>
              </a:rPr>
              <a:t>Parts scattered; trainee grasps and releases one</a:t>
            </a:r>
            <a:endParaRPr lang="en-US" sz="1300" dirty="0"/>
          </a:p>
        </p:txBody>
      </p:sp>
      <p:sp>
        <p:nvSpPr>
          <p:cNvPr id="24" name="Shape 21"/>
          <p:cNvSpPr/>
          <p:nvPr/>
        </p:nvSpPr>
        <p:spPr>
          <a:xfrm>
            <a:off x="9159088" y="2971800"/>
            <a:ext cx="0" cy="182880"/>
          </a:xfrm>
          <a:prstGeom prst="line">
            <a:avLst/>
          </a:prstGeom>
          <a:noFill/>
          <a:ln w="19050">
            <a:solidFill>
              <a:schemeClr val="accent3"/>
            </a:solidFill>
            <a:prstDash val="solid"/>
            <a:tailEnd type="triangle"/>
          </a:ln>
        </p:spPr>
      </p:sp>
      <p:sp>
        <p:nvSpPr>
          <p:cNvPr id="25" name="Shape 22"/>
          <p:cNvSpPr/>
          <p:nvPr/>
        </p:nvSpPr>
        <p:spPr>
          <a:xfrm>
            <a:off x="6675120" y="3154680"/>
            <a:ext cx="4967935" cy="685800"/>
          </a:xfrm>
          <a:prstGeom prst="roundRect">
            <a:avLst>
              <a:gd name="adj" fmla="val 10667"/>
            </a:avLst>
          </a:prstGeom>
          <a:solidFill>
            <a:schemeClr val="tx2"/>
          </a:solidFill>
          <a:ln/>
        </p:spPr>
      </p:sp>
      <p:sp>
        <p:nvSpPr>
          <p:cNvPr id="26" name="Text 23"/>
          <p:cNvSpPr txBox="1"/>
          <p:nvPr/>
        </p:nvSpPr>
        <p:spPr>
          <a:xfrm>
            <a:off x="6812280" y="3154680"/>
            <a:ext cx="4693615" cy="685800"/>
          </a:xfrm>
          <a:prstGeom prst="rect">
            <a:avLst/>
          </a:prstGeom>
          <a:noFill/>
          <a:ln/>
        </p:spPr>
        <p:txBody>
          <a:bodyPr wrap="square" lIns="0" tIns="0" rIns="0" bIns="0" rtlCol="0" anchor="ctr"/>
          <a:lstStyle/>
          <a:p>
            <a:pPr indent="0" marL="0">
              <a:buNone/>
            </a:pPr>
            <a:r>
              <a:rPr lang="en-US" sz="1300" dirty="0">
                <a:solidFill>
                  <a:schemeClr val="bg1"/>
                </a:solidFill>
              </a:rPr>
              <a:t>Check: is it the component this step requires — and within 0.15 m of its stored pose? (tolerance configurable)</a:t>
            </a:r>
            <a:endParaRPr lang="en-US" sz="1300" dirty="0"/>
          </a:p>
        </p:txBody>
      </p:sp>
      <p:sp>
        <p:nvSpPr>
          <p:cNvPr id="27" name="Shape 24"/>
          <p:cNvSpPr/>
          <p:nvPr/>
        </p:nvSpPr>
        <p:spPr>
          <a:xfrm>
            <a:off x="6675120" y="4005072"/>
            <a:ext cx="2415388" cy="566928"/>
          </a:xfrm>
          <a:prstGeom prst="roundRect">
            <a:avLst>
              <a:gd name="adj" fmla="val 12903"/>
            </a:avLst>
          </a:prstGeom>
          <a:solidFill>
            <a:schemeClr val="accent2">
              <a:alpha val="20000"/>
            </a:schemeClr>
          </a:solidFill>
          <a:ln/>
        </p:spPr>
      </p:sp>
      <p:sp>
        <p:nvSpPr>
          <p:cNvPr id="28" name="Text 25"/>
          <p:cNvSpPr txBox="1"/>
          <p:nvPr/>
        </p:nvSpPr>
        <p:spPr>
          <a:xfrm>
            <a:off x="6784848" y="4005072"/>
            <a:ext cx="2195932" cy="566928"/>
          </a:xfrm>
          <a:prstGeom prst="rect">
            <a:avLst/>
          </a:prstGeom>
          <a:noFill/>
          <a:ln/>
        </p:spPr>
        <p:txBody>
          <a:bodyPr wrap="square" lIns="0" tIns="0" rIns="0" bIns="0" rtlCol="0" anchor="ctr"/>
          <a:lstStyle/>
          <a:p>
            <a:pPr indent="0" marL="0">
              <a:buNone/>
            </a:pPr>
            <a:r>
              <a:rPr lang="en-US" sz="1300" b="1" dirty="0">
                <a:solidFill>
                  <a:schemeClr val="tx1"/>
                </a:solidFill>
              </a:rPr>
              <a:t>Both hold: </a:t>
            </a:r>
            <a:pPr indent="0" marL="0">
              <a:buNone/>
            </a:pPr>
            <a:r>
              <a:rPr lang="en-US" sz="1300" dirty="0">
                <a:solidFill>
                  <a:schemeClr val="tx1"/>
                </a:solidFill>
              </a:rPr>
              <a:t>snaps to exact pose and locks</a:t>
            </a:r>
            <a:endParaRPr lang="en-US" sz="1300" dirty="0"/>
          </a:p>
        </p:txBody>
      </p:sp>
      <p:sp>
        <p:nvSpPr>
          <p:cNvPr id="29" name="Shape 26"/>
          <p:cNvSpPr/>
          <p:nvPr/>
        </p:nvSpPr>
        <p:spPr>
          <a:xfrm>
            <a:off x="9227668" y="4005072"/>
            <a:ext cx="2415388" cy="566928"/>
          </a:xfrm>
          <a:prstGeom prst="roundRect">
            <a:avLst>
              <a:gd name="adj" fmla="val 12903"/>
            </a:avLst>
          </a:prstGeom>
          <a:solidFill>
            <a:schemeClr val="accent4">
              <a:alpha val="18000"/>
            </a:schemeClr>
          </a:solidFill>
          <a:ln/>
        </p:spPr>
      </p:sp>
      <p:sp>
        <p:nvSpPr>
          <p:cNvPr id="30" name="Text 27"/>
          <p:cNvSpPr txBox="1"/>
          <p:nvPr/>
        </p:nvSpPr>
        <p:spPr>
          <a:xfrm>
            <a:off x="9337396" y="4005072"/>
            <a:ext cx="2195932" cy="566928"/>
          </a:xfrm>
          <a:prstGeom prst="rect">
            <a:avLst/>
          </a:prstGeom>
          <a:noFill/>
          <a:ln/>
        </p:spPr>
        <p:txBody>
          <a:bodyPr wrap="square" lIns="0" tIns="0" rIns="0" bIns="0" rtlCol="0" anchor="ctr"/>
          <a:lstStyle/>
          <a:p>
            <a:pPr indent="0" marL="0">
              <a:buNone/>
            </a:pPr>
            <a:r>
              <a:rPr lang="en-US" sz="1300" b="1" dirty="0">
                <a:solidFill>
                  <a:schemeClr val="tx1"/>
                </a:solidFill>
              </a:rPr>
              <a:t>Either fails: </a:t>
            </a:r>
            <a:pPr indent="0" marL="0">
              <a:buNone/>
            </a:pPr>
            <a:r>
              <a:rPr lang="en-US" sz="1300" dirty="0">
                <a:solidFill>
                  <a:schemeClr val="tx1"/>
                </a:solidFill>
              </a:rPr>
              <a:t>rejected, part stays free</a:t>
            </a:r>
            <a:endParaRPr lang="en-US" sz="1300" dirty="0"/>
          </a:p>
        </p:txBody>
      </p:sp>
      <p:sp>
        <p:nvSpPr>
          <p:cNvPr id="31" name="Text 28"/>
          <p:cNvSpPr txBox="1"/>
          <p:nvPr/>
        </p:nvSpPr>
        <p:spPr>
          <a:xfrm>
            <a:off x="6675120" y="4754880"/>
            <a:ext cx="4967935" cy="1417320"/>
          </a:xfrm>
          <a:prstGeom prst="rect">
            <a:avLst/>
          </a:prstGeom>
          <a:noFill/>
          <a:ln/>
        </p:spPr>
        <p:txBody>
          <a:bodyPr wrap="square" lIns="0" tIns="0" rIns="0" bIns="0" rtlCol="0" anchor="t"/>
          <a:lstStyle/>
          <a:p>
            <a:pPr indent="0" marL="0">
              <a:spcAft>
                <a:spcPts val="600"/>
              </a:spcAft>
              <a:buNone/>
            </a:pPr>
            <a:r>
              <a:rPr lang="en-US" sz="1300" b="1" dirty="0">
                <a:solidFill>
                  <a:schemeClr val="tx2"/>
                </a:solidFill>
              </a:rPr>
              <a:t>Guidance — 3 concurrent channels: </a:t>
            </a:r>
            <a:pPr indent="0" marL="0">
              <a:spcAft>
                <a:spcPts val="600"/>
              </a:spcAft>
              <a:buNone/>
            </a:pPr>
            <a:r>
              <a:rPr lang="en-US" sz="1300" dirty="0">
                <a:solidFill>
                  <a:schemeClr val="tx1"/>
                </a:solidFill>
              </a:rPr>
              <a:t>workspace highlight · continuous 3D target-state display · progress panel (informational)</a:t>
            </a:r>
            <a:endParaRPr lang="en-US" sz="1300" dirty="0"/>
          </a:p>
          <a:p>
            <a:pPr indent="0" marL="0">
              <a:spcAft>
                <a:spcPts val="600"/>
              </a:spcAft>
              <a:buNone/>
            </a:pPr>
            <a:r>
              <a:rPr lang="en-US" sz="1300" b="1" dirty="0">
                <a:solidFill>
                  <a:schemeClr val="accent4"/>
                </a:solidFill>
              </a:rPr>
              <a:t>Matters later: </a:t>
            </a:r>
            <a:pPr indent="0" marL="0">
              <a:spcAft>
                <a:spcPts val="600"/>
              </a:spcAft>
              <a:buNone/>
            </a:pPr>
            <a:r>
              <a:rPr lang="en-US" sz="1300" dirty="0">
                <a:solidFill>
                  <a:schemeClr val="tx1"/>
                </a:solidFill>
              </a:rPr>
              <a:t>the 8 “fasten” steps resolve through the placement path, and no assessment data is recorded.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SYSTEM B · IMPLEMENTATION</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System B — hand-tool selection from a rack of 88 industrial tools</a:t>
            </a:r>
            <a:endParaRPr lang="en-US" sz="3000" dirty="0"/>
          </a:p>
        </p:txBody>
      </p:sp>
      <p:pic>
        <p:nvPicPr>
          <p:cNvPr id="4" name="Image 0" descr="Tool rack and a spanner engaged on a fastener">    </p:cNvPr>
          <p:cNvPicPr>
            <a:picLocks noChangeAspect="1"/>
          </p:cNvPicPr>
          <p:nvPr/>
        </p:nvPicPr>
        <p:blipFill>
          <a:blip r:embed="rId1"/>
          <a:stretch>
            <a:fillRect/>
          </a:stretch>
        </p:blipFill>
        <p:spPr>
          <a:xfrm>
            <a:off x="548640" y="1463040"/>
            <a:ext cx="5486400" cy="3086100"/>
          </a:xfrm>
          <a:prstGeom prst="rect">
            <a:avLst/>
          </a:prstGeom>
        </p:spPr>
      </p:pic>
      <p:sp>
        <p:nvSpPr>
          <p:cNvPr id="5" name="Text 2"/>
          <p:cNvSpPr txBox="1"/>
          <p:nvPr/>
        </p:nvSpPr>
        <p:spPr>
          <a:xfrm>
            <a:off x="548640" y="4622292"/>
            <a:ext cx="5486400" cy="274320"/>
          </a:xfrm>
          <a:prstGeom prst="rect">
            <a:avLst/>
          </a:prstGeom>
          <a:noFill/>
          <a:ln/>
        </p:spPr>
        <p:txBody>
          <a:bodyPr wrap="square" lIns="0" tIns="0" rIns="0" bIns="0" rtlCol="0" anchor="t"/>
          <a:lstStyle/>
          <a:p>
            <a:pPr indent="0" marL="0">
              <a:buNone/>
            </a:pPr>
            <a:r>
              <a:rPr lang="en-US" sz="1100" i="1" dirty="0">
                <a:solidFill>
                  <a:schemeClr val="accent3"/>
                </a:solidFill>
              </a:rPr>
              <a:t>Fig. 2  Job label and a 24 mm combination spanner seated on the fastener by its working end</a:t>
            </a:r>
            <a:endParaRPr lang="en-US" sz="1100" dirty="0"/>
          </a:p>
        </p:txBody>
      </p:sp>
      <p:sp>
        <p:nvSpPr>
          <p:cNvPr id="6" name="Shape 3"/>
          <p:cNvSpPr/>
          <p:nvPr/>
        </p:nvSpPr>
        <p:spPr>
          <a:xfrm>
            <a:off x="548640" y="4983480"/>
            <a:ext cx="1645920" cy="1143000"/>
          </a:xfrm>
          <a:prstGeom prst="roundRect">
            <a:avLst>
              <a:gd name="adj" fmla="val 6400"/>
            </a:avLst>
          </a:prstGeom>
          <a:solidFill>
            <a:schemeClr val="accent2"/>
          </a:solidFill>
          <a:ln/>
        </p:spPr>
      </p:sp>
      <p:sp>
        <p:nvSpPr>
          <p:cNvPr id="7" name="Text 4"/>
          <p:cNvSpPr txBox="1"/>
          <p:nvPr/>
        </p:nvSpPr>
        <p:spPr>
          <a:xfrm>
            <a:off x="640080" y="5074920"/>
            <a:ext cx="1463040" cy="365760"/>
          </a:xfrm>
          <a:prstGeom prst="rect">
            <a:avLst/>
          </a:prstGeom>
          <a:noFill/>
          <a:ln/>
        </p:spPr>
        <p:txBody>
          <a:bodyPr wrap="square" lIns="0" tIns="0" rIns="0" bIns="0" rtlCol="0" anchor="t"/>
          <a:lstStyle/>
          <a:p>
            <a:pPr algn="ctr" indent="0" marL="0">
              <a:buNone/>
            </a:pPr>
            <a:r>
              <a:rPr lang="en-US" sz="1500" b="1" dirty="0">
                <a:solidFill>
                  <a:schemeClr val="bg1"/>
                </a:solidFill>
              </a:rPr>
              <a:t>Observe</a:t>
            </a:r>
            <a:endParaRPr lang="en-US" sz="1500" dirty="0"/>
          </a:p>
        </p:txBody>
      </p:sp>
      <p:sp>
        <p:nvSpPr>
          <p:cNvPr id="8" name="Text 5"/>
          <p:cNvSpPr txBox="1"/>
          <p:nvPr/>
        </p:nvSpPr>
        <p:spPr>
          <a:xfrm>
            <a:off x="640080" y="5440680"/>
            <a:ext cx="1463040" cy="594360"/>
          </a:xfrm>
          <a:prstGeom prst="rect">
            <a:avLst/>
          </a:prstGeom>
          <a:noFill/>
          <a:ln/>
        </p:spPr>
        <p:txBody>
          <a:bodyPr wrap="square" lIns="0" tIns="0" rIns="0" bIns="0" rtlCol="0" anchor="t"/>
          <a:lstStyle/>
          <a:p>
            <a:pPr algn="ctr" indent="0" marL="0">
              <a:buNone/>
            </a:pPr>
            <a:r>
              <a:rPr lang="en-US" sz="1200" dirty="0">
                <a:solidFill>
                  <a:schemeClr val="bg1"/>
                </a:solidFill>
              </a:rPr>
              <a:t>90 s · no task · unscored</a:t>
            </a:r>
            <a:endParaRPr lang="en-US" sz="1200" dirty="0"/>
          </a:p>
        </p:txBody>
      </p:sp>
      <p:sp>
        <p:nvSpPr>
          <p:cNvPr id="9" name="Shape 6"/>
          <p:cNvSpPr/>
          <p:nvPr/>
        </p:nvSpPr>
        <p:spPr>
          <a:xfrm>
            <a:off x="2194560" y="5554980"/>
            <a:ext cx="109728" cy="0"/>
          </a:xfrm>
          <a:prstGeom prst="line">
            <a:avLst/>
          </a:prstGeom>
          <a:noFill/>
          <a:ln w="19050">
            <a:solidFill>
              <a:schemeClr val="accent2"/>
            </a:solidFill>
            <a:prstDash val="solid"/>
            <a:tailEnd type="triangle"/>
          </a:ln>
        </p:spPr>
      </p:sp>
      <p:sp>
        <p:nvSpPr>
          <p:cNvPr id="10" name="Shape 7"/>
          <p:cNvSpPr/>
          <p:nvPr/>
        </p:nvSpPr>
        <p:spPr>
          <a:xfrm>
            <a:off x="2414016" y="4983480"/>
            <a:ext cx="1645920" cy="1143000"/>
          </a:xfrm>
          <a:prstGeom prst="roundRect">
            <a:avLst>
              <a:gd name="adj" fmla="val 6400"/>
            </a:avLst>
          </a:prstGeom>
          <a:solidFill>
            <a:schemeClr val="accent2"/>
          </a:solidFill>
          <a:ln/>
        </p:spPr>
      </p:sp>
      <p:sp>
        <p:nvSpPr>
          <p:cNvPr id="11" name="Text 8"/>
          <p:cNvSpPr txBox="1"/>
          <p:nvPr/>
        </p:nvSpPr>
        <p:spPr>
          <a:xfrm>
            <a:off x="2505456" y="5074920"/>
            <a:ext cx="1463040" cy="365760"/>
          </a:xfrm>
          <a:prstGeom prst="rect">
            <a:avLst/>
          </a:prstGeom>
          <a:noFill/>
          <a:ln/>
        </p:spPr>
        <p:txBody>
          <a:bodyPr wrap="square" lIns="0" tIns="0" rIns="0" bIns="0" rtlCol="0" anchor="t"/>
          <a:lstStyle/>
          <a:p>
            <a:pPr algn="ctr" indent="0" marL="0">
              <a:buNone/>
            </a:pPr>
            <a:r>
              <a:rPr lang="en-US" sz="1500" b="1" dirty="0">
                <a:solidFill>
                  <a:schemeClr val="bg1"/>
                </a:solidFill>
              </a:rPr>
              <a:t>Guided</a:t>
            </a:r>
            <a:endParaRPr lang="en-US" sz="1500" dirty="0"/>
          </a:p>
        </p:txBody>
      </p:sp>
      <p:sp>
        <p:nvSpPr>
          <p:cNvPr id="12" name="Text 9"/>
          <p:cNvSpPr txBox="1"/>
          <p:nvPr/>
        </p:nvSpPr>
        <p:spPr>
          <a:xfrm>
            <a:off x="2505456" y="5440680"/>
            <a:ext cx="1463040" cy="594360"/>
          </a:xfrm>
          <a:prstGeom prst="rect">
            <a:avLst/>
          </a:prstGeom>
          <a:noFill/>
          <a:ln/>
        </p:spPr>
        <p:txBody>
          <a:bodyPr wrap="square" lIns="0" tIns="0" rIns="0" bIns="0" rtlCol="0" anchor="t"/>
          <a:lstStyle/>
          <a:p>
            <a:pPr algn="ctr" indent="0" marL="0">
              <a:buNone/>
            </a:pPr>
            <a:r>
              <a:rPr lang="en-US" sz="1200" dirty="0">
                <a:solidFill>
                  <a:schemeClr val="bg1"/>
                </a:solidFill>
              </a:rPr>
              <a:t>required tool is named</a:t>
            </a:r>
            <a:endParaRPr lang="en-US" sz="1200" dirty="0"/>
          </a:p>
        </p:txBody>
      </p:sp>
      <p:sp>
        <p:nvSpPr>
          <p:cNvPr id="13" name="Shape 10"/>
          <p:cNvSpPr/>
          <p:nvPr/>
        </p:nvSpPr>
        <p:spPr>
          <a:xfrm>
            <a:off x="4059936" y="5554980"/>
            <a:ext cx="109728" cy="0"/>
          </a:xfrm>
          <a:prstGeom prst="line">
            <a:avLst/>
          </a:prstGeom>
          <a:noFill/>
          <a:ln w="19050">
            <a:solidFill>
              <a:schemeClr val="accent2"/>
            </a:solidFill>
            <a:prstDash val="solid"/>
            <a:tailEnd type="triangle"/>
          </a:ln>
        </p:spPr>
      </p:sp>
      <p:sp>
        <p:nvSpPr>
          <p:cNvPr id="14" name="Shape 11"/>
          <p:cNvSpPr/>
          <p:nvPr/>
        </p:nvSpPr>
        <p:spPr>
          <a:xfrm>
            <a:off x="4279392" y="4983480"/>
            <a:ext cx="1645920" cy="1143000"/>
          </a:xfrm>
          <a:prstGeom prst="roundRect">
            <a:avLst>
              <a:gd name="adj" fmla="val 6400"/>
            </a:avLst>
          </a:prstGeom>
          <a:solidFill>
            <a:schemeClr val="accent2"/>
          </a:solidFill>
          <a:ln/>
        </p:spPr>
      </p:sp>
      <p:sp>
        <p:nvSpPr>
          <p:cNvPr id="15" name="Text 12"/>
          <p:cNvSpPr txBox="1"/>
          <p:nvPr/>
        </p:nvSpPr>
        <p:spPr>
          <a:xfrm>
            <a:off x="4370832" y="5074920"/>
            <a:ext cx="1463040" cy="365760"/>
          </a:xfrm>
          <a:prstGeom prst="rect">
            <a:avLst/>
          </a:prstGeom>
          <a:noFill/>
          <a:ln/>
        </p:spPr>
        <p:txBody>
          <a:bodyPr wrap="square" lIns="0" tIns="0" rIns="0" bIns="0" rtlCol="0" anchor="t"/>
          <a:lstStyle/>
          <a:p>
            <a:pPr algn="ctr" indent="0" marL="0">
              <a:buNone/>
            </a:pPr>
            <a:r>
              <a:rPr lang="en-US" sz="1500" b="1" dirty="0">
                <a:solidFill>
                  <a:schemeClr val="bg1"/>
                </a:solidFill>
              </a:rPr>
              <a:t>Assessed</a:t>
            </a:r>
            <a:endParaRPr lang="en-US" sz="1500" dirty="0"/>
          </a:p>
        </p:txBody>
      </p:sp>
      <p:sp>
        <p:nvSpPr>
          <p:cNvPr id="16" name="Text 13"/>
          <p:cNvSpPr txBox="1"/>
          <p:nvPr/>
        </p:nvSpPr>
        <p:spPr>
          <a:xfrm>
            <a:off x="4370832" y="5440680"/>
            <a:ext cx="1463040" cy="594360"/>
          </a:xfrm>
          <a:prstGeom prst="rect">
            <a:avLst/>
          </a:prstGeom>
          <a:noFill/>
          <a:ln/>
        </p:spPr>
        <p:txBody>
          <a:bodyPr wrap="square" lIns="0" tIns="0" rIns="0" bIns="0" rtlCol="0" anchor="t"/>
          <a:lstStyle/>
          <a:p>
            <a:pPr algn="ctr" indent="0" marL="0">
              <a:buNone/>
            </a:pPr>
            <a:r>
              <a:rPr lang="en-US" sz="1200" dirty="0">
                <a:solidFill>
                  <a:schemeClr val="bg1"/>
                </a:solidFill>
              </a:rPr>
              <a:t>tool not named · scored</a:t>
            </a:r>
            <a:endParaRPr lang="en-US" sz="1200" dirty="0"/>
          </a:p>
        </p:txBody>
      </p:sp>
      <p:graphicFrame>
        <p:nvGraphicFramePr>
          <p:cNvPr id="17" name="Chart 0" descr=""/>
          <p:cNvGraphicFramePr/>
          <p:nvPr/>
        </p:nvGraphicFramePr>
        <p:xfrm>
          <a:off x="6400800" y="1371600"/>
          <a:ext cx="5242255" cy="2788920"/>
        </p:xfrm>
        <a:graphic xmlns:a="http://schemas.openxmlformats.org/drawingml/2006/main">
          <a:graphicData uri="http://schemas.openxmlformats.org/drawingml/2006/chart">
            <c:chart xmlns:c="http://schemas.openxmlformats.org/drawingml/2006/chart" r:id="rId2"/>
          </a:graphicData>
        </a:graphic>
      </p:graphicFrame>
      <p:sp>
        <p:nvSpPr>
          <p:cNvPr id="18" name="Text 14"/>
          <p:cNvSpPr txBox="1"/>
          <p:nvPr/>
        </p:nvSpPr>
        <p:spPr>
          <a:xfrm>
            <a:off x="6400800" y="4160520"/>
            <a:ext cx="5242255" cy="457200"/>
          </a:xfrm>
          <a:prstGeom prst="rect">
            <a:avLst/>
          </a:prstGeom>
          <a:noFill/>
          <a:ln/>
        </p:spPr>
        <p:txBody>
          <a:bodyPr wrap="square" lIns="0" tIns="0" rIns="0" bIns="0" rtlCol="0" anchor="t"/>
          <a:lstStyle/>
          <a:p>
            <a:pPr indent="0" marL="0">
              <a:buNone/>
            </a:pPr>
            <a:r>
              <a:rPr lang="en-US" sz="1200" i="1" dirty="0">
                <a:solidFill>
                  <a:schemeClr val="accent3"/>
                </a:solidFill>
              </a:rPr>
              <a:t>Deliberate gaps (no 31 mm spanner, no 20 mm socket) → legal sizes come from a scan of the rack at session start</a:t>
            </a:r>
            <a:endParaRPr lang="en-US" sz="1200" dirty="0"/>
          </a:p>
        </p:txBody>
      </p:sp>
      <p:sp>
        <p:nvSpPr>
          <p:cNvPr id="19" name="Text 15"/>
          <p:cNvSpPr txBox="1"/>
          <p:nvPr/>
        </p:nvSpPr>
        <p:spPr>
          <a:xfrm>
            <a:off x="6400800" y="4663440"/>
            <a:ext cx="5242255" cy="274320"/>
          </a:xfrm>
          <a:prstGeom prst="rect">
            <a:avLst/>
          </a:prstGeom>
          <a:noFill/>
          <a:ln/>
        </p:spPr>
        <p:txBody>
          <a:bodyPr wrap="square" lIns="0" tIns="0" rIns="0" bIns="0" rtlCol="0" anchor="t"/>
          <a:lstStyle/>
          <a:p>
            <a:pPr indent="0" marL="0">
              <a:buNone/>
            </a:pPr>
            <a:r>
              <a:rPr lang="en-US" sz="1300" b="1" dirty="0">
                <a:solidFill>
                  <a:schemeClr val="tx2"/>
                </a:solidFill>
              </a:rPr>
              <a:t>Score per job (100 points)</a:t>
            </a:r>
            <a:endParaRPr lang="en-US" sz="1300" dirty="0"/>
          </a:p>
        </p:txBody>
      </p:sp>
      <p:sp>
        <p:nvSpPr>
          <p:cNvPr id="20" name="Shape 16"/>
          <p:cNvSpPr/>
          <p:nvPr/>
        </p:nvSpPr>
        <p:spPr>
          <a:xfrm>
            <a:off x="6400800" y="4983480"/>
            <a:ext cx="3117921" cy="347472"/>
          </a:xfrm>
          <a:prstGeom prst="rect">
            <a:avLst/>
          </a:prstGeom>
          <a:solidFill>
            <a:schemeClr val="tx2"/>
          </a:solidFill>
          <a:ln w="12700">
            <a:solidFill>
              <a:schemeClr val="bg1"/>
            </a:solidFill>
            <a:prstDash val="solid"/>
          </a:ln>
        </p:spPr>
      </p:sp>
      <p:sp>
        <p:nvSpPr>
          <p:cNvPr id="21" name="Text 17"/>
          <p:cNvSpPr txBox="1"/>
          <p:nvPr/>
        </p:nvSpPr>
        <p:spPr>
          <a:xfrm>
            <a:off x="6400800" y="5358384"/>
            <a:ext cx="3145353" cy="256032"/>
          </a:xfrm>
          <a:prstGeom prst="rect">
            <a:avLst/>
          </a:prstGeom>
          <a:noFill/>
          <a:ln/>
        </p:spPr>
        <p:txBody>
          <a:bodyPr wrap="square" lIns="0" tIns="0" rIns="0" bIns="0" rtlCol="0" anchor="t"/>
          <a:lstStyle/>
          <a:p>
            <a:pPr algn="ctr" indent="0" marL="0">
              <a:buNone/>
            </a:pPr>
            <a:r>
              <a:rPr lang="en-US" sz="1100" dirty="0">
                <a:solidFill>
                  <a:schemeClr val="tx1"/>
                </a:solidFill>
              </a:rPr>
              <a:t>Selection 60</a:t>
            </a:r>
            <a:endParaRPr lang="en-US" sz="1100" dirty="0"/>
          </a:p>
        </p:txBody>
      </p:sp>
      <p:sp>
        <p:nvSpPr>
          <p:cNvPr id="22" name="Shape 18"/>
          <p:cNvSpPr/>
          <p:nvPr/>
        </p:nvSpPr>
        <p:spPr>
          <a:xfrm>
            <a:off x="9546153" y="4983480"/>
            <a:ext cx="1021019" cy="347472"/>
          </a:xfrm>
          <a:prstGeom prst="rect">
            <a:avLst/>
          </a:prstGeom>
          <a:solidFill>
            <a:schemeClr val="tx2">
              <a:alpha val="65000"/>
            </a:schemeClr>
          </a:solidFill>
          <a:ln w="12700">
            <a:solidFill>
              <a:schemeClr val="bg1"/>
            </a:solidFill>
            <a:prstDash val="solid"/>
          </a:ln>
        </p:spPr>
      </p:sp>
      <p:sp>
        <p:nvSpPr>
          <p:cNvPr id="23" name="Text 19"/>
          <p:cNvSpPr txBox="1"/>
          <p:nvPr/>
        </p:nvSpPr>
        <p:spPr>
          <a:xfrm>
            <a:off x="9546153" y="5358384"/>
            <a:ext cx="1048451" cy="256032"/>
          </a:xfrm>
          <a:prstGeom prst="rect">
            <a:avLst/>
          </a:prstGeom>
          <a:noFill/>
          <a:ln/>
        </p:spPr>
        <p:txBody>
          <a:bodyPr wrap="square" lIns="0" tIns="0" rIns="0" bIns="0" rtlCol="0" anchor="t"/>
          <a:lstStyle/>
          <a:p>
            <a:pPr algn="ctr" indent="0" marL="0">
              <a:buNone/>
            </a:pPr>
            <a:r>
              <a:rPr lang="en-US" sz="1100" dirty="0">
                <a:solidFill>
                  <a:schemeClr val="tx1"/>
                </a:solidFill>
              </a:rPr>
              <a:t>Procedure 20</a:t>
            </a:r>
            <a:endParaRPr lang="en-US" sz="1100" dirty="0"/>
          </a:p>
        </p:txBody>
      </p:sp>
      <p:sp>
        <p:nvSpPr>
          <p:cNvPr id="24" name="Shape 20"/>
          <p:cNvSpPr/>
          <p:nvPr/>
        </p:nvSpPr>
        <p:spPr>
          <a:xfrm>
            <a:off x="10594604" y="4983480"/>
            <a:ext cx="496794" cy="347472"/>
          </a:xfrm>
          <a:prstGeom prst="rect">
            <a:avLst/>
          </a:prstGeom>
          <a:solidFill>
            <a:schemeClr val="tx2">
              <a:alpha val="45000"/>
            </a:schemeClr>
          </a:solidFill>
          <a:ln w="12700">
            <a:solidFill>
              <a:schemeClr val="bg1"/>
            </a:solidFill>
            <a:prstDash val="solid"/>
          </a:ln>
        </p:spPr>
      </p:sp>
      <p:sp>
        <p:nvSpPr>
          <p:cNvPr id="25" name="Text 21"/>
          <p:cNvSpPr txBox="1"/>
          <p:nvPr/>
        </p:nvSpPr>
        <p:spPr>
          <a:xfrm>
            <a:off x="10594604" y="5358384"/>
            <a:ext cx="524226" cy="256032"/>
          </a:xfrm>
          <a:prstGeom prst="rect">
            <a:avLst/>
          </a:prstGeom>
          <a:noFill/>
          <a:ln/>
        </p:spPr>
        <p:txBody>
          <a:bodyPr wrap="square" lIns="0" tIns="0" rIns="0" bIns="0" rtlCol="0" anchor="t"/>
          <a:lstStyle/>
          <a:p>
            <a:pPr algn="ctr" indent="0" marL="0">
              <a:buNone/>
            </a:pPr>
            <a:r>
              <a:rPr lang="en-US" sz="1100" dirty="0">
                <a:solidFill>
                  <a:schemeClr val="tx1"/>
                </a:solidFill>
              </a:rPr>
              <a:t>Exec. 10</a:t>
            </a:r>
            <a:endParaRPr lang="en-US" sz="1100" dirty="0"/>
          </a:p>
        </p:txBody>
      </p:sp>
      <p:sp>
        <p:nvSpPr>
          <p:cNvPr id="26" name="Shape 22"/>
          <p:cNvSpPr/>
          <p:nvPr/>
        </p:nvSpPr>
        <p:spPr>
          <a:xfrm>
            <a:off x="11118830" y="4983480"/>
            <a:ext cx="496794" cy="347472"/>
          </a:xfrm>
          <a:prstGeom prst="rect">
            <a:avLst/>
          </a:prstGeom>
          <a:solidFill>
            <a:schemeClr val="tx2">
              <a:alpha val="30000"/>
            </a:schemeClr>
          </a:solidFill>
          <a:ln w="12700">
            <a:solidFill>
              <a:schemeClr val="bg1"/>
            </a:solidFill>
            <a:prstDash val="solid"/>
          </a:ln>
        </p:spPr>
      </p:sp>
      <p:sp>
        <p:nvSpPr>
          <p:cNvPr id="27" name="Text 23"/>
          <p:cNvSpPr txBox="1"/>
          <p:nvPr/>
        </p:nvSpPr>
        <p:spPr>
          <a:xfrm>
            <a:off x="11118830" y="5358384"/>
            <a:ext cx="524226" cy="256032"/>
          </a:xfrm>
          <a:prstGeom prst="rect">
            <a:avLst/>
          </a:prstGeom>
          <a:noFill/>
          <a:ln/>
        </p:spPr>
        <p:txBody>
          <a:bodyPr wrap="square" lIns="0" tIns="0" rIns="0" bIns="0" rtlCol="0" anchor="t"/>
          <a:lstStyle/>
          <a:p>
            <a:pPr algn="ctr" indent="0" marL="0">
              <a:buNone/>
            </a:pPr>
            <a:r>
              <a:rPr lang="en-US" sz="1100" dirty="0">
                <a:solidFill>
                  <a:schemeClr val="tx1"/>
                </a:solidFill>
              </a:rPr>
              <a:t>Eff. 10</a:t>
            </a:r>
            <a:endParaRPr lang="en-US" sz="1100" dirty="0"/>
          </a:p>
        </p:txBody>
      </p:sp>
      <p:sp>
        <p:nvSpPr>
          <p:cNvPr id="28" name="Text 24"/>
          <p:cNvSpPr txBox="1"/>
          <p:nvPr/>
        </p:nvSpPr>
        <p:spPr>
          <a:xfrm>
            <a:off x="6400800" y="5650992"/>
            <a:ext cx="5242255" cy="566928"/>
          </a:xfrm>
          <a:prstGeom prst="rect">
            <a:avLst/>
          </a:prstGeom>
          <a:noFill/>
          <a:ln/>
        </p:spPr>
        <p:txBody>
          <a:bodyPr wrap="square" lIns="0" tIns="0" rIns="0" bIns="0" rtlCol="0" anchor="t"/>
          <a:lstStyle/>
          <a:p>
            <a:pPr indent="0" marL="0">
              <a:buNone/>
            </a:pPr>
            <a:r>
              <a:rPr lang="en-US" sz="1200" dirty="0">
                <a:solidFill>
                  <a:schemeClr val="tx1"/>
                </a:solidFill>
              </a:rPr>
              <a:t>Accepted only if type, size (within tolerance) and, where applicable, set torque all match. Rejected → fastener does not turn; tool retained for the debrief. 2,764 lines / 11 files.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RESULT 1 · FRAMEWORK BOUNDARY</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Interaction was configured — the training layer was written</a:t>
            </a:r>
            <a:endParaRPr lang="en-US" sz="3000" dirty="0"/>
          </a:p>
        </p:txBody>
      </p:sp>
      <p:sp>
        <p:nvSpPr>
          <p:cNvPr id="4" name="Shape 2"/>
          <p:cNvSpPr/>
          <p:nvPr/>
        </p:nvSpPr>
        <p:spPr>
          <a:xfrm>
            <a:off x="548640" y="1463040"/>
            <a:ext cx="7498080" cy="2103120"/>
          </a:xfrm>
          <a:prstGeom prst="roundRect">
            <a:avLst>
              <a:gd name="adj" fmla="val 3478"/>
            </a:avLst>
          </a:prstGeom>
          <a:solidFill>
            <a:schemeClr val="accent1">
              <a:alpha val="14000"/>
            </a:schemeClr>
          </a:solidFill>
          <a:ln/>
        </p:spPr>
      </p:sp>
      <p:sp>
        <p:nvSpPr>
          <p:cNvPr id="5" name="Text 3"/>
          <p:cNvSpPr txBox="1"/>
          <p:nvPr/>
        </p:nvSpPr>
        <p:spPr>
          <a:xfrm>
            <a:off x="731520" y="1554480"/>
            <a:ext cx="7132320" cy="320040"/>
          </a:xfrm>
          <a:prstGeom prst="rect">
            <a:avLst/>
          </a:prstGeom>
          <a:noFill/>
          <a:ln/>
        </p:spPr>
        <p:txBody>
          <a:bodyPr wrap="square" lIns="0" tIns="0" rIns="0" bIns="0" rtlCol="0" anchor="t"/>
          <a:lstStyle/>
          <a:p>
            <a:pPr indent="0" marL="0">
              <a:buNone/>
            </a:pPr>
            <a:r>
              <a:rPr lang="en-US" sz="1500" b="1" dirty="0">
                <a:solidFill>
                  <a:schemeClr val="accent1"/>
                </a:solidFill>
              </a:rPr>
              <a:t>Training layer — written by the authors</a:t>
            </a:r>
            <a:endParaRPr lang="en-US" sz="1500" dirty="0"/>
          </a:p>
        </p:txBody>
      </p:sp>
      <p:sp>
        <p:nvSpPr>
          <p:cNvPr id="6" name="Shape 4"/>
          <p:cNvSpPr/>
          <p:nvPr/>
        </p:nvSpPr>
        <p:spPr>
          <a:xfrm>
            <a:off x="731520" y="1938528"/>
            <a:ext cx="2286000" cy="621792"/>
          </a:xfrm>
          <a:prstGeom prst="roundRect">
            <a:avLst>
              <a:gd name="adj" fmla="val 11765"/>
            </a:avLst>
          </a:prstGeom>
          <a:solidFill>
            <a:schemeClr val="bg1"/>
          </a:solidFill>
          <a:ln/>
        </p:spPr>
      </p:sp>
      <p:sp>
        <p:nvSpPr>
          <p:cNvPr id="7" name="Text 5"/>
          <p:cNvSpPr txBox="1"/>
          <p:nvPr/>
        </p:nvSpPr>
        <p:spPr>
          <a:xfrm>
            <a:off x="804672" y="1938528"/>
            <a:ext cx="2139696" cy="621792"/>
          </a:xfrm>
          <a:prstGeom prst="rect">
            <a:avLst/>
          </a:prstGeom>
          <a:noFill/>
          <a:ln/>
        </p:spPr>
        <p:txBody>
          <a:bodyPr wrap="square" lIns="0" tIns="0" rIns="0" bIns="0" rtlCol="0" anchor="ctr"/>
          <a:lstStyle/>
          <a:p>
            <a:pPr algn="ctr" indent="0" marL="0">
              <a:buNone/>
            </a:pPr>
            <a:r>
              <a:rPr lang="en-US" sz="1300" dirty="0">
                <a:solidFill>
                  <a:schemeClr val="tx1"/>
                </a:solidFill>
              </a:rPr>
              <a:t>Task representation</a:t>
            </a:r>
            <a:endParaRPr lang="en-US" sz="1300" dirty="0"/>
          </a:p>
        </p:txBody>
      </p:sp>
      <p:sp>
        <p:nvSpPr>
          <p:cNvPr id="8" name="Shape 6"/>
          <p:cNvSpPr/>
          <p:nvPr/>
        </p:nvSpPr>
        <p:spPr>
          <a:xfrm>
            <a:off x="3154680" y="1938528"/>
            <a:ext cx="2286000" cy="621792"/>
          </a:xfrm>
          <a:prstGeom prst="roundRect">
            <a:avLst>
              <a:gd name="adj" fmla="val 11765"/>
            </a:avLst>
          </a:prstGeom>
          <a:solidFill>
            <a:schemeClr val="bg1"/>
          </a:solidFill>
          <a:ln/>
        </p:spPr>
      </p:sp>
      <p:sp>
        <p:nvSpPr>
          <p:cNvPr id="9" name="Text 7"/>
          <p:cNvSpPr txBox="1"/>
          <p:nvPr/>
        </p:nvSpPr>
        <p:spPr>
          <a:xfrm>
            <a:off x="3227832" y="1938528"/>
            <a:ext cx="2139696" cy="621792"/>
          </a:xfrm>
          <a:prstGeom prst="rect">
            <a:avLst/>
          </a:prstGeom>
          <a:noFill/>
          <a:ln/>
        </p:spPr>
        <p:txBody>
          <a:bodyPr wrap="square" lIns="0" tIns="0" rIns="0" bIns="0" rtlCol="0" anchor="ctr"/>
          <a:lstStyle/>
          <a:p>
            <a:pPr algn="ctr" indent="0" marL="0">
              <a:buNone/>
            </a:pPr>
            <a:r>
              <a:rPr lang="en-US" sz="1300" dirty="0">
                <a:solidFill>
                  <a:schemeClr val="tx1"/>
                </a:solidFill>
              </a:rPr>
              <a:t>Object identity, type and size</a:t>
            </a:r>
            <a:endParaRPr lang="en-US" sz="1300" dirty="0"/>
          </a:p>
        </p:txBody>
      </p:sp>
      <p:sp>
        <p:nvSpPr>
          <p:cNvPr id="10" name="Shape 8"/>
          <p:cNvSpPr/>
          <p:nvPr/>
        </p:nvSpPr>
        <p:spPr>
          <a:xfrm>
            <a:off x="5577840" y="1938528"/>
            <a:ext cx="2286000" cy="621792"/>
          </a:xfrm>
          <a:prstGeom prst="roundRect">
            <a:avLst>
              <a:gd name="adj" fmla="val 11765"/>
            </a:avLst>
          </a:prstGeom>
          <a:solidFill>
            <a:schemeClr val="bg1"/>
          </a:solidFill>
          <a:ln/>
        </p:spPr>
      </p:sp>
      <p:sp>
        <p:nvSpPr>
          <p:cNvPr id="11" name="Text 9"/>
          <p:cNvSpPr txBox="1"/>
          <p:nvPr/>
        </p:nvSpPr>
        <p:spPr>
          <a:xfrm>
            <a:off x="5650992" y="1938528"/>
            <a:ext cx="2139696" cy="621792"/>
          </a:xfrm>
          <a:prstGeom prst="rect">
            <a:avLst/>
          </a:prstGeom>
          <a:noFill/>
          <a:ln/>
        </p:spPr>
        <p:txBody>
          <a:bodyPr wrap="square" lIns="0" tIns="0" rIns="0" bIns="0" rtlCol="0" anchor="ctr"/>
          <a:lstStyle/>
          <a:p>
            <a:pPr algn="ctr" indent="0" marL="0">
              <a:buNone/>
            </a:pPr>
            <a:r>
              <a:rPr lang="en-US" sz="1300" dirty="0">
                <a:solidFill>
                  <a:schemeClr val="tx1"/>
                </a:solidFill>
              </a:rPr>
              <a:t>Validation of trainee action</a:t>
            </a:r>
            <a:endParaRPr lang="en-US" sz="1300" dirty="0"/>
          </a:p>
        </p:txBody>
      </p:sp>
      <p:sp>
        <p:nvSpPr>
          <p:cNvPr id="12" name="Shape 10"/>
          <p:cNvSpPr/>
          <p:nvPr/>
        </p:nvSpPr>
        <p:spPr>
          <a:xfrm>
            <a:off x="731520" y="2688336"/>
            <a:ext cx="2286000" cy="621792"/>
          </a:xfrm>
          <a:prstGeom prst="roundRect">
            <a:avLst>
              <a:gd name="adj" fmla="val 11765"/>
            </a:avLst>
          </a:prstGeom>
          <a:solidFill>
            <a:schemeClr val="bg1"/>
          </a:solidFill>
          <a:ln/>
        </p:spPr>
      </p:sp>
      <p:sp>
        <p:nvSpPr>
          <p:cNvPr id="13" name="Text 11"/>
          <p:cNvSpPr txBox="1"/>
          <p:nvPr/>
        </p:nvSpPr>
        <p:spPr>
          <a:xfrm>
            <a:off x="804672" y="2688336"/>
            <a:ext cx="2139696" cy="621792"/>
          </a:xfrm>
          <a:prstGeom prst="rect">
            <a:avLst/>
          </a:prstGeom>
          <a:noFill/>
          <a:ln/>
        </p:spPr>
        <p:txBody>
          <a:bodyPr wrap="square" lIns="0" tIns="0" rIns="0" bIns="0" rtlCol="0" anchor="ctr"/>
          <a:lstStyle/>
          <a:p>
            <a:pPr algn="ctr" indent="0" marL="0">
              <a:buNone/>
            </a:pPr>
            <a:r>
              <a:rPr lang="en-US" sz="1300" dirty="0">
                <a:solidFill>
                  <a:schemeClr val="tx1"/>
                </a:solidFill>
              </a:rPr>
              <a:t>Fastener engagement and driving</a:t>
            </a:r>
            <a:endParaRPr lang="en-US" sz="1300" dirty="0"/>
          </a:p>
        </p:txBody>
      </p:sp>
      <p:sp>
        <p:nvSpPr>
          <p:cNvPr id="14" name="Shape 12"/>
          <p:cNvSpPr/>
          <p:nvPr/>
        </p:nvSpPr>
        <p:spPr>
          <a:xfrm>
            <a:off x="3154680" y="2688336"/>
            <a:ext cx="2286000" cy="621792"/>
          </a:xfrm>
          <a:prstGeom prst="roundRect">
            <a:avLst>
              <a:gd name="adj" fmla="val 11765"/>
            </a:avLst>
          </a:prstGeom>
          <a:solidFill>
            <a:schemeClr val="bg1"/>
          </a:solidFill>
          <a:ln/>
        </p:spPr>
      </p:sp>
      <p:sp>
        <p:nvSpPr>
          <p:cNvPr id="15" name="Text 13"/>
          <p:cNvSpPr txBox="1"/>
          <p:nvPr/>
        </p:nvSpPr>
        <p:spPr>
          <a:xfrm>
            <a:off x="3227832" y="2688336"/>
            <a:ext cx="2139696" cy="621792"/>
          </a:xfrm>
          <a:prstGeom prst="rect">
            <a:avLst/>
          </a:prstGeom>
          <a:noFill/>
          <a:ln/>
        </p:spPr>
        <p:txBody>
          <a:bodyPr wrap="square" lIns="0" tIns="0" rIns="0" bIns="0" rtlCol="0" anchor="ctr"/>
          <a:lstStyle/>
          <a:p>
            <a:pPr algn="ctr" indent="0" marL="0">
              <a:buNone/>
            </a:pPr>
            <a:r>
              <a:rPr lang="en-US" sz="1300" dirty="0">
                <a:solidFill>
                  <a:schemeClr val="tx1"/>
                </a:solidFill>
              </a:rPr>
              <a:t>Guidance that advances with progress</a:t>
            </a:r>
            <a:endParaRPr lang="en-US" sz="1300" dirty="0"/>
          </a:p>
        </p:txBody>
      </p:sp>
      <p:sp>
        <p:nvSpPr>
          <p:cNvPr id="16" name="Shape 14"/>
          <p:cNvSpPr/>
          <p:nvPr/>
        </p:nvSpPr>
        <p:spPr>
          <a:xfrm>
            <a:off x="5577840" y="2688336"/>
            <a:ext cx="2286000" cy="621792"/>
          </a:xfrm>
          <a:prstGeom prst="roundRect">
            <a:avLst>
              <a:gd name="adj" fmla="val 11765"/>
            </a:avLst>
          </a:prstGeom>
          <a:solidFill>
            <a:schemeClr val="bg1"/>
          </a:solidFill>
          <a:ln/>
        </p:spPr>
      </p:sp>
      <p:sp>
        <p:nvSpPr>
          <p:cNvPr id="17" name="Text 15"/>
          <p:cNvSpPr txBox="1"/>
          <p:nvPr/>
        </p:nvSpPr>
        <p:spPr>
          <a:xfrm>
            <a:off x="5650992" y="2688336"/>
            <a:ext cx="2139696" cy="621792"/>
          </a:xfrm>
          <a:prstGeom prst="rect">
            <a:avLst/>
          </a:prstGeom>
          <a:noFill/>
          <a:ln/>
        </p:spPr>
        <p:txBody>
          <a:bodyPr wrap="square" lIns="0" tIns="0" rIns="0" bIns="0" rtlCol="0" anchor="ctr"/>
          <a:lstStyle/>
          <a:p>
            <a:pPr algn="ctr" indent="0" marL="0">
              <a:buNone/>
            </a:pPr>
            <a:r>
              <a:rPr lang="en-US" sz="1300" dirty="0">
                <a:solidFill>
                  <a:schemeClr val="tx1"/>
                </a:solidFill>
              </a:rPr>
              <a:t>Performance recording and scoring</a:t>
            </a:r>
            <a:endParaRPr lang="en-US" sz="1300" dirty="0"/>
          </a:p>
        </p:txBody>
      </p:sp>
      <p:sp>
        <p:nvSpPr>
          <p:cNvPr id="18" name="Shape 16"/>
          <p:cNvSpPr/>
          <p:nvPr/>
        </p:nvSpPr>
        <p:spPr>
          <a:xfrm>
            <a:off x="548640" y="3749040"/>
            <a:ext cx="7498080" cy="0"/>
          </a:xfrm>
          <a:prstGeom prst="line">
            <a:avLst/>
          </a:prstGeom>
          <a:noFill/>
          <a:ln w="19050">
            <a:solidFill>
              <a:schemeClr val="tx2"/>
            </a:solidFill>
            <a:prstDash val="dash"/>
          </a:ln>
        </p:spPr>
      </p:sp>
      <p:sp>
        <p:nvSpPr>
          <p:cNvPr id="19" name="Shape 17"/>
          <p:cNvSpPr/>
          <p:nvPr/>
        </p:nvSpPr>
        <p:spPr>
          <a:xfrm>
            <a:off x="3200400" y="3611880"/>
            <a:ext cx="2194560" cy="274320"/>
          </a:xfrm>
          <a:prstGeom prst="roundRect">
            <a:avLst>
              <a:gd name="adj" fmla="val 26667"/>
            </a:avLst>
          </a:prstGeom>
          <a:solidFill>
            <a:schemeClr val="bg1"/>
          </a:solidFill>
          <a:ln/>
        </p:spPr>
      </p:sp>
      <p:sp>
        <p:nvSpPr>
          <p:cNvPr id="20" name="Text 18"/>
          <p:cNvSpPr txBox="1"/>
          <p:nvPr/>
        </p:nvSpPr>
        <p:spPr>
          <a:xfrm>
            <a:off x="3200400" y="3611880"/>
            <a:ext cx="2194560" cy="274320"/>
          </a:xfrm>
          <a:prstGeom prst="rect">
            <a:avLst/>
          </a:prstGeom>
          <a:noFill/>
          <a:ln/>
        </p:spPr>
        <p:txBody>
          <a:bodyPr wrap="square" lIns="0" tIns="0" rIns="0" bIns="0" rtlCol="0" anchor="ctr"/>
          <a:lstStyle/>
          <a:p>
            <a:pPr algn="ctr" indent="0" marL="0">
              <a:buNone/>
            </a:pPr>
            <a:r>
              <a:rPr lang="en-US" sz="1200" b="1" i="1" dirty="0">
                <a:solidFill>
                  <a:schemeClr val="tx2"/>
                </a:solidFill>
              </a:rPr>
              <a:t>Framework boundary</a:t>
            </a:r>
            <a:endParaRPr lang="en-US" sz="1200" dirty="0"/>
          </a:p>
        </p:txBody>
      </p:sp>
      <p:sp>
        <p:nvSpPr>
          <p:cNvPr id="21" name="Shape 19"/>
          <p:cNvSpPr/>
          <p:nvPr/>
        </p:nvSpPr>
        <p:spPr>
          <a:xfrm>
            <a:off x="548640" y="3931920"/>
            <a:ext cx="7498080" cy="2103120"/>
          </a:xfrm>
          <a:prstGeom prst="roundRect">
            <a:avLst>
              <a:gd name="adj" fmla="val 3478"/>
            </a:avLst>
          </a:prstGeom>
          <a:solidFill>
            <a:schemeClr val="accent3">
              <a:alpha val="16000"/>
            </a:schemeClr>
          </a:solidFill>
          <a:ln/>
        </p:spPr>
      </p:sp>
      <p:sp>
        <p:nvSpPr>
          <p:cNvPr id="22" name="Text 20"/>
          <p:cNvSpPr txBox="1"/>
          <p:nvPr/>
        </p:nvSpPr>
        <p:spPr>
          <a:xfrm>
            <a:off x="731520" y="4023360"/>
            <a:ext cx="7132320" cy="320040"/>
          </a:xfrm>
          <a:prstGeom prst="rect">
            <a:avLst/>
          </a:prstGeom>
          <a:noFill/>
          <a:ln/>
        </p:spPr>
        <p:txBody>
          <a:bodyPr wrap="square" lIns="0" tIns="0" rIns="0" bIns="0" rtlCol="0" anchor="t"/>
          <a:lstStyle/>
          <a:p>
            <a:pPr indent="0" marL="0">
              <a:buNone/>
            </a:pPr>
            <a:r>
              <a:rPr lang="en-US" sz="1500" b="1" dirty="0">
                <a:solidFill>
                  <a:schemeClr val="accent3"/>
                </a:solidFill>
              </a:rPr>
              <a:t>Interaction framework — obtained by configuration (Meta Interaction SDK)</a:t>
            </a:r>
            <a:endParaRPr lang="en-US" sz="1500" dirty="0"/>
          </a:p>
        </p:txBody>
      </p:sp>
      <p:sp>
        <p:nvSpPr>
          <p:cNvPr id="23" name="Shape 21"/>
          <p:cNvSpPr/>
          <p:nvPr/>
        </p:nvSpPr>
        <p:spPr>
          <a:xfrm>
            <a:off x="731520" y="4407408"/>
            <a:ext cx="2286000" cy="621792"/>
          </a:xfrm>
          <a:prstGeom prst="roundRect">
            <a:avLst>
              <a:gd name="adj" fmla="val 11765"/>
            </a:avLst>
          </a:prstGeom>
          <a:solidFill>
            <a:schemeClr val="bg1"/>
          </a:solidFill>
          <a:ln/>
        </p:spPr>
      </p:sp>
      <p:sp>
        <p:nvSpPr>
          <p:cNvPr id="24" name="Text 22"/>
          <p:cNvSpPr txBox="1"/>
          <p:nvPr/>
        </p:nvSpPr>
        <p:spPr>
          <a:xfrm>
            <a:off x="804672" y="4407408"/>
            <a:ext cx="2139696" cy="621792"/>
          </a:xfrm>
          <a:prstGeom prst="rect">
            <a:avLst/>
          </a:prstGeom>
          <a:noFill/>
          <a:ln/>
        </p:spPr>
        <p:txBody>
          <a:bodyPr wrap="square" lIns="0" tIns="0" rIns="0" bIns="0" rtlCol="0" anchor="ctr"/>
          <a:lstStyle/>
          <a:p>
            <a:pPr algn="ctr" indent="0" marL="0">
              <a:buNone/>
            </a:pPr>
            <a:r>
              <a:rPr lang="en-US" sz="1300" dirty="0">
                <a:solidFill>
                  <a:schemeClr val="tx1"/>
                </a:solidFill>
              </a:rPr>
              <a:t>Grasp by tracked hand and controller</a:t>
            </a:r>
            <a:endParaRPr lang="en-US" sz="1300" dirty="0"/>
          </a:p>
        </p:txBody>
      </p:sp>
      <p:sp>
        <p:nvSpPr>
          <p:cNvPr id="25" name="Shape 23"/>
          <p:cNvSpPr/>
          <p:nvPr/>
        </p:nvSpPr>
        <p:spPr>
          <a:xfrm>
            <a:off x="3154680" y="4407408"/>
            <a:ext cx="2286000" cy="621792"/>
          </a:xfrm>
          <a:prstGeom prst="roundRect">
            <a:avLst>
              <a:gd name="adj" fmla="val 11765"/>
            </a:avLst>
          </a:prstGeom>
          <a:solidFill>
            <a:schemeClr val="bg1"/>
          </a:solidFill>
          <a:ln/>
        </p:spPr>
      </p:sp>
      <p:sp>
        <p:nvSpPr>
          <p:cNvPr id="26" name="Text 24"/>
          <p:cNvSpPr txBox="1"/>
          <p:nvPr/>
        </p:nvSpPr>
        <p:spPr>
          <a:xfrm>
            <a:off x="3227832" y="4407408"/>
            <a:ext cx="2139696" cy="621792"/>
          </a:xfrm>
          <a:prstGeom prst="rect">
            <a:avLst/>
          </a:prstGeom>
          <a:noFill/>
          <a:ln/>
        </p:spPr>
        <p:txBody>
          <a:bodyPr wrap="square" lIns="0" tIns="0" rIns="0" bIns="0" rtlCol="0" anchor="ctr"/>
          <a:lstStyle/>
          <a:p>
            <a:pPr algn="ctr" indent="0" marL="0">
              <a:buNone/>
            </a:pPr>
            <a:r>
              <a:rPr lang="en-US" sz="1300" dirty="0">
                <a:solidFill>
                  <a:schemeClr val="tx1"/>
                </a:solidFill>
              </a:rPr>
              <a:t>Ray selection and UI pointing</a:t>
            </a:r>
            <a:endParaRPr lang="en-US" sz="1300" dirty="0"/>
          </a:p>
        </p:txBody>
      </p:sp>
      <p:sp>
        <p:nvSpPr>
          <p:cNvPr id="27" name="Shape 25"/>
          <p:cNvSpPr/>
          <p:nvPr/>
        </p:nvSpPr>
        <p:spPr>
          <a:xfrm>
            <a:off x="5577840" y="4407408"/>
            <a:ext cx="2286000" cy="621792"/>
          </a:xfrm>
          <a:prstGeom prst="roundRect">
            <a:avLst>
              <a:gd name="adj" fmla="val 11765"/>
            </a:avLst>
          </a:prstGeom>
          <a:solidFill>
            <a:schemeClr val="bg1"/>
          </a:solidFill>
          <a:ln/>
        </p:spPr>
      </p:sp>
      <p:sp>
        <p:nvSpPr>
          <p:cNvPr id="28" name="Text 26"/>
          <p:cNvSpPr txBox="1"/>
          <p:nvPr/>
        </p:nvSpPr>
        <p:spPr>
          <a:xfrm>
            <a:off x="5650992" y="4407408"/>
            <a:ext cx="2139696" cy="621792"/>
          </a:xfrm>
          <a:prstGeom prst="rect">
            <a:avLst/>
          </a:prstGeom>
          <a:noFill/>
          <a:ln/>
        </p:spPr>
        <p:txBody>
          <a:bodyPr wrap="square" lIns="0" tIns="0" rIns="0" bIns="0" rtlCol="0" anchor="ctr"/>
          <a:lstStyle/>
          <a:p>
            <a:pPr algn="ctr" indent="0" marL="0">
              <a:buNone/>
            </a:pPr>
            <a:r>
              <a:rPr lang="en-US" sz="1300" dirty="0">
                <a:solidFill>
                  <a:schemeClr val="tx1"/>
                </a:solidFill>
              </a:rPr>
              <a:t>Authored hand poses</a:t>
            </a:r>
            <a:endParaRPr lang="en-US" sz="1300" dirty="0"/>
          </a:p>
        </p:txBody>
      </p:sp>
      <p:sp>
        <p:nvSpPr>
          <p:cNvPr id="29" name="Shape 27"/>
          <p:cNvSpPr/>
          <p:nvPr/>
        </p:nvSpPr>
        <p:spPr>
          <a:xfrm>
            <a:off x="731520" y="5157216"/>
            <a:ext cx="2286000" cy="621792"/>
          </a:xfrm>
          <a:prstGeom prst="roundRect">
            <a:avLst>
              <a:gd name="adj" fmla="val 11765"/>
            </a:avLst>
          </a:prstGeom>
          <a:solidFill>
            <a:schemeClr val="bg1"/>
          </a:solidFill>
          <a:ln/>
        </p:spPr>
      </p:sp>
      <p:sp>
        <p:nvSpPr>
          <p:cNvPr id="30" name="Text 28"/>
          <p:cNvSpPr txBox="1"/>
          <p:nvPr/>
        </p:nvSpPr>
        <p:spPr>
          <a:xfrm>
            <a:off x="804672" y="5157216"/>
            <a:ext cx="2139696" cy="621792"/>
          </a:xfrm>
          <a:prstGeom prst="rect">
            <a:avLst/>
          </a:prstGeom>
          <a:noFill/>
          <a:ln/>
        </p:spPr>
        <p:txBody>
          <a:bodyPr wrap="square" lIns="0" tIns="0" rIns="0" bIns="0" rtlCol="0" anchor="ctr"/>
          <a:lstStyle/>
          <a:p>
            <a:pPr algn="ctr" indent="0" marL="0">
              <a:buNone/>
            </a:pPr>
            <a:r>
              <a:rPr lang="en-US" sz="1300" dirty="0">
                <a:solidFill>
                  <a:schemeClr val="tx1"/>
                </a:solidFill>
              </a:rPr>
              <a:t>Constrained single-axis rotation</a:t>
            </a:r>
            <a:endParaRPr lang="en-US" sz="1300" dirty="0"/>
          </a:p>
        </p:txBody>
      </p:sp>
      <p:sp>
        <p:nvSpPr>
          <p:cNvPr id="31" name="Shape 29"/>
          <p:cNvSpPr/>
          <p:nvPr/>
        </p:nvSpPr>
        <p:spPr>
          <a:xfrm>
            <a:off x="3154680" y="5157216"/>
            <a:ext cx="2286000" cy="621792"/>
          </a:xfrm>
          <a:prstGeom prst="roundRect">
            <a:avLst>
              <a:gd name="adj" fmla="val 11765"/>
            </a:avLst>
          </a:prstGeom>
          <a:solidFill>
            <a:schemeClr val="bg1"/>
          </a:solidFill>
          <a:ln/>
        </p:spPr>
      </p:sp>
      <p:sp>
        <p:nvSpPr>
          <p:cNvPr id="32" name="Text 30"/>
          <p:cNvSpPr txBox="1"/>
          <p:nvPr/>
        </p:nvSpPr>
        <p:spPr>
          <a:xfrm>
            <a:off x="3227832" y="5157216"/>
            <a:ext cx="2139696" cy="621792"/>
          </a:xfrm>
          <a:prstGeom prst="rect">
            <a:avLst/>
          </a:prstGeom>
          <a:noFill/>
          <a:ln/>
        </p:spPr>
        <p:txBody>
          <a:bodyPr wrap="square" lIns="0" tIns="0" rIns="0" bIns="0" rtlCol="0" anchor="ctr"/>
          <a:lstStyle/>
          <a:p>
            <a:pPr algn="ctr" indent="0" marL="0">
              <a:buNone/>
            </a:pPr>
            <a:r>
              <a:rPr lang="en-US" sz="1300" dirty="0">
                <a:solidFill>
                  <a:schemeClr val="tx1"/>
                </a:solidFill>
              </a:rPr>
              <a:t>Locomotion and comfort vignette</a:t>
            </a:r>
            <a:endParaRPr lang="en-US" sz="1300" dirty="0"/>
          </a:p>
        </p:txBody>
      </p:sp>
      <p:sp>
        <p:nvSpPr>
          <p:cNvPr id="33" name="Text 31"/>
          <p:cNvSpPr txBox="1"/>
          <p:nvPr/>
        </p:nvSpPr>
        <p:spPr>
          <a:xfrm>
            <a:off x="548640" y="6080760"/>
            <a:ext cx="7498080" cy="256032"/>
          </a:xfrm>
          <a:prstGeom prst="rect">
            <a:avLst/>
          </a:prstGeom>
          <a:noFill/>
          <a:ln/>
        </p:spPr>
        <p:txBody>
          <a:bodyPr wrap="square" lIns="0" tIns="0" rIns="0" bIns="0" rtlCol="0" anchor="t"/>
          <a:lstStyle/>
          <a:p>
            <a:pPr indent="0" marL="0">
              <a:buNone/>
            </a:pPr>
            <a:r>
              <a:rPr lang="en-US" sz="1000" i="1" dirty="0">
                <a:solidFill>
                  <a:schemeClr val="accent3"/>
                </a:solidFill>
              </a:rPr>
              <a:t>Adapted from Fig. 3 and Table 3 of the paper</a:t>
            </a:r>
            <a:endParaRPr lang="en-US" sz="1000" dirty="0"/>
          </a:p>
        </p:txBody>
      </p:sp>
      <p:sp>
        <p:nvSpPr>
          <p:cNvPr id="34" name="Text 32"/>
          <p:cNvSpPr txBox="1"/>
          <p:nvPr/>
        </p:nvSpPr>
        <p:spPr>
          <a:xfrm>
            <a:off x="8458200" y="1417320"/>
            <a:ext cx="3184855" cy="868680"/>
          </a:xfrm>
          <a:prstGeom prst="rect">
            <a:avLst/>
          </a:prstGeom>
          <a:noFill/>
          <a:ln/>
        </p:spPr>
        <p:txBody>
          <a:bodyPr wrap="square" lIns="0" tIns="0" rIns="0" bIns="0" rtlCol="0" anchor="t"/>
          <a:lstStyle/>
          <a:p>
            <a:pPr indent="0" marL="0">
              <a:buNone/>
            </a:pPr>
            <a:r>
              <a:rPr lang="en-US" sz="5400" b="1" dirty="0">
                <a:solidFill>
                  <a:schemeClr val="accent1"/>
                </a:solidFill>
              </a:rPr>
              <a:t>5,186</a:t>
            </a:r>
            <a:endParaRPr lang="en-US" sz="5400" dirty="0"/>
          </a:p>
        </p:txBody>
      </p:sp>
      <p:sp>
        <p:nvSpPr>
          <p:cNvPr id="35" name="Text 33"/>
          <p:cNvSpPr txBox="1"/>
          <p:nvPr/>
        </p:nvSpPr>
        <p:spPr>
          <a:xfrm>
            <a:off x="8458200" y="2286000"/>
            <a:ext cx="3184855" cy="548640"/>
          </a:xfrm>
          <a:prstGeom prst="rect">
            <a:avLst/>
          </a:prstGeom>
          <a:noFill/>
          <a:ln/>
        </p:spPr>
        <p:txBody>
          <a:bodyPr wrap="square" lIns="0" tIns="0" rIns="0" bIns="0" rtlCol="0" anchor="t"/>
          <a:lstStyle/>
          <a:p>
            <a:pPr indent="0" marL="0">
              <a:buNone/>
            </a:pPr>
            <a:r>
              <a:rPr lang="en-US" sz="1400" dirty="0">
                <a:solidFill>
                  <a:schemeClr val="tx1"/>
                </a:solidFill>
              </a:rPr>
              <a:t>lines of custom application code across 21 source files</a:t>
            </a:r>
            <a:endParaRPr lang="en-US" sz="1400" dirty="0"/>
          </a:p>
        </p:txBody>
      </p:sp>
      <p:sp>
        <p:nvSpPr>
          <p:cNvPr id="36" name="Shape 34"/>
          <p:cNvSpPr/>
          <p:nvPr/>
        </p:nvSpPr>
        <p:spPr>
          <a:xfrm>
            <a:off x="8458200" y="3017520"/>
            <a:ext cx="365760" cy="365760"/>
          </a:xfrm>
          <a:prstGeom prst="ellipse">
            <a:avLst/>
          </a:prstGeom>
          <a:solidFill>
            <a:schemeClr val="accent1"/>
          </a:solidFill>
          <a:ln w="12700">
            <a:solidFill>
              <a:schemeClr val="accent1"/>
            </a:solidFill>
            <a:prstDash val="solid"/>
          </a:ln>
        </p:spPr>
      </p:sp>
      <p:sp>
        <p:nvSpPr>
          <p:cNvPr id="37" name="Text 35"/>
          <p:cNvSpPr txBox="1"/>
          <p:nvPr/>
        </p:nvSpPr>
        <p:spPr>
          <a:xfrm>
            <a:off x="8458200" y="30175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38" name="Text 36"/>
          <p:cNvSpPr txBox="1"/>
          <p:nvPr/>
        </p:nvSpPr>
        <p:spPr>
          <a:xfrm>
            <a:off x="8961120" y="3017520"/>
            <a:ext cx="2681935" cy="365760"/>
          </a:xfrm>
          <a:prstGeom prst="rect">
            <a:avLst/>
          </a:prstGeom>
          <a:noFill/>
          <a:ln/>
        </p:spPr>
        <p:txBody>
          <a:bodyPr wrap="square" lIns="0" tIns="0" rIns="0" bIns="0" rtlCol="0" anchor="ctr"/>
          <a:lstStyle/>
          <a:p>
            <a:pPr indent="0" marL="0">
              <a:buNone/>
            </a:pPr>
            <a:r>
              <a:rPr lang="en-US" sz="1400" b="1" dirty="0">
                <a:solidFill>
                  <a:schemeClr val="tx1"/>
                </a:solidFill>
              </a:rPr>
              <a:t>2,422 lines · 10 files</a:t>
            </a:r>
            <a:endParaRPr lang="en-US" sz="1400" dirty="0"/>
          </a:p>
        </p:txBody>
      </p:sp>
      <p:sp>
        <p:nvSpPr>
          <p:cNvPr id="39" name="Shape 37"/>
          <p:cNvSpPr/>
          <p:nvPr/>
        </p:nvSpPr>
        <p:spPr>
          <a:xfrm>
            <a:off x="8458200" y="3520440"/>
            <a:ext cx="365760" cy="365760"/>
          </a:xfrm>
          <a:prstGeom prst="ellipse">
            <a:avLst/>
          </a:prstGeom>
          <a:solidFill>
            <a:schemeClr val="accent2"/>
          </a:solidFill>
          <a:ln w="12700">
            <a:solidFill>
              <a:schemeClr val="accent2"/>
            </a:solidFill>
            <a:prstDash val="solid"/>
          </a:ln>
        </p:spPr>
      </p:sp>
      <p:sp>
        <p:nvSpPr>
          <p:cNvPr id="40" name="Text 38"/>
          <p:cNvSpPr txBox="1"/>
          <p:nvPr/>
        </p:nvSpPr>
        <p:spPr>
          <a:xfrm>
            <a:off x="8458200" y="35204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41" name="Text 39"/>
          <p:cNvSpPr txBox="1"/>
          <p:nvPr/>
        </p:nvSpPr>
        <p:spPr>
          <a:xfrm>
            <a:off x="8961120" y="3520440"/>
            <a:ext cx="2681935" cy="365760"/>
          </a:xfrm>
          <a:prstGeom prst="rect">
            <a:avLst/>
          </a:prstGeom>
          <a:noFill/>
          <a:ln/>
        </p:spPr>
        <p:txBody>
          <a:bodyPr wrap="square" lIns="0" tIns="0" rIns="0" bIns="0" rtlCol="0" anchor="ctr"/>
          <a:lstStyle/>
          <a:p>
            <a:pPr indent="0" marL="0">
              <a:buNone/>
            </a:pPr>
            <a:r>
              <a:rPr lang="en-US" sz="1400" b="1" dirty="0">
                <a:solidFill>
                  <a:schemeClr val="tx1"/>
                </a:solidFill>
              </a:rPr>
              <a:t>2,764 lines · 11 files</a:t>
            </a:r>
            <a:endParaRPr lang="en-US" sz="1400" dirty="0"/>
          </a:p>
        </p:txBody>
      </p:sp>
      <p:sp>
        <p:nvSpPr>
          <p:cNvPr id="42" name="Shape 40"/>
          <p:cNvSpPr/>
          <p:nvPr/>
        </p:nvSpPr>
        <p:spPr>
          <a:xfrm>
            <a:off x="8458200" y="4206240"/>
            <a:ext cx="3184855" cy="1828800"/>
          </a:xfrm>
          <a:prstGeom prst="roundRect">
            <a:avLst>
              <a:gd name="adj" fmla="val 4000"/>
            </a:avLst>
          </a:prstGeom>
          <a:solidFill>
            <a:schemeClr val="bg2"/>
          </a:solidFill>
          <a:ln/>
        </p:spPr>
      </p:sp>
      <p:sp>
        <p:nvSpPr>
          <p:cNvPr id="43" name="Text 41"/>
          <p:cNvSpPr txBox="1"/>
          <p:nvPr/>
        </p:nvSpPr>
        <p:spPr>
          <a:xfrm>
            <a:off x="8622792" y="4297680"/>
            <a:ext cx="2855671" cy="1645920"/>
          </a:xfrm>
          <a:prstGeom prst="rect">
            <a:avLst/>
          </a:prstGeom>
          <a:noFill/>
          <a:ln/>
        </p:spPr>
        <p:txBody>
          <a:bodyPr wrap="square" lIns="0" tIns="0" rIns="0" bIns="0" rtlCol="0" anchor="ctr"/>
          <a:lstStyle/>
          <a:p>
            <a:pPr indent="0" marL="0">
              <a:spcAft>
                <a:spcPts val="400"/>
              </a:spcAft>
              <a:buNone/>
            </a:pPr>
            <a:r>
              <a:rPr lang="en-US" sz="1300" b="1" dirty="0">
                <a:solidFill>
                  <a:schemeClr val="tx2"/>
                </a:solidFill>
              </a:rPr>
              <a:t>Framework side, System B:</a:t>
            </a:r>
            <a:endParaRPr lang="en-US" sz="1300" dirty="0"/>
          </a:p>
          <a:p>
            <a:pPr indent="0" marL="0">
              <a:spcAft>
                <a:spcPts val="400"/>
              </a:spcAft>
              <a:buNone/>
            </a:pPr>
            <a:r>
              <a:rPr lang="en-US" sz="1300" dirty="0">
                <a:solidFill>
                  <a:schemeClr val="tx1"/>
                </a:solidFill>
              </a:rPr>
              <a:t>183 ray interactables · 94 grabbables · 4 rotation transformers · 5 pointable canvases — with no interaction code written.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RESULT 2 · DESIGN DECISIONS</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Same problems, different decisions — one shared principle</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77440"/>
                <a:gridCol w="4343400"/>
                <a:gridCol w="4373575"/>
              </a:tblGrid>
              <a:tr h="365760">
                <a:tc>
                  <a:txBody>
                    <a:bodyPr/>
                    <a:lstStyle/>
                    <a:p>
                      <a:pPr indent="0" marL="0">
                        <a:buNone/>
                      </a:pPr>
                      <a:r>
                        <a:rPr lang="en-US" sz="1300" b="1" dirty="0">
                          <a:solidFill>
                            <a:schemeClr val="bg1"/>
                          </a:solidFill>
                        </a:rPr>
                        <a:t>Design problem</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 · Guided assembly</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B · Tool selection</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solidFill>
                      <a:schemeClr val="accent2"/>
                    </a:solidFill>
                  </a:tcPr>
                </a:tc>
              </a:tr>
              <a:tr h="566928">
                <a:tc>
                  <a:txBody>
                    <a:bodyPr/>
                    <a:lstStyle/>
                    <a:p>
                      <a:pPr indent="0" marL="0">
                        <a:buNone/>
                      </a:pPr>
                      <a:r>
                        <a:rPr lang="en-US" sz="1300" b="1" dirty="0">
                          <a:solidFill>
                            <a:schemeClr val="tx1"/>
                          </a:solidFill>
                        </a:rPr>
                        <a:t>Task specification</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Authored sequence in an external JSON file; 26 steps, 4 action classes</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Generated at session start from a rack scan, under coverage, interleaving and exclusion constraints</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r h="502920">
                <a:tc>
                  <a:txBody>
                    <a:bodyPr/>
                    <a:lstStyle/>
                    <a:p>
                      <a:pPr indent="0" marL="0">
                        <a:buNone/>
                      </a:pPr>
                      <a:r>
                        <a:rPr lang="en-US" sz="1300" b="1" dirty="0">
                          <a:solidFill>
                            <a:schemeClr val="tx1"/>
                          </a:solidFill>
                        </a:rPr>
                        <a:t>Source of ground truth</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Component poses captured from the product model at scene start</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Tool types and sizes enumerated from the tagged rack</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r h="566928">
                <a:tc>
                  <a:txBody>
                    <a:bodyPr/>
                    <a:lstStyle/>
                    <a:p>
                      <a:pPr indent="0" marL="0">
                        <a:buNone/>
                      </a:pPr>
                      <a:r>
                        <a:rPr lang="en-US" sz="1300" b="1" dirty="0">
                          <a:solidFill>
                            <a:schemeClr val="tx1"/>
                          </a:solidFill>
                        </a:rPr>
                        <a:t>Validation of trainee action</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Correct component for the step, placed within 0.15 m of the captured pose</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Correct type, size within tolerance and, where applicable, set torque within tolerance</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r h="502920">
                <a:tc>
                  <a:txBody>
                    <a:bodyPr/>
                    <a:lstStyle/>
                    <a:p>
                      <a:pPr indent="0" marL="0">
                        <a:buNone/>
                      </a:pPr>
                      <a:r>
                        <a:rPr lang="en-US" sz="1300" b="1" dirty="0">
                          <a:solidFill>
                            <a:schemeClr val="tx1"/>
                          </a:solidFill>
                        </a:rPr>
                        <a:t>Guidance strategy</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Three concurrent channels: highlight, 3D target state, progress panel</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Staged: 90 s observation → jobs naming the tool → jobs that do not</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r h="457200">
                <a:tc>
                  <a:txBody>
                    <a:bodyPr/>
                    <a:lstStyle/>
                    <a:p>
                      <a:pPr indent="0" marL="0">
                        <a:buNone/>
                      </a:pPr>
                      <a:r>
                        <a:rPr lang="en-US" sz="1300" b="1" dirty="0">
                          <a:solidFill>
                            <a:schemeClr val="tx1"/>
                          </a:solidFill>
                        </a:rPr>
                        <a:t>Failure behaviour</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Placement rejected; component remains free</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Fastener does not turn; rejected tool retained for the debrief</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bl>
          </a:graphicData>
        </a:graphic>
      </p:graphicFrame>
      <p:sp>
        <p:nvSpPr>
          <p:cNvPr id="5" name="Shape 2"/>
          <p:cNvSpPr/>
          <p:nvPr/>
        </p:nvSpPr>
        <p:spPr>
          <a:xfrm>
            <a:off x="548640" y="4663440"/>
            <a:ext cx="11094415" cy="1554480"/>
          </a:xfrm>
          <a:prstGeom prst="roundRect">
            <a:avLst>
              <a:gd name="adj" fmla="val 4706"/>
            </a:avLst>
          </a:prstGeom>
          <a:solidFill>
            <a:schemeClr val="tx2"/>
          </a:solidFill>
          <a:ln/>
        </p:spPr>
      </p:sp>
      <p:sp>
        <p:nvSpPr>
          <p:cNvPr id="6" name="Text 3"/>
          <p:cNvSpPr txBox="1"/>
          <p:nvPr/>
        </p:nvSpPr>
        <p:spPr>
          <a:xfrm>
            <a:off x="822960" y="4800600"/>
            <a:ext cx="475488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SHARED PRINCIPLE · REACHED INDEPENDENTLY</a:t>
            </a:r>
            <a:endParaRPr lang="en-US" sz="1200" dirty="0"/>
          </a:p>
        </p:txBody>
      </p:sp>
      <p:sp>
        <p:nvSpPr>
          <p:cNvPr id="7" name="Text 4"/>
          <p:cNvSpPr txBox="1"/>
          <p:nvPr/>
        </p:nvSpPr>
        <p:spPr>
          <a:xfrm>
            <a:off x="822960" y="5120640"/>
            <a:ext cx="4754880" cy="96012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Derive the task specification from the scene — don’t author it in code</a:t>
            </a:r>
            <a:endParaRPr lang="en-US" sz="2000" dirty="0"/>
          </a:p>
        </p:txBody>
      </p:sp>
      <p:sp>
        <p:nvSpPr>
          <p:cNvPr id="8" name="Shape 5"/>
          <p:cNvSpPr/>
          <p:nvPr/>
        </p:nvSpPr>
        <p:spPr>
          <a:xfrm>
            <a:off x="5852160" y="4828032"/>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5852160" y="482803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0" name="Text 7"/>
          <p:cNvSpPr txBox="1"/>
          <p:nvPr/>
        </p:nvSpPr>
        <p:spPr>
          <a:xfrm>
            <a:off x="6309360" y="4773168"/>
            <a:ext cx="5105095" cy="457200"/>
          </a:xfrm>
          <a:prstGeom prst="rect">
            <a:avLst/>
          </a:prstGeom>
          <a:noFill/>
          <a:ln/>
        </p:spPr>
        <p:txBody>
          <a:bodyPr wrap="square" lIns="0" tIns="0" rIns="0" bIns="0" rtlCol="0" anchor="ctr"/>
          <a:lstStyle/>
          <a:p>
            <a:pPr indent="0" marL="0">
              <a:buNone/>
            </a:pPr>
            <a:r>
              <a:rPr lang="en-US" sz="1300" dirty="0">
                <a:solidFill>
                  <a:schemeClr val="bg1"/>
                </a:solidFill>
              </a:rPr>
              <a:t>Poses captured from the product model → a revised model needs no re-targeting</a:t>
            </a:r>
            <a:endParaRPr lang="en-US" sz="1300" dirty="0"/>
          </a:p>
        </p:txBody>
      </p:sp>
      <p:sp>
        <p:nvSpPr>
          <p:cNvPr id="11" name="Shape 8"/>
          <p:cNvSpPr/>
          <p:nvPr/>
        </p:nvSpPr>
        <p:spPr>
          <a:xfrm>
            <a:off x="5852160" y="5321808"/>
            <a:ext cx="329184" cy="329184"/>
          </a:xfrm>
          <a:prstGeom prst="ellipse">
            <a:avLst/>
          </a:prstGeom>
          <a:solidFill>
            <a:schemeClr val="accent2"/>
          </a:solidFill>
          <a:ln w="12700">
            <a:solidFill>
              <a:schemeClr val="accent2"/>
            </a:solidFill>
            <a:prstDash val="solid"/>
          </a:ln>
        </p:spPr>
      </p:sp>
      <p:sp>
        <p:nvSpPr>
          <p:cNvPr id="12" name="Text 9"/>
          <p:cNvSpPr txBox="1"/>
          <p:nvPr/>
        </p:nvSpPr>
        <p:spPr>
          <a:xfrm>
            <a:off x="5852160" y="532180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3" name="Text 10"/>
          <p:cNvSpPr txBox="1"/>
          <p:nvPr/>
        </p:nvSpPr>
        <p:spPr>
          <a:xfrm>
            <a:off x="6309360" y="5266944"/>
            <a:ext cx="5105095" cy="457200"/>
          </a:xfrm>
          <a:prstGeom prst="rect">
            <a:avLst/>
          </a:prstGeom>
          <a:noFill/>
          <a:ln/>
        </p:spPr>
        <p:txBody>
          <a:bodyPr wrap="square" lIns="0" tIns="0" rIns="0" bIns="0" rtlCol="0" anchor="ctr"/>
          <a:lstStyle/>
          <a:p>
            <a:pPr indent="0" marL="0">
              <a:buNone/>
            </a:pPr>
            <a:r>
              <a:rPr lang="en-US" sz="1300" dirty="0">
                <a:solidFill>
                  <a:schemeClr val="bg1"/>
                </a:solidFill>
              </a:rPr>
              <a:t>Rack scanned each session → tools that are not on the wall are never requested</a:t>
            </a:r>
            <a:endParaRPr lang="en-US" sz="1300" dirty="0"/>
          </a:p>
        </p:txBody>
      </p:sp>
      <p:sp>
        <p:nvSpPr>
          <p:cNvPr id="14" name="Text 11"/>
          <p:cNvSpPr txBox="1"/>
          <p:nvPr/>
        </p:nvSpPr>
        <p:spPr>
          <a:xfrm>
            <a:off x="5852160" y="5760720"/>
            <a:ext cx="5562295" cy="365760"/>
          </a:xfrm>
          <a:prstGeom prst="rect">
            <a:avLst/>
          </a:prstGeom>
          <a:noFill/>
          <a:ln/>
        </p:spPr>
        <p:txBody>
          <a:bodyPr wrap="square" lIns="0" tIns="0" rIns="0" bIns="0" rtlCol="0" anchor="ctr"/>
          <a:lstStyle/>
          <a:p>
            <a:pPr indent="0" marL="0">
              <a:buNone/>
            </a:pPr>
            <a:r>
              <a:rPr lang="en-US" sz="1300" i="1" dirty="0">
                <a:solidFill>
                  <a:schemeClr val="accent5"/>
                </a:solidFill>
              </a:rPr>
              <a:t>Otherwise a stale specification is scored as a trainee error (cf. Lin et al. 2024)</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RESULT 3 · SOFTWARE VERIFICATION</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Verification without a headset: seeded, headless sweeps</a:t>
            </a:r>
            <a:endParaRPr lang="en-US" sz="3000" dirty="0"/>
          </a:p>
        </p:txBody>
      </p:sp>
      <p:sp>
        <p:nvSpPr>
          <p:cNvPr id="4" name="Text 2"/>
          <p:cNvSpPr txBox="1"/>
          <p:nvPr/>
        </p:nvSpPr>
        <p:spPr>
          <a:xfrm>
            <a:off x="548640" y="1371600"/>
            <a:ext cx="11094415" cy="548640"/>
          </a:xfrm>
          <a:prstGeom prst="rect">
            <a:avLst/>
          </a:prstGeom>
          <a:noFill/>
          <a:ln/>
        </p:spPr>
        <p:txBody>
          <a:bodyPr wrap="square" lIns="0" tIns="0" rIns="0" bIns="0" rtlCol="0" anchor="t"/>
          <a:lstStyle/>
          <a:p>
            <a:pPr indent="0" marL="0">
              <a:buNone/>
            </a:pPr>
            <a:r>
              <a:rPr lang="en-US" sz="1400" dirty="0">
                <a:solidFill>
                  <a:schemeClr val="tx1"/>
                </a:solidFill>
              </a:rPr>
              <a:t>Tracked hands are unavailable outside the headset, so System B’s session logic is driven headlessly; because generation is seeded, every generated job can be inspected without a device.</a:t>
            </a:r>
            <a:endParaRPr lang="en-US" sz="1400" dirty="0"/>
          </a:p>
        </p:txBody>
      </p:sp>
      <p:sp>
        <p:nvSpPr>
          <p:cNvPr id="5" name="Shape 3"/>
          <p:cNvSpPr/>
          <p:nvPr/>
        </p:nvSpPr>
        <p:spPr>
          <a:xfrm>
            <a:off x="548640" y="2057400"/>
            <a:ext cx="2072579" cy="1508760"/>
          </a:xfrm>
          <a:prstGeom prst="roundRect">
            <a:avLst>
              <a:gd name="adj" fmla="val 4848"/>
            </a:avLst>
          </a:prstGeom>
          <a:solidFill>
            <a:schemeClr val="accent2">
              <a:alpha val="12000"/>
            </a:schemeClr>
          </a:solidFill>
          <a:ln/>
        </p:spPr>
      </p:sp>
      <p:sp>
        <p:nvSpPr>
          <p:cNvPr id="6" name="Text 4"/>
          <p:cNvSpPr txBox="1"/>
          <p:nvPr/>
        </p:nvSpPr>
        <p:spPr>
          <a:xfrm>
            <a:off x="658368" y="2130552"/>
            <a:ext cx="1853123" cy="548640"/>
          </a:xfrm>
          <a:prstGeom prst="rect">
            <a:avLst/>
          </a:prstGeom>
          <a:noFill/>
          <a:ln/>
        </p:spPr>
        <p:txBody>
          <a:bodyPr wrap="square" lIns="0" tIns="0" rIns="0" bIns="0" rtlCol="0" anchor="ctr"/>
          <a:lstStyle/>
          <a:p>
            <a:pPr algn="ctr" indent="0" marL="0">
              <a:buNone/>
            </a:pPr>
            <a:r>
              <a:rPr lang="en-US" sz="3000" b="1" dirty="0">
                <a:solidFill>
                  <a:schemeClr val="accent2"/>
                </a:solidFill>
              </a:rPr>
              <a:t>685</a:t>
            </a:r>
            <a:endParaRPr lang="en-US" sz="3000" dirty="0"/>
          </a:p>
        </p:txBody>
      </p:sp>
      <p:sp>
        <p:nvSpPr>
          <p:cNvPr id="7" name="Text 5"/>
          <p:cNvSpPr txBox="1"/>
          <p:nvPr/>
        </p:nvSpPr>
        <p:spPr>
          <a:xfrm>
            <a:off x="685800" y="2697480"/>
            <a:ext cx="1798259" cy="822960"/>
          </a:xfrm>
          <a:prstGeom prst="rect">
            <a:avLst/>
          </a:prstGeom>
          <a:noFill/>
          <a:ln/>
        </p:spPr>
        <p:txBody>
          <a:bodyPr wrap="square" lIns="0" tIns="0" rIns="0" bIns="0" rtlCol="0" anchor="t"/>
          <a:lstStyle/>
          <a:p>
            <a:pPr algn="ctr" indent="0" marL="0">
              <a:buNone/>
            </a:pPr>
            <a:r>
              <a:rPr lang="en-US" sz="1200" dirty="0">
                <a:solidFill>
                  <a:schemeClr val="tx1"/>
                </a:solidFill>
              </a:rPr>
              <a:t>torque jobs generated (200 seeds × 8 jobs per session) and checked</a:t>
            </a:r>
            <a:endParaRPr lang="en-US" sz="1200" dirty="0"/>
          </a:p>
        </p:txBody>
      </p:sp>
      <p:sp>
        <p:nvSpPr>
          <p:cNvPr id="8" name="Shape 6"/>
          <p:cNvSpPr/>
          <p:nvPr/>
        </p:nvSpPr>
        <p:spPr>
          <a:xfrm>
            <a:off x="2804099" y="2057400"/>
            <a:ext cx="2072579" cy="1508760"/>
          </a:xfrm>
          <a:prstGeom prst="roundRect">
            <a:avLst>
              <a:gd name="adj" fmla="val 4848"/>
            </a:avLst>
          </a:prstGeom>
          <a:solidFill>
            <a:schemeClr val="accent2">
              <a:alpha val="12000"/>
            </a:schemeClr>
          </a:solidFill>
          <a:ln/>
        </p:spPr>
      </p:sp>
      <p:sp>
        <p:nvSpPr>
          <p:cNvPr id="9" name="Text 7"/>
          <p:cNvSpPr txBox="1"/>
          <p:nvPr/>
        </p:nvSpPr>
        <p:spPr>
          <a:xfrm>
            <a:off x="2913827" y="2130552"/>
            <a:ext cx="1853123" cy="548640"/>
          </a:xfrm>
          <a:prstGeom prst="rect">
            <a:avLst/>
          </a:prstGeom>
          <a:noFill/>
          <a:ln/>
        </p:spPr>
        <p:txBody>
          <a:bodyPr wrap="square" lIns="0" tIns="0" rIns="0" bIns="0" rtlCol="0" anchor="ctr"/>
          <a:lstStyle/>
          <a:p>
            <a:pPr algn="ctr" indent="0" marL="0">
              <a:buNone/>
            </a:pPr>
            <a:r>
              <a:rPr lang="en-US" sz="3000" b="1" dirty="0">
                <a:solidFill>
                  <a:schemeClr val="accent2"/>
                </a:solidFill>
              </a:rPr>
              <a:t>0</a:t>
            </a:r>
            <a:endParaRPr lang="en-US" sz="3000" dirty="0"/>
          </a:p>
        </p:txBody>
      </p:sp>
      <p:sp>
        <p:nvSpPr>
          <p:cNvPr id="10" name="Text 8"/>
          <p:cNvSpPr txBox="1"/>
          <p:nvPr/>
        </p:nvSpPr>
        <p:spPr>
          <a:xfrm>
            <a:off x="2941259" y="2697480"/>
            <a:ext cx="1798259" cy="822960"/>
          </a:xfrm>
          <a:prstGeom prst="rect">
            <a:avLst/>
          </a:prstGeom>
          <a:noFill/>
          <a:ln/>
        </p:spPr>
        <p:txBody>
          <a:bodyPr wrap="square" lIns="0" tIns="0" rIns="0" bIns="0" rtlCol="0" anchor="t"/>
          <a:lstStyle/>
          <a:p>
            <a:pPr algn="ctr" indent="0" marL="0">
              <a:buNone/>
            </a:pPr>
            <a:r>
              <a:rPr lang="en-US" sz="1200" dirty="0">
                <a:solidFill>
                  <a:schemeClr val="tx1"/>
                </a:solidFill>
              </a:rPr>
              <a:t>defects: missing instrument, unreachable target, or undialable target</a:t>
            </a:r>
            <a:endParaRPr lang="en-US" sz="1200" dirty="0"/>
          </a:p>
        </p:txBody>
      </p:sp>
      <p:sp>
        <p:nvSpPr>
          <p:cNvPr id="11" name="Shape 9"/>
          <p:cNvSpPr/>
          <p:nvPr/>
        </p:nvSpPr>
        <p:spPr>
          <a:xfrm>
            <a:off x="5059558" y="2057400"/>
            <a:ext cx="2072579" cy="1508760"/>
          </a:xfrm>
          <a:prstGeom prst="roundRect">
            <a:avLst>
              <a:gd name="adj" fmla="val 4848"/>
            </a:avLst>
          </a:prstGeom>
          <a:solidFill>
            <a:schemeClr val="accent2">
              <a:alpha val="12000"/>
            </a:schemeClr>
          </a:solidFill>
          <a:ln/>
        </p:spPr>
      </p:sp>
      <p:sp>
        <p:nvSpPr>
          <p:cNvPr id="12" name="Text 10"/>
          <p:cNvSpPr txBox="1"/>
          <p:nvPr/>
        </p:nvSpPr>
        <p:spPr>
          <a:xfrm>
            <a:off x="5169286" y="2130552"/>
            <a:ext cx="1853123" cy="548640"/>
          </a:xfrm>
          <a:prstGeom prst="rect">
            <a:avLst/>
          </a:prstGeom>
          <a:noFill/>
          <a:ln/>
        </p:spPr>
        <p:txBody>
          <a:bodyPr wrap="square" lIns="0" tIns="0" rIns="0" bIns="0" rtlCol="0" anchor="ctr"/>
          <a:lstStyle/>
          <a:p>
            <a:pPr algn="ctr" indent="0" marL="0">
              <a:buNone/>
            </a:pPr>
            <a:r>
              <a:rPr lang="en-US" sz="3000" b="1" dirty="0">
                <a:solidFill>
                  <a:schemeClr val="accent2"/>
                </a:solidFill>
              </a:rPr>
              <a:t>0.060</a:t>
            </a:r>
            <a:endParaRPr lang="en-US" sz="3000" dirty="0"/>
          </a:p>
        </p:txBody>
      </p:sp>
      <p:sp>
        <p:nvSpPr>
          <p:cNvPr id="13" name="Text 11"/>
          <p:cNvSpPr txBox="1"/>
          <p:nvPr/>
        </p:nvSpPr>
        <p:spPr>
          <a:xfrm>
            <a:off x="5196718" y="2697480"/>
            <a:ext cx="1798259" cy="822960"/>
          </a:xfrm>
          <a:prstGeom prst="rect">
            <a:avLst/>
          </a:prstGeom>
          <a:noFill/>
          <a:ln/>
        </p:spPr>
        <p:txBody>
          <a:bodyPr wrap="square" lIns="0" tIns="0" rIns="0" bIns="0" rtlCol="0" anchor="t"/>
          <a:lstStyle/>
          <a:p>
            <a:pPr algn="ctr" indent="0" marL="0">
              <a:buNone/>
            </a:pPr>
            <a:r>
              <a:rPr lang="en-US" sz="1200" dirty="0">
                <a:solidFill>
                  <a:schemeClr val="tx1"/>
                </a:solidFill>
              </a:rPr>
              <a:t>N·m per degree, identical on all 4 torque instruments</a:t>
            </a:r>
            <a:endParaRPr lang="en-US" sz="1200" dirty="0"/>
          </a:p>
        </p:txBody>
      </p:sp>
      <p:sp>
        <p:nvSpPr>
          <p:cNvPr id="14" name="Shape 12"/>
          <p:cNvSpPr/>
          <p:nvPr/>
        </p:nvSpPr>
        <p:spPr>
          <a:xfrm>
            <a:off x="7315017" y="2057400"/>
            <a:ext cx="2072579" cy="1508760"/>
          </a:xfrm>
          <a:prstGeom prst="roundRect">
            <a:avLst>
              <a:gd name="adj" fmla="val 4848"/>
            </a:avLst>
          </a:prstGeom>
          <a:solidFill>
            <a:schemeClr val="accent2">
              <a:alpha val="12000"/>
            </a:schemeClr>
          </a:solidFill>
          <a:ln/>
        </p:spPr>
      </p:sp>
      <p:sp>
        <p:nvSpPr>
          <p:cNvPr id="15" name="Text 13"/>
          <p:cNvSpPr txBox="1"/>
          <p:nvPr/>
        </p:nvSpPr>
        <p:spPr>
          <a:xfrm>
            <a:off x="7424745" y="2130552"/>
            <a:ext cx="1853123" cy="548640"/>
          </a:xfrm>
          <a:prstGeom prst="rect">
            <a:avLst/>
          </a:prstGeom>
          <a:noFill/>
          <a:ln/>
        </p:spPr>
        <p:txBody>
          <a:bodyPr wrap="square" lIns="0" tIns="0" rIns="0" bIns="0" rtlCol="0" anchor="ctr"/>
          <a:lstStyle/>
          <a:p>
            <a:pPr algn="ctr" indent="0" marL="0">
              <a:buNone/>
            </a:pPr>
            <a:r>
              <a:rPr lang="en-US" sz="3000" b="1" dirty="0">
                <a:solidFill>
                  <a:schemeClr val="accent2"/>
                </a:solidFill>
              </a:rPr>
              <a:t>0</a:t>
            </a:r>
            <a:endParaRPr lang="en-US" sz="3000" dirty="0"/>
          </a:p>
        </p:txBody>
      </p:sp>
      <p:sp>
        <p:nvSpPr>
          <p:cNvPr id="16" name="Text 14"/>
          <p:cNvSpPr txBox="1"/>
          <p:nvPr/>
        </p:nvSpPr>
        <p:spPr>
          <a:xfrm>
            <a:off x="7452177" y="2697480"/>
            <a:ext cx="1798259" cy="822960"/>
          </a:xfrm>
          <a:prstGeom prst="rect">
            <a:avLst/>
          </a:prstGeom>
          <a:noFill/>
          <a:ln/>
        </p:spPr>
        <p:txBody>
          <a:bodyPr wrap="square" lIns="0" tIns="0" rIns="0" bIns="0" rtlCol="0" anchor="t"/>
          <a:lstStyle/>
          <a:p>
            <a:pPr algn="ctr" indent="0" marL="0">
              <a:buNone/>
            </a:pPr>
            <a:r>
              <a:rPr lang="en-US" sz="1200" dirty="0">
                <a:solidFill>
                  <a:schemeClr val="tx1"/>
                </a:solidFill>
              </a:rPr>
              <a:t>sizes shared between training and assessment sets</a:t>
            </a:r>
            <a:endParaRPr lang="en-US" sz="1200" dirty="0"/>
          </a:p>
        </p:txBody>
      </p:sp>
      <p:sp>
        <p:nvSpPr>
          <p:cNvPr id="17" name="Shape 15"/>
          <p:cNvSpPr/>
          <p:nvPr/>
        </p:nvSpPr>
        <p:spPr>
          <a:xfrm>
            <a:off x="9570476" y="2057400"/>
            <a:ext cx="2072579" cy="1508760"/>
          </a:xfrm>
          <a:prstGeom prst="roundRect">
            <a:avLst>
              <a:gd name="adj" fmla="val 4848"/>
            </a:avLst>
          </a:prstGeom>
          <a:solidFill>
            <a:schemeClr val="accent2">
              <a:alpha val="12000"/>
            </a:schemeClr>
          </a:solidFill>
          <a:ln/>
        </p:spPr>
      </p:sp>
      <p:sp>
        <p:nvSpPr>
          <p:cNvPr id="18" name="Text 16"/>
          <p:cNvSpPr txBox="1"/>
          <p:nvPr/>
        </p:nvSpPr>
        <p:spPr>
          <a:xfrm>
            <a:off x="9680204" y="2130552"/>
            <a:ext cx="1853123" cy="548640"/>
          </a:xfrm>
          <a:prstGeom prst="rect">
            <a:avLst/>
          </a:prstGeom>
          <a:noFill/>
          <a:ln/>
        </p:spPr>
        <p:txBody>
          <a:bodyPr wrap="square" lIns="0" tIns="0" rIns="0" bIns="0" rtlCol="0" anchor="ctr"/>
          <a:lstStyle/>
          <a:p>
            <a:pPr algn="ctr" indent="0" marL="0">
              <a:buNone/>
            </a:pPr>
            <a:r>
              <a:rPr lang="en-US" sz="3000" b="1" dirty="0">
                <a:solidFill>
                  <a:schemeClr val="accent2"/>
                </a:solidFill>
              </a:rPr>
              <a:t>15 / 15</a:t>
            </a:r>
            <a:endParaRPr lang="en-US" sz="3000" dirty="0"/>
          </a:p>
        </p:txBody>
      </p:sp>
      <p:sp>
        <p:nvSpPr>
          <p:cNvPr id="19" name="Text 17"/>
          <p:cNvSpPr txBox="1"/>
          <p:nvPr/>
        </p:nvSpPr>
        <p:spPr>
          <a:xfrm>
            <a:off x="9707636" y="2697480"/>
            <a:ext cx="1798259" cy="822960"/>
          </a:xfrm>
          <a:prstGeom prst="rect">
            <a:avLst/>
          </a:prstGeom>
          <a:noFill/>
          <a:ln/>
        </p:spPr>
        <p:txBody>
          <a:bodyPr wrap="square" lIns="0" tIns="0" rIns="0" bIns="0" rtlCol="0" anchor="t"/>
          <a:lstStyle/>
          <a:p>
            <a:pPr algn="ctr" indent="0" marL="0">
              <a:buNone/>
            </a:pPr>
            <a:r>
              <a:rPr lang="en-US" sz="1200" dirty="0">
                <a:solidFill>
                  <a:schemeClr val="tx1"/>
                </a:solidFill>
              </a:rPr>
              <a:t>generated torque labels fit the plate</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6858000" cy="914400"/>
        </p:xfrm>
        <a:graphic>
          <a:graphicData uri="http://schemas.openxmlformats.org/drawingml/2006/table">
            <a:tbl>
              <a:tblPr/>
              <a:tblGrid>
                <a:gridCol w="2240280"/>
                <a:gridCol w="2103120"/>
                <a:gridCol w="2514600"/>
              </a:tblGrid>
              <a:tr h="365760">
                <a:tc>
                  <a:txBody>
                    <a:bodyPr/>
                    <a:lstStyle/>
                    <a:p>
                      <a:pPr indent="0" marL="0">
                        <a:buNone/>
                      </a:pPr>
                      <a:r>
                        <a:rPr lang="en-US" sz="1300" b="1" dirty="0">
                          <a:solidFill>
                            <a:schemeClr val="bg1"/>
                          </a:solidFill>
                        </a:rPr>
                        <a:t>Property (Table 5)</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Method</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Result</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solidFill>
                      <a:schemeClr val="tx2"/>
                    </a:solidFill>
                  </a:tcPr>
                </a:tc>
              </a:tr>
              <a:tr h="566928">
                <a:tc>
                  <a:txBody>
                    <a:bodyPr/>
                    <a:lstStyle/>
                    <a:p>
                      <a:pPr indent="0" marL="0">
                        <a:buNone/>
                      </a:pPr>
                      <a:r>
                        <a:rPr lang="en-US" sz="1300" dirty="0">
                          <a:solidFill>
                            <a:schemeClr val="tx1"/>
                          </a:solidFill>
                        </a:rPr>
                        <a:t>Rotation progress retention</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Numeric simulation</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360° forward, then 180° reverse → retains 360°</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r h="566928">
                <a:tc>
                  <a:txBody>
                    <a:bodyPr/>
                    <a:lstStyle/>
                    <a:p>
                      <a:pPr indent="0" marL="0">
                        <a:buNone/>
                      </a:pPr>
                      <a:r>
                        <a:rPr lang="en-US" sz="1300" dirty="0">
                          <a:solidFill>
                            <a:schemeClr val="tx1"/>
                          </a:solidFill>
                        </a:rPr>
                        <a:t>Torque accumulation past wrap</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12 stops to 500° handle travel</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Reads 54.99 N·m; monotonic past the wrap point</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r h="457200">
                <a:tc>
                  <a:txBody>
                    <a:bodyPr/>
                    <a:lstStyle/>
                    <a:p>
                      <a:pPr indent="0" marL="0">
                        <a:buNone/>
                      </a:pPr>
                      <a:r>
                        <a:rPr lang="en-US" sz="1300" dirty="0">
                          <a:solidFill>
                            <a:schemeClr val="tx1"/>
                          </a:solidFill>
                        </a:rPr>
                        <a:t>Session determinism</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Seed 777 vs. seed 12345</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c>
                  <a:txBody>
                    <a:bodyPr/>
                    <a:lstStyle/>
                    <a:p>
                      <a:pPr indent="0" marL="0">
                        <a:buNone/>
                      </a:pPr>
                      <a:r>
                        <a:rPr lang="en-US" sz="1300" dirty="0">
                          <a:solidFill>
                            <a:schemeClr val="tx1"/>
                          </a:solidFill>
                        </a:rPr>
                        <a:t>1 of 10 slots identical</a:t>
                      </a:r>
                      <a:endParaRPr lang="en-US" sz="1300" dirty="0"/>
                    </a:p>
                  </a:txBody>
                  <a:tcPr marL="73152" marR="73152" marT="36576" marB="36576" anchor="ctr">
                    <a:lnL w="9525" cap="flat" cmpd="sng" algn="ctr">
                      <a:solidFill>
                        <a:srgbClr val="C9D2DB"/>
                      </a:solidFill>
                      <a:prstDash val="solid"/>
                      <a:round/>
                      <a:headEnd type="none" w="med" len="med"/>
                      <a:tailEnd type="none" w="med" len="med"/>
                    </a:lnL>
                    <a:lnR w="9525" cap="flat" cmpd="sng" algn="ctr">
                      <a:solidFill>
                        <a:srgbClr val="C9D2DB"/>
                      </a:solidFill>
                      <a:prstDash val="solid"/>
                      <a:round/>
                      <a:headEnd type="none" w="med" len="med"/>
                      <a:tailEnd type="none" w="med" len="med"/>
                    </a:lnR>
                    <a:lnT w="9525" cap="flat" cmpd="sng" algn="ctr">
                      <a:solidFill>
                        <a:srgbClr val="C9D2DB"/>
                      </a:solidFill>
                      <a:prstDash val="solid"/>
                      <a:round/>
                      <a:headEnd type="none" w="med" len="med"/>
                      <a:tailEnd type="none" w="med" len="med"/>
                    </a:lnT>
                    <a:lnB w="9525" cap="flat" cmpd="sng" algn="ctr">
                      <a:solidFill>
                        <a:srgbClr val="C9D2DB"/>
                      </a:solidFill>
                      <a:prstDash val="solid"/>
                      <a:round/>
                      <a:headEnd type="none" w="med" len="med"/>
                      <a:tailEnd type="none" w="med" len="med"/>
                    </a:lnB>
                  </a:tcPr>
                </a:tc>
              </a:tr>
            </a:tbl>
          </a:graphicData>
        </a:graphic>
      </p:graphicFrame>
      <p:sp>
        <p:nvSpPr>
          <p:cNvPr id="21" name="Shape 18"/>
          <p:cNvSpPr/>
          <p:nvPr/>
        </p:nvSpPr>
        <p:spPr>
          <a:xfrm>
            <a:off x="7680960" y="3794760"/>
            <a:ext cx="3962095" cy="2377440"/>
          </a:xfrm>
          <a:prstGeom prst="roundRect">
            <a:avLst>
              <a:gd name="adj" fmla="val 3077"/>
            </a:avLst>
          </a:prstGeom>
          <a:solidFill>
            <a:schemeClr val="bg2"/>
          </a:solidFill>
          <a:ln/>
        </p:spPr>
      </p:sp>
      <p:sp>
        <p:nvSpPr>
          <p:cNvPr id="22" name="Text 19"/>
          <p:cNvSpPr txBox="1"/>
          <p:nvPr/>
        </p:nvSpPr>
        <p:spPr>
          <a:xfrm>
            <a:off x="7863840" y="3886200"/>
            <a:ext cx="3596335" cy="2194560"/>
          </a:xfrm>
          <a:prstGeom prst="rect">
            <a:avLst/>
          </a:prstGeom>
          <a:noFill/>
          <a:ln/>
        </p:spPr>
        <p:txBody>
          <a:bodyPr wrap="square" lIns="0" tIns="0" rIns="0" bIns="0" rtlCol="0" anchor="ctr"/>
          <a:lstStyle/>
          <a:p>
            <a:pPr indent="0" marL="0">
              <a:spcAft>
                <a:spcPts val="600"/>
              </a:spcAft>
              <a:buNone/>
            </a:pPr>
            <a:r>
              <a:rPr lang="en-US" sz="1300" b="1" dirty="0">
                <a:solidFill>
                  <a:schemeClr val="accent2"/>
                </a:solidFill>
              </a:rPr>
              <a:t>Shows</a:t>
            </a:r>
            <a:endParaRPr lang="en-US" sz="1300" dirty="0"/>
          </a:p>
          <a:p>
            <a:pPr indent="0" marL="0">
              <a:spcAft>
                <a:spcPts val="600"/>
              </a:spcAft>
              <a:buNone/>
            </a:pPr>
            <a:r>
              <a:rPr lang="en-US" sz="1300" dirty="0">
                <a:solidFill>
                  <a:schemeClr val="tx1"/>
                </a:solidFill>
              </a:rPr>
              <a:t>System B behaves as specified; System A verified by enumeration against its component manifest</a:t>
            </a:r>
            <a:endParaRPr lang="en-US" sz="1300" dirty="0"/>
          </a:p>
          <a:p>
            <a:pPr indent="0" marL="0">
              <a:spcAft>
                <a:spcPts val="600"/>
              </a:spcAft>
              <a:buNone/>
            </a:pPr>
            <a:r>
              <a:rPr lang="en-US" sz="1300" b="1" dirty="0">
                <a:solidFill>
                  <a:schemeClr val="accent4"/>
                </a:solidFill>
              </a:rPr>
              <a:t>Does not show</a:t>
            </a:r>
            <a:endParaRPr lang="en-US" sz="1300" dirty="0"/>
          </a:p>
          <a:p>
            <a:pPr indent="0" marL="0">
              <a:spcAft>
                <a:spcPts val="600"/>
              </a:spcAft>
              <a:buNone/>
            </a:pPr>
            <a:r>
              <a:rPr lang="en-US" sz="1300" dirty="0">
                <a:solidFill>
                  <a:schemeClr val="tx1"/>
                </a:solidFill>
              </a:rPr>
              <a:t>Learning outcome (no user data), or that no unknown class of defect exists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DISCUSSION · PROPOSED INTEGRATION</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Each system implements what the other omits</a:t>
            </a:r>
            <a:endParaRPr lang="en-US" sz="3000" dirty="0"/>
          </a:p>
        </p:txBody>
      </p:sp>
      <p:pic>
        <p:nvPicPr>
          <p:cNvPr id="4" name="Image 0" descr="Proposed integration flowchart; solid implemented, dashed proposed">    </p:cNvPr>
          <p:cNvPicPr>
            <a:picLocks noChangeAspect="1"/>
          </p:cNvPicPr>
          <p:nvPr/>
        </p:nvPicPr>
        <p:blipFill>
          <a:blip r:embed="rId1"/>
          <a:stretch>
            <a:fillRect/>
          </a:stretch>
        </p:blipFill>
        <p:spPr>
          <a:xfrm>
            <a:off x="548640" y="1417320"/>
            <a:ext cx="6400800" cy="4572000"/>
          </a:xfrm>
          <a:prstGeom prst="rect">
            <a:avLst/>
          </a:prstGeom>
        </p:spPr>
      </p:pic>
      <p:sp>
        <p:nvSpPr>
          <p:cNvPr id="5" name="Text 2"/>
          <p:cNvSpPr txBox="1"/>
          <p:nvPr/>
        </p:nvSpPr>
        <p:spPr>
          <a:xfrm>
            <a:off x="548640" y="6035040"/>
            <a:ext cx="6400800" cy="274320"/>
          </a:xfrm>
          <a:prstGeom prst="rect">
            <a:avLst/>
          </a:prstGeom>
          <a:noFill/>
          <a:ln/>
        </p:spPr>
        <p:txBody>
          <a:bodyPr wrap="square" lIns="0" tIns="0" rIns="0" bIns="0" rtlCol="0" anchor="t"/>
          <a:lstStyle/>
          <a:p>
            <a:pPr indent="0" marL="0">
              <a:buNone/>
            </a:pPr>
            <a:r>
              <a:rPr lang="en-US" sz="1100" i="1" dirty="0">
                <a:solidFill>
                  <a:schemeClr val="accent3"/>
                </a:solidFill>
              </a:rPr>
              <a:t>Fig. 4  Solid = implemented in one of the two systems; dashed = proposed, not implemented</a:t>
            </a:r>
            <a:endParaRPr lang="en-US" sz="1100" dirty="0"/>
          </a:p>
        </p:txBody>
      </p:sp>
      <p:sp>
        <p:nvSpPr>
          <p:cNvPr id="6" name="Shape 3"/>
          <p:cNvSpPr/>
          <p:nvPr/>
        </p:nvSpPr>
        <p:spPr>
          <a:xfrm>
            <a:off x="7269480" y="1463040"/>
            <a:ext cx="3017520" cy="347472"/>
          </a:xfrm>
          <a:prstGeom prst="roundRect">
            <a:avLst>
              <a:gd name="adj" fmla="val 21053"/>
            </a:avLst>
          </a:prstGeom>
          <a:solidFill>
            <a:schemeClr val="bg1"/>
          </a:solidFill>
          <a:ln w="15875">
            <a:solidFill>
              <a:schemeClr val="accent4"/>
            </a:solidFill>
            <a:prstDash val="dash"/>
          </a:ln>
        </p:spPr>
      </p:sp>
      <p:sp>
        <p:nvSpPr>
          <p:cNvPr id="7" name="Text 4"/>
          <p:cNvSpPr txBox="1"/>
          <p:nvPr/>
        </p:nvSpPr>
        <p:spPr>
          <a:xfrm>
            <a:off x="7269480" y="1463040"/>
            <a:ext cx="3017520" cy="347472"/>
          </a:xfrm>
          <a:prstGeom prst="rect">
            <a:avLst/>
          </a:prstGeom>
          <a:noFill/>
          <a:ln/>
        </p:spPr>
        <p:txBody>
          <a:bodyPr wrap="square" lIns="0" tIns="0" rIns="0" bIns="0" rtlCol="0" anchor="ctr"/>
          <a:lstStyle/>
          <a:p>
            <a:pPr algn="ctr" indent="0" marL="0">
              <a:buNone/>
            </a:pPr>
            <a:r>
              <a:rPr lang="en-US" sz="1200" b="1" dirty="0">
                <a:solidFill>
                  <a:schemeClr val="accent4"/>
                </a:solidFill>
              </a:rPr>
              <a:t>PROPOSAL — NOT IMPLEMENTED</a:t>
            </a:r>
            <a:endParaRPr lang="en-US" sz="1200" dirty="0"/>
          </a:p>
        </p:txBody>
      </p:sp>
      <p:sp>
        <p:nvSpPr>
          <p:cNvPr id="8" name="Shape 5"/>
          <p:cNvSpPr/>
          <p:nvPr/>
        </p:nvSpPr>
        <p:spPr>
          <a:xfrm>
            <a:off x="7269480" y="2011680"/>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7269480" y="201168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0" name="Text 7"/>
          <p:cNvSpPr txBox="1"/>
          <p:nvPr/>
        </p:nvSpPr>
        <p:spPr>
          <a:xfrm>
            <a:off x="7726680" y="1956816"/>
            <a:ext cx="3916375" cy="566928"/>
          </a:xfrm>
          <a:prstGeom prst="rect">
            <a:avLst/>
          </a:prstGeom>
          <a:noFill/>
          <a:ln/>
        </p:spPr>
        <p:txBody>
          <a:bodyPr wrap="square" lIns="0" tIns="0" rIns="0" bIns="0" rtlCol="0" anchor="ctr"/>
          <a:lstStyle/>
          <a:p>
            <a:pPr indent="0" marL="0">
              <a:buNone/>
            </a:pPr>
            <a:r>
              <a:rPr lang="en-US" sz="1300" dirty="0">
                <a:solidFill>
                  <a:schemeClr val="tx1"/>
                </a:solidFill>
              </a:rPr>
              <a:t>Names “fasten” (8 steps) in its schema, but resolves it as placement</a:t>
            </a:r>
            <a:endParaRPr lang="en-US" sz="1300" dirty="0"/>
          </a:p>
        </p:txBody>
      </p:sp>
      <p:sp>
        <p:nvSpPr>
          <p:cNvPr id="11" name="Shape 8"/>
          <p:cNvSpPr/>
          <p:nvPr/>
        </p:nvSpPr>
        <p:spPr>
          <a:xfrm>
            <a:off x="7269480" y="2651760"/>
            <a:ext cx="329184" cy="329184"/>
          </a:xfrm>
          <a:prstGeom prst="ellipse">
            <a:avLst/>
          </a:prstGeom>
          <a:solidFill>
            <a:schemeClr val="accent2"/>
          </a:solidFill>
          <a:ln w="12700">
            <a:solidFill>
              <a:schemeClr val="accent2"/>
            </a:solidFill>
            <a:prstDash val="solid"/>
          </a:ln>
        </p:spPr>
      </p:sp>
      <p:sp>
        <p:nvSpPr>
          <p:cNvPr id="12" name="Text 9"/>
          <p:cNvSpPr txBox="1"/>
          <p:nvPr/>
        </p:nvSpPr>
        <p:spPr>
          <a:xfrm>
            <a:off x="7269480" y="26517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3" name="Text 10"/>
          <p:cNvSpPr txBox="1"/>
          <p:nvPr/>
        </p:nvSpPr>
        <p:spPr>
          <a:xfrm>
            <a:off x="7726680" y="2596896"/>
            <a:ext cx="3916375" cy="566928"/>
          </a:xfrm>
          <a:prstGeom prst="rect">
            <a:avLst/>
          </a:prstGeom>
          <a:noFill/>
          <a:ln/>
        </p:spPr>
        <p:txBody>
          <a:bodyPr wrap="square" lIns="0" tIns="0" rIns="0" bIns="0" rtlCol="0" anchor="ctr"/>
          <a:lstStyle/>
          <a:p>
            <a:pPr indent="0" marL="0">
              <a:buNone/>
            </a:pPr>
            <a:r>
              <a:rPr lang="en-US" sz="1300" dirty="0">
                <a:solidFill>
                  <a:schemeClr val="tx1"/>
                </a:solidFill>
              </a:rPr>
              <a:t>Simulates fastening (tool, size, torque), but each fastener has no assembly context</a:t>
            </a:r>
            <a:endParaRPr lang="en-US" sz="1300" dirty="0"/>
          </a:p>
        </p:txBody>
      </p:sp>
      <p:sp>
        <p:nvSpPr>
          <p:cNvPr id="14" name="Shape 11"/>
          <p:cNvSpPr/>
          <p:nvPr/>
        </p:nvSpPr>
        <p:spPr>
          <a:xfrm>
            <a:off x="7269480" y="3337560"/>
            <a:ext cx="4373575" cy="1097280"/>
          </a:xfrm>
          <a:prstGeom prst="roundRect">
            <a:avLst>
              <a:gd name="adj" fmla="val 6667"/>
            </a:avLst>
          </a:prstGeom>
          <a:solidFill>
            <a:schemeClr val="bg2"/>
          </a:solidFill>
          <a:ln/>
        </p:spPr>
      </p:sp>
      <p:sp>
        <p:nvSpPr>
          <p:cNvPr id="15" name="Text 12"/>
          <p:cNvSpPr txBox="1"/>
          <p:nvPr/>
        </p:nvSpPr>
        <p:spPr>
          <a:xfrm>
            <a:off x="7406640" y="3410712"/>
            <a:ext cx="4099255" cy="292608"/>
          </a:xfrm>
          <a:prstGeom prst="rect">
            <a:avLst/>
          </a:prstGeom>
          <a:noFill/>
          <a:ln/>
        </p:spPr>
        <p:txBody>
          <a:bodyPr wrap="square" lIns="0" tIns="0" rIns="0" bIns="0" rtlCol="0" anchor="t"/>
          <a:lstStyle/>
          <a:p>
            <a:pPr indent="0" marL="0">
              <a:buNone/>
            </a:pPr>
            <a:r>
              <a:rPr lang="en-US" sz="1400" b="1" dirty="0">
                <a:solidFill>
                  <a:schemeClr val="tx2"/>
                </a:solidFill>
              </a:rPr>
              <a:t>1 · Dispatch on the action field</a:t>
            </a:r>
            <a:endParaRPr lang="en-US" sz="1400" dirty="0"/>
          </a:p>
        </p:txBody>
      </p:sp>
      <p:sp>
        <p:nvSpPr>
          <p:cNvPr id="16" name="Text 13"/>
          <p:cNvSpPr txBox="1"/>
          <p:nvPr/>
        </p:nvSpPr>
        <p:spPr>
          <a:xfrm>
            <a:off x="7406640" y="3721608"/>
            <a:ext cx="4099255" cy="685800"/>
          </a:xfrm>
          <a:prstGeom prst="rect">
            <a:avLst/>
          </a:prstGeom>
          <a:noFill/>
          <a:ln/>
        </p:spPr>
        <p:txBody>
          <a:bodyPr wrap="square" lIns="0" tIns="0" rIns="0" bIns="0" rtlCol="0" anchor="t"/>
          <a:lstStyle/>
          <a:p>
            <a:pPr indent="0" marL="0">
              <a:buNone/>
            </a:pPr>
            <a:r>
              <a:rPr lang="en-US" sz="1300" dirty="0">
                <a:solidFill>
                  <a:schemeClr val="tx1"/>
                </a:solidFill>
              </a:rPr>
              <a:t>place / insert / remove → A’s validation; fasten → B’s mechanic. One task definition = a complete work instruction.</a:t>
            </a:r>
            <a:endParaRPr lang="en-US" sz="1300" dirty="0"/>
          </a:p>
        </p:txBody>
      </p:sp>
      <p:sp>
        <p:nvSpPr>
          <p:cNvPr id="17" name="Shape 14"/>
          <p:cNvSpPr/>
          <p:nvPr/>
        </p:nvSpPr>
        <p:spPr>
          <a:xfrm>
            <a:off x="7269480" y="4572000"/>
            <a:ext cx="4373575" cy="1097280"/>
          </a:xfrm>
          <a:prstGeom prst="roundRect">
            <a:avLst>
              <a:gd name="adj" fmla="val 6667"/>
            </a:avLst>
          </a:prstGeom>
          <a:solidFill>
            <a:schemeClr val="bg2"/>
          </a:solidFill>
          <a:ln/>
        </p:spPr>
      </p:sp>
      <p:sp>
        <p:nvSpPr>
          <p:cNvPr id="18" name="Text 15"/>
          <p:cNvSpPr txBox="1"/>
          <p:nvPr/>
        </p:nvSpPr>
        <p:spPr>
          <a:xfrm>
            <a:off x="7406640" y="4645152"/>
            <a:ext cx="4099255" cy="292608"/>
          </a:xfrm>
          <a:prstGeom prst="rect">
            <a:avLst/>
          </a:prstGeom>
          <a:noFill/>
          <a:ln/>
        </p:spPr>
        <p:txBody>
          <a:bodyPr wrap="square" lIns="0" tIns="0" rIns="0" bIns="0" rtlCol="0" anchor="t"/>
          <a:lstStyle/>
          <a:p>
            <a:pPr indent="0" marL="0">
              <a:buNone/>
            </a:pPr>
            <a:r>
              <a:rPr lang="en-US" sz="1400" b="1" dirty="0">
                <a:solidFill>
                  <a:schemeClr val="tx2"/>
                </a:solidFill>
              </a:rPr>
              <a:t>2 · Shared assessment layer</a:t>
            </a:r>
            <a:endParaRPr lang="en-US" sz="1400" dirty="0"/>
          </a:p>
        </p:txBody>
      </p:sp>
      <p:sp>
        <p:nvSpPr>
          <p:cNvPr id="19" name="Text 16"/>
          <p:cNvSpPr txBox="1"/>
          <p:nvPr/>
        </p:nvSpPr>
        <p:spPr>
          <a:xfrm>
            <a:off x="7406640" y="4956048"/>
            <a:ext cx="4099255" cy="685800"/>
          </a:xfrm>
          <a:prstGeom prst="rect">
            <a:avLst/>
          </a:prstGeom>
          <a:noFill/>
          <a:ln/>
        </p:spPr>
        <p:txBody>
          <a:bodyPr wrap="square" lIns="0" tIns="0" rIns="0" bIns="0" rtlCol="0" anchor="t"/>
          <a:lstStyle/>
          <a:p>
            <a:pPr indent="0" marL="0">
              <a:buNone/>
            </a:pPr>
            <a:r>
              <a:rPr lang="en-US" sz="1300" dirty="0">
                <a:solidFill>
                  <a:schemeClr val="tx1"/>
                </a:solidFill>
              </a:rPr>
              <a:t>Extend B’s grasp-state capture to A’s placement errors, which A currently discards.</a:t>
            </a:r>
            <a:endParaRPr lang="en-US" sz="1300" dirty="0"/>
          </a:p>
        </p:txBody>
      </p:sp>
      <p:sp>
        <p:nvSpPr>
          <p:cNvPr id="20" name="Text 17"/>
          <p:cNvSpPr txBox="1"/>
          <p:nvPr/>
        </p:nvSpPr>
        <p:spPr>
          <a:xfrm>
            <a:off x="7269480" y="5852160"/>
            <a:ext cx="4373575" cy="411480"/>
          </a:xfrm>
          <a:prstGeom prst="rect">
            <a:avLst/>
          </a:prstGeom>
          <a:noFill/>
          <a:ln/>
        </p:spPr>
        <p:txBody>
          <a:bodyPr wrap="square" lIns="0" tIns="0" rIns="0" bIns="0" rtlCol="0" anchor="t"/>
          <a:lstStyle/>
          <a:p>
            <a:pPr indent="0" marL="0">
              <a:buNone/>
            </a:pPr>
            <a:r>
              <a:rPr lang="en-US" sz="1200" i="1" dirty="0">
                <a:solidFill>
                  <a:schemeClr val="accent3"/>
                </a:solidFill>
              </a:rPr>
              <a:t>Both already broadcast state through event interfaces — no change to A’s assembly logic needed.</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CONTRIBUTIONS · IMPLICATIONS · LIMITATIONS</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What this work contributes — and where it stops</a:t>
            </a:r>
            <a:endParaRPr lang="en-US" sz="3000" dirty="0"/>
          </a:p>
        </p:txBody>
      </p:sp>
      <p:sp>
        <p:nvSpPr>
          <p:cNvPr id="4" name="Shape 2"/>
          <p:cNvSpPr/>
          <p:nvPr/>
        </p:nvSpPr>
        <p:spPr>
          <a:xfrm>
            <a:off x="548640" y="1463040"/>
            <a:ext cx="3515258" cy="4709160"/>
          </a:xfrm>
          <a:prstGeom prst="roundRect">
            <a:avLst>
              <a:gd name="adj" fmla="val 2081"/>
            </a:avLst>
          </a:prstGeom>
          <a:solidFill>
            <a:schemeClr val="bg2"/>
          </a:solidFill>
          <a:ln/>
        </p:spPr>
      </p:sp>
      <p:sp>
        <p:nvSpPr>
          <p:cNvPr id="5" name="Shape 3"/>
          <p:cNvSpPr/>
          <p:nvPr/>
        </p:nvSpPr>
        <p:spPr>
          <a:xfrm>
            <a:off x="777240" y="1645920"/>
            <a:ext cx="566928" cy="566928"/>
          </a:xfrm>
          <a:prstGeom prst="ellipse">
            <a:avLst/>
          </a:prstGeom>
          <a:solidFill>
            <a:schemeClr val="tx2"/>
          </a:solidFill>
          <a:ln w="12700">
            <a:solidFill>
              <a:schemeClr val="tx2"/>
            </a:solidFill>
            <a:prstDash val="solid"/>
          </a:ln>
        </p:spPr>
      </p:sp>
      <p:pic>
        <p:nvPicPr>
          <p:cNvPr id="6" name="Image 0" descr="preencoded.png">    </p:cNvPr>
          <p:cNvPicPr>
            <a:picLocks noChangeAspect="1"/>
          </p:cNvPicPr>
          <p:nvPr/>
        </p:nvPicPr>
        <p:blipFill>
          <a:blip r:embed="rId1"/>
          <a:stretch>
            <a:fillRect/>
          </a:stretch>
        </p:blipFill>
        <p:spPr>
          <a:xfrm>
            <a:off x="918972" y="1787652"/>
            <a:ext cx="283464" cy="283464"/>
          </a:xfrm>
          <a:prstGeom prst="rect">
            <a:avLst/>
          </a:prstGeom>
        </p:spPr>
      </p:pic>
      <p:sp>
        <p:nvSpPr>
          <p:cNvPr id="7" name="Text 4"/>
          <p:cNvSpPr txBox="1"/>
          <p:nvPr/>
        </p:nvSpPr>
        <p:spPr>
          <a:xfrm>
            <a:off x="1463040" y="1645920"/>
            <a:ext cx="2463698" cy="566928"/>
          </a:xfrm>
          <a:prstGeom prst="rect">
            <a:avLst/>
          </a:prstGeom>
          <a:noFill/>
          <a:ln/>
        </p:spPr>
        <p:txBody>
          <a:bodyPr wrap="square" lIns="0" tIns="0" rIns="0" bIns="0" rtlCol="0" anchor="ctr"/>
          <a:lstStyle/>
          <a:p>
            <a:pPr indent="0" marL="0">
              <a:buNone/>
            </a:pPr>
            <a:r>
              <a:rPr lang="en-US" sz="1800" b="1" dirty="0">
                <a:solidFill>
                  <a:schemeClr val="tx2"/>
                </a:solidFill>
              </a:rPr>
              <a:t>Contributions</a:t>
            </a:r>
            <a:endParaRPr lang="en-US" sz="1800" dirty="0"/>
          </a:p>
        </p:txBody>
      </p:sp>
      <p:sp>
        <p:nvSpPr>
          <p:cNvPr id="8" name="Text 5"/>
          <p:cNvSpPr txBox="1"/>
          <p:nvPr/>
        </p:nvSpPr>
        <p:spPr>
          <a:xfrm>
            <a:off x="777240" y="2423160"/>
            <a:ext cx="3103778" cy="3611880"/>
          </a:xfrm>
          <a:prstGeom prst="rect">
            <a:avLst/>
          </a:prstGeom>
          <a:noFill/>
          <a:ln/>
        </p:spPr>
        <p:txBody>
          <a:bodyPr wrap="square" lIns="0" tIns="0" rIns="0" bIns="0" rtlCol="0" anchor="t"/>
          <a:lstStyle/>
          <a:p>
            <a:pPr marL="203200" indent="-203200">
              <a:spcAft>
                <a:spcPts val="1600"/>
              </a:spcAft>
              <a:buSzPct val="100000"/>
              <a:buChar char="•"/>
            </a:pPr>
            <a:r>
              <a:rPr lang="en-US" sz="1600" dirty="0">
                <a:solidFill>
                  <a:schemeClr val="tx1"/>
                </a:solidFill>
              </a:rPr>
              <a:t>The framework boundary, made explicit and quantified: 5,186 lines, 21 files</a:t>
            </a:r>
            <a:endParaRPr lang="en-US" sz="1600" dirty="0"/>
          </a:p>
          <a:p>
            <a:pPr marL="203200" indent="-203200">
              <a:spcAft>
                <a:spcPts val="1600"/>
              </a:spcAft>
              <a:buSzPct val="100000"/>
              <a:buChar char="•"/>
            </a:pPr>
            <a:r>
              <a:rPr lang="en-US" sz="1600" dirty="0">
                <a:solidFill>
                  <a:schemeClr val="tx1"/>
                </a:solidFill>
              </a:rPr>
              <a:t>A side-by-side comparison of design decisions taken independently on one platform</a:t>
            </a:r>
            <a:endParaRPr lang="en-US" sz="1600" dirty="0"/>
          </a:p>
          <a:p>
            <a:pPr marL="203200" indent="-203200">
              <a:spcAft>
                <a:spcPts val="1600"/>
              </a:spcAft>
              <a:buSzPct val="100000"/>
              <a:buChar char="•"/>
            </a:pPr>
            <a:r>
              <a:rPr lang="en-US" sz="1600" dirty="0">
                <a:solidFill>
                  <a:schemeClr val="tx1"/>
                </a:solidFill>
              </a:rPr>
              <a:t>Verification methods for when interaction cannot be exercised off-device</a:t>
            </a:r>
            <a:endParaRPr lang="en-US" sz="1600" dirty="0"/>
          </a:p>
        </p:txBody>
      </p:sp>
      <p:sp>
        <p:nvSpPr>
          <p:cNvPr id="9" name="Shape 6"/>
          <p:cNvSpPr/>
          <p:nvPr/>
        </p:nvSpPr>
        <p:spPr>
          <a:xfrm>
            <a:off x="4338218" y="1463040"/>
            <a:ext cx="3515258" cy="4709160"/>
          </a:xfrm>
          <a:prstGeom prst="roundRect">
            <a:avLst>
              <a:gd name="adj" fmla="val 2081"/>
            </a:avLst>
          </a:prstGeom>
          <a:solidFill>
            <a:schemeClr val="bg2"/>
          </a:solidFill>
          <a:ln/>
        </p:spPr>
      </p:sp>
      <p:sp>
        <p:nvSpPr>
          <p:cNvPr id="10" name="Shape 7"/>
          <p:cNvSpPr/>
          <p:nvPr/>
        </p:nvSpPr>
        <p:spPr>
          <a:xfrm>
            <a:off x="4566818" y="1645920"/>
            <a:ext cx="566928" cy="566928"/>
          </a:xfrm>
          <a:prstGeom prst="ellipse">
            <a:avLst/>
          </a:prstGeom>
          <a:solidFill>
            <a:schemeClr val="accent2"/>
          </a:solidFill>
          <a:ln w="12700">
            <a:solidFill>
              <a:schemeClr val="accent2"/>
            </a:solidFill>
            <a:prstDash val="solid"/>
          </a:ln>
        </p:spPr>
      </p:sp>
      <p:pic>
        <p:nvPicPr>
          <p:cNvPr id="11" name="Image 1" descr="preencoded.png">    </p:cNvPr>
          <p:cNvPicPr>
            <a:picLocks noChangeAspect="1"/>
          </p:cNvPicPr>
          <p:nvPr/>
        </p:nvPicPr>
        <p:blipFill>
          <a:blip r:embed="rId2"/>
          <a:stretch>
            <a:fillRect/>
          </a:stretch>
        </p:blipFill>
        <p:spPr>
          <a:xfrm>
            <a:off x="4708550" y="1787652"/>
            <a:ext cx="283464" cy="283464"/>
          </a:xfrm>
          <a:prstGeom prst="rect">
            <a:avLst/>
          </a:prstGeom>
        </p:spPr>
      </p:pic>
      <p:sp>
        <p:nvSpPr>
          <p:cNvPr id="12" name="Text 8"/>
          <p:cNvSpPr txBox="1"/>
          <p:nvPr/>
        </p:nvSpPr>
        <p:spPr>
          <a:xfrm>
            <a:off x="5252618" y="1645920"/>
            <a:ext cx="2463698" cy="566928"/>
          </a:xfrm>
          <a:prstGeom prst="rect">
            <a:avLst/>
          </a:prstGeom>
          <a:noFill/>
          <a:ln/>
        </p:spPr>
        <p:txBody>
          <a:bodyPr wrap="square" lIns="0" tIns="0" rIns="0" bIns="0" rtlCol="0" anchor="ctr"/>
          <a:lstStyle/>
          <a:p>
            <a:pPr indent="0" marL="0">
              <a:buNone/>
            </a:pPr>
            <a:r>
              <a:rPr lang="en-US" sz="1800" b="1" dirty="0">
                <a:solidFill>
                  <a:schemeClr val="accent2"/>
                </a:solidFill>
              </a:rPr>
              <a:t>Practical implications</a:t>
            </a:r>
            <a:endParaRPr lang="en-US" sz="1800" dirty="0"/>
          </a:p>
        </p:txBody>
      </p:sp>
      <p:sp>
        <p:nvSpPr>
          <p:cNvPr id="13" name="Text 9"/>
          <p:cNvSpPr txBox="1"/>
          <p:nvPr/>
        </p:nvSpPr>
        <p:spPr>
          <a:xfrm>
            <a:off x="4566818" y="2423160"/>
            <a:ext cx="3103778" cy="3611880"/>
          </a:xfrm>
          <a:prstGeom prst="rect">
            <a:avLst/>
          </a:prstGeom>
          <a:noFill/>
          <a:ln/>
        </p:spPr>
        <p:txBody>
          <a:bodyPr wrap="square" lIns="0" tIns="0" rIns="0" bIns="0" rtlCol="0" anchor="t"/>
          <a:lstStyle/>
          <a:p>
            <a:pPr marL="203200" indent="-203200">
              <a:spcAft>
                <a:spcPts val="1600"/>
              </a:spcAft>
              <a:buSzPct val="100000"/>
              <a:buChar char="•"/>
            </a:pPr>
            <a:r>
              <a:rPr lang="en-US" sz="1600" dirty="0">
                <a:solidFill>
                  <a:schemeClr val="tx1"/>
                </a:solidFill>
              </a:rPr>
              <a:t>Plan for the training layer: task, validation, guidance and assessment are written, not configured</a:t>
            </a:r>
            <a:endParaRPr lang="en-US" sz="1600" dirty="0"/>
          </a:p>
          <a:p>
            <a:pPr marL="203200" indent="-203200">
              <a:spcAft>
                <a:spcPts val="1600"/>
              </a:spcAft>
              <a:buSzPct val="100000"/>
              <a:buChar char="•"/>
            </a:pPr>
            <a:r>
              <a:rPr lang="en-US" sz="1600" dirty="0">
                <a:solidFill>
                  <a:schemeClr val="tx1"/>
                </a:solidFill>
              </a:rPr>
              <a:t>Derive the task specification from the scene, so product revisions and rack changes do not become false trainee errors</a:t>
            </a:r>
            <a:endParaRPr lang="en-US" sz="1600" dirty="0"/>
          </a:p>
          <a:p>
            <a:pPr marL="203200" indent="-203200">
              <a:spcAft>
                <a:spcPts val="1600"/>
              </a:spcAft>
              <a:buSzPct val="100000"/>
              <a:buChar char="•"/>
            </a:pPr>
            <a:r>
              <a:rPr lang="en-US" sz="1600" dirty="0">
                <a:solidFill>
                  <a:schemeClr val="tx1"/>
                </a:solidFill>
              </a:rPr>
              <a:t>Seeded generation lets every session be checked without a headset</a:t>
            </a:r>
            <a:endParaRPr lang="en-US" sz="1600" dirty="0"/>
          </a:p>
        </p:txBody>
      </p:sp>
      <p:sp>
        <p:nvSpPr>
          <p:cNvPr id="14" name="Shape 10"/>
          <p:cNvSpPr/>
          <p:nvPr/>
        </p:nvSpPr>
        <p:spPr>
          <a:xfrm>
            <a:off x="8127797" y="1463040"/>
            <a:ext cx="3515258" cy="4709160"/>
          </a:xfrm>
          <a:prstGeom prst="roundRect">
            <a:avLst>
              <a:gd name="adj" fmla="val 2081"/>
            </a:avLst>
          </a:prstGeom>
          <a:solidFill>
            <a:schemeClr val="bg2"/>
          </a:solidFill>
          <a:ln/>
        </p:spPr>
      </p:sp>
      <p:sp>
        <p:nvSpPr>
          <p:cNvPr id="15" name="Shape 11"/>
          <p:cNvSpPr/>
          <p:nvPr/>
        </p:nvSpPr>
        <p:spPr>
          <a:xfrm>
            <a:off x="8356397" y="1645920"/>
            <a:ext cx="566928" cy="566928"/>
          </a:xfrm>
          <a:prstGeom prst="ellipse">
            <a:avLst/>
          </a:prstGeom>
          <a:solidFill>
            <a:schemeClr val="accent4"/>
          </a:solidFill>
          <a:ln w="12700">
            <a:solidFill>
              <a:schemeClr val="accent4"/>
            </a:solidFill>
            <a:prstDash val="solid"/>
          </a:ln>
        </p:spPr>
      </p:sp>
      <p:pic>
        <p:nvPicPr>
          <p:cNvPr id="16" name="Image 2" descr="preencoded.png">    </p:cNvPr>
          <p:cNvPicPr>
            <a:picLocks noChangeAspect="1"/>
          </p:cNvPicPr>
          <p:nvPr/>
        </p:nvPicPr>
        <p:blipFill>
          <a:blip r:embed="rId3"/>
          <a:stretch>
            <a:fillRect/>
          </a:stretch>
        </p:blipFill>
        <p:spPr>
          <a:xfrm>
            <a:off x="8498129" y="1787652"/>
            <a:ext cx="283464" cy="283464"/>
          </a:xfrm>
          <a:prstGeom prst="rect">
            <a:avLst/>
          </a:prstGeom>
        </p:spPr>
      </p:pic>
      <p:sp>
        <p:nvSpPr>
          <p:cNvPr id="17" name="Text 12"/>
          <p:cNvSpPr txBox="1"/>
          <p:nvPr/>
        </p:nvSpPr>
        <p:spPr>
          <a:xfrm>
            <a:off x="9042197" y="1645920"/>
            <a:ext cx="2463698" cy="566928"/>
          </a:xfrm>
          <a:prstGeom prst="rect">
            <a:avLst/>
          </a:prstGeom>
          <a:noFill/>
          <a:ln/>
        </p:spPr>
        <p:txBody>
          <a:bodyPr wrap="square" lIns="0" tIns="0" rIns="0" bIns="0" rtlCol="0" anchor="ctr"/>
          <a:lstStyle/>
          <a:p>
            <a:pPr indent="0" marL="0">
              <a:buNone/>
            </a:pPr>
            <a:r>
              <a:rPr lang="en-US" sz="1800" b="1" dirty="0">
                <a:solidFill>
                  <a:schemeClr val="accent4"/>
                </a:solidFill>
              </a:rPr>
              <a:t>Limitations</a:t>
            </a:r>
            <a:endParaRPr lang="en-US" sz="1800" dirty="0"/>
          </a:p>
        </p:txBody>
      </p:sp>
      <p:sp>
        <p:nvSpPr>
          <p:cNvPr id="18" name="Text 13"/>
          <p:cNvSpPr txBox="1"/>
          <p:nvPr/>
        </p:nvSpPr>
        <p:spPr>
          <a:xfrm>
            <a:off x="8356397" y="2423160"/>
            <a:ext cx="3103778" cy="3611880"/>
          </a:xfrm>
          <a:prstGeom prst="rect">
            <a:avLst/>
          </a:prstGeom>
          <a:noFill/>
          <a:ln/>
        </p:spPr>
        <p:txBody>
          <a:bodyPr wrap="square" lIns="0" tIns="0" rIns="0" bIns="0" rtlCol="0" anchor="t"/>
          <a:lstStyle/>
          <a:p>
            <a:pPr marL="203200" indent="-203200">
              <a:spcAft>
                <a:spcPts val="1600"/>
              </a:spcAft>
              <a:buSzPct val="100000"/>
              <a:buChar char="•"/>
            </a:pPr>
            <a:r>
              <a:rPr lang="en-US" sz="1600" dirty="0">
                <a:solidFill>
                  <a:schemeClr val="tx1"/>
                </a:solidFill>
              </a:rPr>
              <a:t>No user study: no claim on learning outcome, skill acquisition or transfer</a:t>
            </a:r>
            <a:endParaRPr lang="en-US" sz="1600" dirty="0"/>
          </a:p>
          <a:p>
            <a:pPr marL="203200" indent="-203200">
              <a:spcAft>
                <a:spcPts val="1600"/>
              </a:spcAft>
              <a:buSzPct val="100000"/>
              <a:buChar char="•"/>
            </a:pPr>
            <a:r>
              <a:rPr lang="en-US" sz="1600" dirty="0">
                <a:solidFill>
                  <a:schemeClr val="tx1"/>
                </a:solidFill>
              </a:rPr>
              <a:t>Evidence from two systems, two developers, one platform</a:t>
            </a:r>
            <a:endParaRPr lang="en-US" sz="1600" dirty="0"/>
          </a:p>
          <a:p>
            <a:pPr marL="203200" indent="-203200">
              <a:spcAft>
                <a:spcPts val="1600"/>
              </a:spcAft>
              <a:buSzPct val="100000"/>
              <a:buChar char="•"/>
            </a:pPr>
            <a:r>
              <a:rPr lang="en-US" sz="1600" dirty="0">
                <a:solidFill>
                  <a:schemeClr val="tx1"/>
                </a:solidFill>
              </a:rPr>
              <a:t>The integration is a proposal only; System A records no assessment data</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CONCLUSION &amp; FUTURE WORK</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Conclusion and future work</a:t>
            </a:r>
            <a:endParaRPr lang="en-US" sz="3000" dirty="0"/>
          </a:p>
        </p:txBody>
      </p:sp>
      <p:sp>
        <p:nvSpPr>
          <p:cNvPr id="4" name="Text 2"/>
          <p:cNvSpPr txBox="1"/>
          <p:nvPr/>
        </p:nvSpPr>
        <p:spPr>
          <a:xfrm>
            <a:off x="548640" y="1463040"/>
            <a:ext cx="6035040" cy="365760"/>
          </a:xfrm>
          <a:prstGeom prst="rect">
            <a:avLst/>
          </a:prstGeom>
          <a:noFill/>
          <a:ln/>
        </p:spPr>
        <p:txBody>
          <a:bodyPr wrap="square" lIns="0" tIns="0" rIns="0" bIns="0" rtlCol="0" anchor="t"/>
          <a:lstStyle/>
          <a:p>
            <a:pPr indent="0" marL="0">
              <a:buNone/>
            </a:pPr>
            <a:r>
              <a:rPr lang="en-US" sz="1700" b="1" dirty="0">
                <a:solidFill>
                  <a:schemeClr val="accent5"/>
                </a:solidFill>
              </a:rPr>
              <a:t>All four objectives addressed</a:t>
            </a:r>
            <a:endParaRPr lang="en-US" sz="1700" dirty="0"/>
          </a:p>
        </p:txBody>
      </p:sp>
      <p:sp>
        <p:nvSpPr>
          <p:cNvPr id="5" name="Shape 3"/>
          <p:cNvSpPr/>
          <p:nvPr/>
        </p:nvSpPr>
        <p:spPr>
          <a:xfrm>
            <a:off x="548640" y="1965960"/>
            <a:ext cx="411480" cy="411480"/>
          </a:xfrm>
          <a:prstGeom prst="ellipse">
            <a:avLst/>
          </a:prstGeom>
          <a:solidFill>
            <a:schemeClr val="accent1"/>
          </a:solidFill>
          <a:ln w="12700">
            <a:solidFill>
              <a:schemeClr val="accent1"/>
            </a:solidFill>
            <a:prstDash val="solid"/>
          </a:ln>
        </p:spPr>
      </p:sp>
      <p:sp>
        <p:nvSpPr>
          <p:cNvPr id="6" name="Text 4"/>
          <p:cNvSpPr txBox="1"/>
          <p:nvPr/>
        </p:nvSpPr>
        <p:spPr>
          <a:xfrm>
            <a:off x="548640" y="196596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1143000" y="1929384"/>
            <a:ext cx="5486400" cy="777240"/>
          </a:xfrm>
          <a:prstGeom prst="rect">
            <a:avLst/>
          </a:prstGeom>
          <a:noFill/>
          <a:ln/>
        </p:spPr>
        <p:txBody>
          <a:bodyPr wrap="square" lIns="0" tIns="0" rIns="0" bIns="0" rtlCol="0" anchor="t"/>
          <a:lstStyle/>
          <a:p>
            <a:pPr indent="0" marL="0">
              <a:buNone/>
            </a:pPr>
            <a:r>
              <a:rPr lang="en-US" sz="1400" dirty="0">
                <a:solidFill>
                  <a:schemeClr val="bg1"/>
                </a:solidFill>
              </a:rPr>
              <a:t>Both trainers described by task model, validation, guidance and assessment (Sec. 3.2–3.3)</a:t>
            </a:r>
            <a:endParaRPr lang="en-US" sz="1400" dirty="0"/>
          </a:p>
        </p:txBody>
      </p:sp>
      <p:sp>
        <p:nvSpPr>
          <p:cNvPr id="8" name="Shape 6"/>
          <p:cNvSpPr/>
          <p:nvPr/>
        </p:nvSpPr>
        <p:spPr>
          <a:xfrm>
            <a:off x="548640" y="2834640"/>
            <a:ext cx="411480" cy="411480"/>
          </a:xfrm>
          <a:prstGeom prst="ellipse">
            <a:avLst/>
          </a:prstGeom>
          <a:solidFill>
            <a:schemeClr val="accent1"/>
          </a:solidFill>
          <a:ln w="12700">
            <a:solidFill>
              <a:schemeClr val="accent1"/>
            </a:solidFill>
            <a:prstDash val="solid"/>
          </a:ln>
        </p:spPr>
      </p:sp>
      <p:sp>
        <p:nvSpPr>
          <p:cNvPr id="9" name="Text 7"/>
          <p:cNvSpPr txBox="1"/>
          <p:nvPr/>
        </p:nvSpPr>
        <p:spPr>
          <a:xfrm>
            <a:off x="548640" y="283464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8"/>
          <p:cNvSpPr txBox="1"/>
          <p:nvPr/>
        </p:nvSpPr>
        <p:spPr>
          <a:xfrm>
            <a:off x="1143000" y="2798064"/>
            <a:ext cx="5486400" cy="777240"/>
          </a:xfrm>
          <a:prstGeom prst="rect">
            <a:avLst/>
          </a:prstGeom>
          <a:noFill/>
          <a:ln/>
        </p:spPr>
        <p:txBody>
          <a:bodyPr wrap="square" lIns="0" tIns="0" rIns="0" bIns="0" rtlCol="0" anchor="t"/>
          <a:lstStyle/>
          <a:p>
            <a:pPr indent="0" marL="0">
              <a:buNone/>
            </a:pPr>
            <a:r>
              <a:rPr lang="en-US" sz="1400" dirty="0">
                <a:solidFill>
                  <a:schemeClr val="bg1"/>
                </a:solidFill>
              </a:rPr>
              <a:t>Framework supplies interaction; the training layer took 5,186 lines in 21 files (Sec. 3.4)</a:t>
            </a:r>
            <a:endParaRPr lang="en-US" sz="1400" dirty="0"/>
          </a:p>
        </p:txBody>
      </p:sp>
      <p:sp>
        <p:nvSpPr>
          <p:cNvPr id="11" name="Shape 9"/>
          <p:cNvSpPr/>
          <p:nvPr/>
        </p:nvSpPr>
        <p:spPr>
          <a:xfrm>
            <a:off x="548640" y="3703320"/>
            <a:ext cx="411480" cy="411480"/>
          </a:xfrm>
          <a:prstGeom prst="ellipse">
            <a:avLst/>
          </a:prstGeom>
          <a:solidFill>
            <a:schemeClr val="accent1"/>
          </a:solidFill>
          <a:ln w="12700">
            <a:solidFill>
              <a:schemeClr val="accent1"/>
            </a:solidFill>
            <a:prstDash val="solid"/>
          </a:ln>
        </p:spPr>
      </p:sp>
      <p:sp>
        <p:nvSpPr>
          <p:cNvPr id="12" name="Text 10"/>
          <p:cNvSpPr txBox="1"/>
          <p:nvPr/>
        </p:nvSpPr>
        <p:spPr>
          <a:xfrm>
            <a:off x="548640" y="370332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Text 11"/>
          <p:cNvSpPr txBox="1"/>
          <p:nvPr/>
        </p:nvSpPr>
        <p:spPr>
          <a:xfrm>
            <a:off x="1143000" y="3666744"/>
            <a:ext cx="5486400" cy="777240"/>
          </a:xfrm>
          <a:prstGeom prst="rect">
            <a:avLst/>
          </a:prstGeom>
          <a:noFill/>
          <a:ln/>
        </p:spPr>
        <p:txBody>
          <a:bodyPr wrap="square" lIns="0" tIns="0" rIns="0" bIns="0" rtlCol="0" anchor="t"/>
          <a:lstStyle/>
          <a:p>
            <a:pPr indent="0" marL="0">
              <a:buNone/>
            </a:pPr>
            <a:r>
              <a:rPr lang="en-US" sz="1400" dirty="0">
                <a:solidFill>
                  <a:schemeClr val="bg1"/>
                </a:solidFill>
              </a:rPr>
              <a:t>Shared principle: derive the task specification from the scene (Sec. 5.1)</a:t>
            </a:r>
            <a:endParaRPr lang="en-US" sz="1400" dirty="0"/>
          </a:p>
        </p:txBody>
      </p:sp>
      <p:sp>
        <p:nvSpPr>
          <p:cNvPr id="14" name="Shape 12"/>
          <p:cNvSpPr/>
          <p:nvPr/>
        </p:nvSpPr>
        <p:spPr>
          <a:xfrm>
            <a:off x="548640" y="4572000"/>
            <a:ext cx="411480" cy="411480"/>
          </a:xfrm>
          <a:prstGeom prst="ellipse">
            <a:avLst/>
          </a:prstGeom>
          <a:solidFill>
            <a:schemeClr val="accent1"/>
          </a:solidFill>
          <a:ln w="12700">
            <a:solidFill>
              <a:schemeClr val="accent1"/>
            </a:solidFill>
            <a:prstDash val="solid"/>
          </a:ln>
        </p:spPr>
      </p:sp>
      <p:sp>
        <p:nvSpPr>
          <p:cNvPr id="15" name="Text 13"/>
          <p:cNvSpPr txBox="1"/>
          <p:nvPr/>
        </p:nvSpPr>
        <p:spPr>
          <a:xfrm>
            <a:off x="548640" y="457200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6" name="Text 14"/>
          <p:cNvSpPr txBox="1"/>
          <p:nvPr/>
        </p:nvSpPr>
        <p:spPr>
          <a:xfrm>
            <a:off x="1143000" y="4535424"/>
            <a:ext cx="5486400" cy="777240"/>
          </a:xfrm>
          <a:prstGeom prst="rect">
            <a:avLst/>
          </a:prstGeom>
          <a:noFill/>
          <a:ln/>
        </p:spPr>
        <p:txBody>
          <a:bodyPr wrap="square" lIns="0" tIns="0" rIns="0" bIns="0" rtlCol="0" anchor="t"/>
          <a:lstStyle/>
          <a:p>
            <a:pPr indent="0" marL="0">
              <a:buNone/>
            </a:pPr>
            <a:r>
              <a:rPr lang="en-US" sz="1400" dirty="0">
                <a:solidFill>
                  <a:schemeClr val="bg1"/>
                </a:solidFill>
              </a:rPr>
              <a:t>Device-free verification: 685 generated jobs checked headlessly (Sec. 3.6, 5.4)</a:t>
            </a:r>
            <a:endParaRPr lang="en-US" sz="1400" dirty="0"/>
          </a:p>
        </p:txBody>
      </p:sp>
      <p:sp>
        <p:nvSpPr>
          <p:cNvPr id="17" name="Shape 15"/>
          <p:cNvSpPr/>
          <p:nvPr/>
        </p:nvSpPr>
        <p:spPr>
          <a:xfrm>
            <a:off x="7086600" y="1463040"/>
            <a:ext cx="4556455" cy="2834640"/>
          </a:xfrm>
          <a:prstGeom prst="roundRect">
            <a:avLst>
              <a:gd name="adj" fmla="val 2581"/>
            </a:avLst>
          </a:prstGeom>
          <a:solidFill>
            <a:schemeClr val="bg1">
              <a:alpha val="10000"/>
            </a:schemeClr>
          </a:solidFill>
          <a:ln/>
        </p:spPr>
      </p:sp>
      <p:sp>
        <p:nvSpPr>
          <p:cNvPr id="18" name="Text 16"/>
          <p:cNvSpPr txBox="1"/>
          <p:nvPr/>
        </p:nvSpPr>
        <p:spPr>
          <a:xfrm>
            <a:off x="7315200" y="1600200"/>
            <a:ext cx="4099255" cy="594360"/>
          </a:xfrm>
          <a:prstGeom prst="rect">
            <a:avLst/>
          </a:prstGeom>
          <a:noFill/>
          <a:ln/>
        </p:spPr>
        <p:txBody>
          <a:bodyPr wrap="square" lIns="0" tIns="0" rIns="0" bIns="0" rtlCol="0" anchor="t"/>
          <a:lstStyle/>
          <a:p>
            <a:pPr indent="0" marL="0">
              <a:buNone/>
            </a:pPr>
            <a:r>
              <a:rPr lang="en-US" sz="1500" b="1" dirty="0">
                <a:solidFill>
                  <a:schemeClr val="accent5"/>
                </a:solidFill>
              </a:rPr>
              <a:t>Next steps (from the stated proposals and limitations)</a:t>
            </a:r>
            <a:endParaRPr lang="en-US" sz="1500" dirty="0"/>
          </a:p>
        </p:txBody>
      </p:sp>
      <p:sp>
        <p:nvSpPr>
          <p:cNvPr id="19" name="Text 17"/>
          <p:cNvSpPr txBox="1"/>
          <p:nvPr/>
        </p:nvSpPr>
        <p:spPr>
          <a:xfrm>
            <a:off x="7315200" y="2240280"/>
            <a:ext cx="4099255" cy="196596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chemeClr val="bg1"/>
                </a:solidFill>
              </a:rPr>
              <a:t>Implement action-field dispatch: one work instruction spanning placement and fastening</a:t>
            </a:r>
            <a:endParaRPr lang="en-US" sz="1400" dirty="0"/>
          </a:p>
          <a:p>
            <a:pPr marL="203200" indent="-203200">
              <a:spcAft>
                <a:spcPts val="1000"/>
              </a:spcAft>
              <a:buSzPct val="100000"/>
              <a:buChar char="•"/>
            </a:pPr>
            <a:r>
              <a:rPr lang="en-US" sz="1400" dirty="0">
                <a:solidFill>
                  <a:schemeClr val="bg1"/>
                </a:solidFill>
              </a:rPr>
              <a:t>Extend grasp-state assessment to System A’s placement errors</a:t>
            </a:r>
            <a:endParaRPr lang="en-US" sz="1400" dirty="0"/>
          </a:p>
          <a:p>
            <a:pPr marL="203200" indent="-203200">
              <a:spcAft>
                <a:spcPts val="1000"/>
              </a:spcAft>
              <a:buSzPct val="100000"/>
              <a:buChar char="•"/>
            </a:pPr>
            <a:r>
              <a:rPr lang="en-US" sz="1400" dirty="0">
                <a:solidFill>
                  <a:schemeClr val="bg1"/>
                </a:solidFill>
              </a:rPr>
              <a:t>User study to measure learning outcome and transfer</a:t>
            </a:r>
            <a:endParaRPr lang="en-US" sz="1400" dirty="0"/>
          </a:p>
        </p:txBody>
      </p:sp>
      <p:sp>
        <p:nvSpPr>
          <p:cNvPr id="20" name="Text 18"/>
          <p:cNvSpPr txBox="1"/>
          <p:nvPr/>
        </p:nvSpPr>
        <p:spPr>
          <a:xfrm>
            <a:off x="548640" y="5440680"/>
            <a:ext cx="11094415" cy="731520"/>
          </a:xfrm>
          <a:prstGeom prst="rect">
            <a:avLst/>
          </a:prstGeom>
          <a:noFill/>
          <a:ln/>
        </p:spPr>
        <p:txBody>
          <a:bodyPr wrap="square" lIns="0" tIns="0" rIns="0" bIns="0" rtlCol="0" anchor="ctr"/>
          <a:lstStyle/>
          <a:p>
            <a:pPr indent="0" marL="0">
              <a:buNone/>
            </a:pPr>
            <a:r>
              <a:rPr lang="en-US" sz="1900" i="1" dirty="0">
                <a:solidFill>
                  <a:schemeClr val="bg1"/>
                </a:solidFill>
                <a:latin typeface="Cambria" pitchFamily="34" charset="0"/>
                <a:ea typeface="Cambria" pitchFamily="34" charset="-122"/>
                <a:cs typeface="Cambria" pitchFamily="34" charset="-120"/>
              </a:rPr>
              <a:t>Interaction can now be configured. The competency trainer — task, validation, guidance, assessment — still has to be written.</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280160"/>
            <a:ext cx="11094415" cy="1188720"/>
          </a:xfrm>
          <a:prstGeom prst="rect">
            <a:avLst/>
          </a:prstGeom>
          <a:noFill/>
          <a:ln/>
        </p:spPr>
        <p:txBody>
          <a:bodyPr wrap="square" lIns="0" tIns="0" rIns="0" bIns="0" rtlCol="0" anchor="ctr"/>
          <a:lstStyle/>
          <a:p>
            <a:pPr indent="0" marL="0">
              <a:buNone/>
            </a:pPr>
            <a:r>
              <a:rPr lang="en-US" sz="4800" b="1" dirty="0">
                <a:solidFill>
                  <a:schemeClr val="bg1"/>
                </a:solidFill>
                <a:latin typeface="Cambria" pitchFamily="34" charset="0"/>
                <a:ea typeface="Cambria" pitchFamily="34" charset="-122"/>
                <a:cs typeface="Cambria" pitchFamily="34" charset="-120"/>
              </a:rPr>
              <a:t>Thank you — Questions?</a:t>
            </a:r>
            <a:endParaRPr lang="en-US" sz="4800" dirty="0"/>
          </a:p>
        </p:txBody>
      </p:sp>
      <p:sp>
        <p:nvSpPr>
          <p:cNvPr id="3" name="Text 1"/>
          <p:cNvSpPr txBox="1"/>
          <p:nvPr/>
        </p:nvSpPr>
        <p:spPr>
          <a:xfrm>
            <a:off x="548640" y="2926080"/>
            <a:ext cx="11094415" cy="365760"/>
          </a:xfrm>
          <a:prstGeom prst="rect">
            <a:avLst/>
          </a:prstGeom>
          <a:noFill/>
          <a:ln/>
        </p:spPr>
        <p:txBody>
          <a:bodyPr wrap="square" lIns="0" tIns="0" rIns="0" bIns="0" rtlCol="0" anchor="t"/>
          <a:lstStyle/>
          <a:p>
            <a:pPr indent="0" marL="0">
              <a:buNone/>
            </a:pPr>
            <a:r>
              <a:rPr lang="en-US" sz="1500" b="1" dirty="0">
                <a:solidFill>
                  <a:schemeClr val="accent5"/>
                </a:solidFill>
              </a:rPr>
              <a:t>Acknowledgement</a:t>
            </a:r>
            <a:endParaRPr lang="en-US" sz="1500" dirty="0"/>
          </a:p>
        </p:txBody>
      </p:sp>
      <p:sp>
        <p:nvSpPr>
          <p:cNvPr id="4" name="Text 2"/>
          <p:cNvSpPr txBox="1"/>
          <p:nvPr/>
        </p:nvSpPr>
        <p:spPr>
          <a:xfrm>
            <a:off x="548640" y="3337560"/>
            <a:ext cx="8686800" cy="914400"/>
          </a:xfrm>
          <a:prstGeom prst="rect">
            <a:avLst/>
          </a:prstGeom>
          <a:noFill/>
          <a:ln/>
        </p:spPr>
        <p:txBody>
          <a:bodyPr wrap="square" lIns="0" tIns="0" rIns="0" bIns="0" rtlCol="0" anchor="t"/>
          <a:lstStyle/>
          <a:p>
            <a:pPr indent="0" marL="0">
              <a:buNone/>
            </a:pPr>
            <a:r>
              <a:rPr lang="en-US" sz="1500" dirty="0">
                <a:solidFill>
                  <a:schemeClr val="bg1"/>
                </a:solidFill>
              </a:rPr>
              <a:t>The authors thank the ASEAN collaborative project between the Department of Mechanical Engineering, National Institute of Technology Warangal, and Universiti Malaysia Pahang Al-Sultan Abdullah, under which part of this work was undertaken.</a:t>
            </a:r>
            <a:endParaRPr lang="en-US" sz="1500" dirty="0"/>
          </a:p>
        </p:txBody>
      </p:sp>
      <p:sp>
        <p:nvSpPr>
          <p:cNvPr id="5" name="Text 3"/>
          <p:cNvSpPr txBox="1"/>
          <p:nvPr/>
        </p:nvSpPr>
        <p:spPr>
          <a:xfrm>
            <a:off x="548640" y="4572000"/>
            <a:ext cx="11094415" cy="365760"/>
          </a:xfrm>
          <a:prstGeom prst="rect">
            <a:avLst/>
          </a:prstGeom>
          <a:noFill/>
          <a:ln/>
        </p:spPr>
        <p:txBody>
          <a:bodyPr wrap="square" lIns="0" tIns="0" rIns="0" bIns="0" rtlCol="0" anchor="t"/>
          <a:lstStyle/>
          <a:p>
            <a:pPr indent="0" marL="0">
              <a:buNone/>
            </a:pPr>
            <a:r>
              <a:rPr lang="en-US" sz="1500" b="1" dirty="0">
                <a:solidFill>
                  <a:schemeClr val="accent5"/>
                </a:solidFill>
              </a:rPr>
              <a:t>Contact</a:t>
            </a:r>
            <a:endParaRPr lang="en-US" sz="1500" dirty="0"/>
          </a:p>
        </p:txBody>
      </p:sp>
      <p:sp>
        <p:nvSpPr>
          <p:cNvPr id="6" name="Text 4"/>
          <p:cNvSpPr txBox="1"/>
          <p:nvPr/>
        </p:nvSpPr>
        <p:spPr>
          <a:xfrm>
            <a:off x="548640" y="4983480"/>
            <a:ext cx="11094415" cy="365760"/>
          </a:xfrm>
          <a:prstGeom prst="rect">
            <a:avLst/>
          </a:prstGeom>
          <a:noFill/>
          <a:ln/>
        </p:spPr>
        <p:txBody>
          <a:bodyPr wrap="square" lIns="0" tIns="0" rIns="0" bIns="0" rtlCol="0" anchor="t"/>
          <a:lstStyle/>
          <a:p>
            <a:pPr indent="0" marL="0">
              <a:buNone/>
            </a:pPr>
            <a:r>
              <a:rPr lang="en-US" sz="1500" dirty="0">
                <a:solidFill>
                  <a:schemeClr val="bg1"/>
                </a:solidFill>
              </a:rPr>
              <a:t>vasu@nitw.ac.in   ·   bn25mem3r03@student.nitw.ac.in   ·   mulahruthik2000@gmail.com</a:t>
            </a:r>
            <a:endParaRPr lang="en-US" sz="1500" dirty="0"/>
          </a:p>
        </p:txBody>
      </p:sp>
      <p:sp>
        <p:nvSpPr>
          <p:cNvPr id="7" name="Shape 5"/>
          <p:cNvSpPr/>
          <p:nvPr/>
        </p:nvSpPr>
        <p:spPr>
          <a:xfrm>
            <a:off x="9966960" y="4480560"/>
            <a:ext cx="731520" cy="731520"/>
          </a:xfrm>
          <a:prstGeom prst="ellipse">
            <a:avLst/>
          </a:prstGeom>
          <a:solidFill>
            <a:schemeClr val="accent1"/>
          </a:solidFill>
          <a:ln w="12700">
            <a:solidFill>
              <a:schemeClr val="accent1"/>
            </a:solidFill>
            <a:prstDash val="solid"/>
          </a:ln>
        </p:spPr>
      </p:sp>
      <p:sp>
        <p:nvSpPr>
          <p:cNvPr id="8" name="Text 6"/>
          <p:cNvSpPr txBox="1"/>
          <p:nvPr/>
        </p:nvSpPr>
        <p:spPr>
          <a:xfrm>
            <a:off x="9966960" y="448056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A</a:t>
            </a:r>
            <a:endParaRPr lang="en-US" sz="2600" dirty="0"/>
          </a:p>
        </p:txBody>
      </p:sp>
      <p:sp>
        <p:nvSpPr>
          <p:cNvPr id="9" name="Shape 7"/>
          <p:cNvSpPr/>
          <p:nvPr/>
        </p:nvSpPr>
        <p:spPr>
          <a:xfrm>
            <a:off x="10835640" y="4480560"/>
            <a:ext cx="731520" cy="731520"/>
          </a:xfrm>
          <a:prstGeom prst="ellipse">
            <a:avLst/>
          </a:prstGeom>
          <a:solidFill>
            <a:schemeClr val="accent2"/>
          </a:solidFill>
          <a:ln w="12700">
            <a:solidFill>
              <a:schemeClr val="accent2"/>
            </a:solidFill>
            <a:prstDash val="solid"/>
          </a:ln>
        </p:spPr>
      </p:sp>
      <p:sp>
        <p:nvSpPr>
          <p:cNvPr id="10" name="Text 8"/>
          <p:cNvSpPr txBox="1"/>
          <p:nvPr/>
        </p:nvSpPr>
        <p:spPr>
          <a:xfrm>
            <a:off x="10835640" y="448056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B</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BACKUP · VERIFICATION &amp; DATA PROVENANCE</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How the reported numbers were obtained</a:t>
            </a:r>
            <a:endParaRPr lang="en-US" sz="3000" dirty="0"/>
          </a:p>
        </p:txBody>
      </p:sp>
      <p:sp>
        <p:nvSpPr>
          <p:cNvPr id="4" name="Text 2"/>
          <p:cNvSpPr txBox="1"/>
          <p:nvPr/>
        </p:nvSpPr>
        <p:spPr>
          <a:xfrm>
            <a:off x="548640" y="1463040"/>
            <a:ext cx="5669280" cy="365760"/>
          </a:xfrm>
          <a:prstGeom prst="rect">
            <a:avLst/>
          </a:prstGeom>
          <a:noFill/>
          <a:ln/>
        </p:spPr>
        <p:txBody>
          <a:bodyPr wrap="square" lIns="0" tIns="0" rIns="0" bIns="0" rtlCol="0" anchor="t"/>
          <a:lstStyle/>
          <a:p>
            <a:pPr indent="0" marL="0">
              <a:buNone/>
            </a:pPr>
            <a:r>
              <a:rPr lang="en-US" sz="1600" b="1" dirty="0">
                <a:solidFill>
                  <a:schemeClr val="tx2"/>
                </a:solidFill>
              </a:rPr>
              <a:t>System B verification gate (Sec. 3.6)</a:t>
            </a:r>
            <a:endParaRPr lang="en-US" sz="1600" dirty="0"/>
          </a:p>
        </p:txBody>
      </p:sp>
      <p:sp>
        <p:nvSpPr>
          <p:cNvPr id="5" name="Shape 3"/>
          <p:cNvSpPr/>
          <p:nvPr/>
        </p:nvSpPr>
        <p:spPr>
          <a:xfrm>
            <a:off x="548640" y="1920240"/>
            <a:ext cx="5669280" cy="868680"/>
          </a:xfrm>
          <a:prstGeom prst="roundRect">
            <a:avLst>
              <a:gd name="adj" fmla="val 8421"/>
            </a:avLst>
          </a:prstGeom>
          <a:solidFill>
            <a:schemeClr val="bg2"/>
          </a:solidFill>
          <a:ln/>
        </p:spPr>
      </p:sp>
      <p:sp>
        <p:nvSpPr>
          <p:cNvPr id="6" name="Shape 4"/>
          <p:cNvSpPr/>
          <p:nvPr/>
        </p:nvSpPr>
        <p:spPr>
          <a:xfrm>
            <a:off x="731520" y="2103120"/>
            <a:ext cx="438912" cy="438912"/>
          </a:xfrm>
          <a:prstGeom prst="ellipse">
            <a:avLst/>
          </a:prstGeom>
          <a:solidFill>
            <a:schemeClr val="accent2"/>
          </a:solidFill>
          <a:ln w="12700">
            <a:solidFill>
              <a:schemeClr val="accent2"/>
            </a:solidFill>
            <a:prstDash val="solid"/>
          </a:ln>
        </p:spPr>
      </p:sp>
      <p:sp>
        <p:nvSpPr>
          <p:cNvPr id="7" name="Text 5"/>
          <p:cNvSpPr txBox="1"/>
          <p:nvPr/>
        </p:nvSpPr>
        <p:spPr>
          <a:xfrm>
            <a:off x="731520" y="210312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Text 6"/>
          <p:cNvSpPr txBox="1"/>
          <p:nvPr/>
        </p:nvSpPr>
        <p:spPr>
          <a:xfrm>
            <a:off x="1371600" y="2029968"/>
            <a:ext cx="4663440" cy="292608"/>
          </a:xfrm>
          <a:prstGeom prst="rect">
            <a:avLst/>
          </a:prstGeom>
          <a:noFill/>
          <a:ln/>
        </p:spPr>
        <p:txBody>
          <a:bodyPr wrap="square" lIns="0" tIns="0" rIns="0" bIns="0" rtlCol="0" anchor="t"/>
          <a:lstStyle/>
          <a:p>
            <a:pPr indent="0" marL="0">
              <a:buNone/>
            </a:pPr>
            <a:r>
              <a:rPr lang="en-US" sz="1500" b="1" dirty="0">
                <a:solidFill>
                  <a:schemeClr val="tx2"/>
                </a:solidFill>
              </a:rPr>
              <a:t>Structural assertions</a:t>
            </a:r>
            <a:endParaRPr lang="en-US" sz="1500" dirty="0"/>
          </a:p>
        </p:txBody>
      </p:sp>
      <p:sp>
        <p:nvSpPr>
          <p:cNvPr id="9" name="Text 7"/>
          <p:cNvSpPr txBox="1"/>
          <p:nvPr/>
        </p:nvSpPr>
        <p:spPr>
          <a:xfrm>
            <a:off x="1371600" y="2340864"/>
            <a:ext cx="4663440" cy="411480"/>
          </a:xfrm>
          <a:prstGeom prst="rect">
            <a:avLst/>
          </a:prstGeom>
          <a:noFill/>
          <a:ln/>
        </p:spPr>
        <p:txBody>
          <a:bodyPr wrap="square" lIns="0" tIns="0" rIns="0" bIns="0" rtlCol="0" anchor="t"/>
          <a:lstStyle/>
          <a:p>
            <a:pPr indent="0" marL="0">
              <a:buNone/>
            </a:pPr>
            <a:r>
              <a:rPr lang="en-US" sz="1300" dirty="0">
                <a:solidFill>
                  <a:schemeClr val="tx1"/>
                </a:solidFill>
              </a:rPr>
              <a:t>Programmatic checks over the scene graph</a:t>
            </a:r>
            <a:endParaRPr lang="en-US" sz="1300" dirty="0"/>
          </a:p>
        </p:txBody>
      </p:sp>
      <p:sp>
        <p:nvSpPr>
          <p:cNvPr id="10" name="Shape 8"/>
          <p:cNvSpPr/>
          <p:nvPr/>
        </p:nvSpPr>
        <p:spPr>
          <a:xfrm>
            <a:off x="950976" y="2788920"/>
            <a:ext cx="0" cy="228600"/>
          </a:xfrm>
          <a:prstGeom prst="line">
            <a:avLst/>
          </a:prstGeom>
          <a:noFill/>
          <a:ln w="19050">
            <a:solidFill>
              <a:schemeClr val="accent3"/>
            </a:solidFill>
            <a:prstDash val="solid"/>
            <a:tailEnd type="triangle"/>
          </a:ln>
        </p:spPr>
      </p:sp>
      <p:sp>
        <p:nvSpPr>
          <p:cNvPr id="11" name="Shape 9"/>
          <p:cNvSpPr/>
          <p:nvPr/>
        </p:nvSpPr>
        <p:spPr>
          <a:xfrm>
            <a:off x="548640" y="3017520"/>
            <a:ext cx="5669280" cy="868680"/>
          </a:xfrm>
          <a:prstGeom prst="roundRect">
            <a:avLst>
              <a:gd name="adj" fmla="val 8421"/>
            </a:avLst>
          </a:prstGeom>
          <a:solidFill>
            <a:schemeClr val="bg2"/>
          </a:solidFill>
          <a:ln/>
        </p:spPr>
      </p:sp>
      <p:sp>
        <p:nvSpPr>
          <p:cNvPr id="12" name="Shape 10"/>
          <p:cNvSpPr/>
          <p:nvPr/>
        </p:nvSpPr>
        <p:spPr>
          <a:xfrm>
            <a:off x="731520" y="3200400"/>
            <a:ext cx="438912" cy="438912"/>
          </a:xfrm>
          <a:prstGeom prst="ellipse">
            <a:avLst/>
          </a:prstGeom>
          <a:solidFill>
            <a:schemeClr val="accent2"/>
          </a:solidFill>
          <a:ln w="12700">
            <a:solidFill>
              <a:schemeClr val="accent2"/>
            </a:solidFill>
            <a:prstDash val="solid"/>
          </a:ln>
        </p:spPr>
      </p:sp>
      <p:sp>
        <p:nvSpPr>
          <p:cNvPr id="13" name="Text 11"/>
          <p:cNvSpPr txBox="1"/>
          <p:nvPr/>
        </p:nvSpPr>
        <p:spPr>
          <a:xfrm>
            <a:off x="731520" y="320040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4" name="Text 12"/>
          <p:cNvSpPr txBox="1"/>
          <p:nvPr/>
        </p:nvSpPr>
        <p:spPr>
          <a:xfrm>
            <a:off x="1371600" y="3127248"/>
            <a:ext cx="4663440" cy="292608"/>
          </a:xfrm>
          <a:prstGeom prst="rect">
            <a:avLst/>
          </a:prstGeom>
          <a:noFill/>
          <a:ln/>
        </p:spPr>
        <p:txBody>
          <a:bodyPr wrap="square" lIns="0" tIns="0" rIns="0" bIns="0" rtlCol="0" anchor="t"/>
          <a:lstStyle/>
          <a:p>
            <a:pPr indent="0" marL="0">
              <a:buNone/>
            </a:pPr>
            <a:r>
              <a:rPr lang="en-US" sz="1500" b="1" dirty="0">
                <a:solidFill>
                  <a:schemeClr val="tx2"/>
                </a:solidFill>
              </a:rPr>
              <a:t>Clean play-mode console</a:t>
            </a:r>
            <a:endParaRPr lang="en-US" sz="1500" dirty="0"/>
          </a:p>
        </p:txBody>
      </p:sp>
      <p:sp>
        <p:nvSpPr>
          <p:cNvPr id="15" name="Text 13"/>
          <p:cNvSpPr txBox="1"/>
          <p:nvPr/>
        </p:nvSpPr>
        <p:spPr>
          <a:xfrm>
            <a:off x="1371600" y="3438144"/>
            <a:ext cx="4663440" cy="411480"/>
          </a:xfrm>
          <a:prstGeom prst="rect">
            <a:avLst/>
          </a:prstGeom>
          <a:noFill/>
          <a:ln/>
        </p:spPr>
        <p:txBody>
          <a:bodyPr wrap="square" lIns="0" tIns="0" rIns="0" bIns="0" rtlCol="0" anchor="t"/>
          <a:lstStyle/>
          <a:p>
            <a:pPr indent="0" marL="0">
              <a:buNone/>
            </a:pPr>
            <a:r>
              <a:rPr lang="en-US" sz="1300" dirty="0">
                <a:solidFill>
                  <a:schemeClr val="tx1"/>
                </a:solidFill>
              </a:rPr>
              <a:t>Any error or warning fails the gate (hard gate)</a:t>
            </a:r>
            <a:endParaRPr lang="en-US" sz="1300" dirty="0"/>
          </a:p>
        </p:txBody>
      </p:sp>
      <p:sp>
        <p:nvSpPr>
          <p:cNvPr id="16" name="Shape 14"/>
          <p:cNvSpPr/>
          <p:nvPr/>
        </p:nvSpPr>
        <p:spPr>
          <a:xfrm>
            <a:off x="950976" y="3886200"/>
            <a:ext cx="0" cy="228600"/>
          </a:xfrm>
          <a:prstGeom prst="line">
            <a:avLst/>
          </a:prstGeom>
          <a:noFill/>
          <a:ln w="19050">
            <a:solidFill>
              <a:schemeClr val="accent3"/>
            </a:solidFill>
            <a:prstDash val="solid"/>
            <a:tailEnd type="triangle"/>
          </a:ln>
        </p:spPr>
      </p:sp>
      <p:sp>
        <p:nvSpPr>
          <p:cNvPr id="17" name="Shape 15"/>
          <p:cNvSpPr/>
          <p:nvPr/>
        </p:nvSpPr>
        <p:spPr>
          <a:xfrm>
            <a:off x="548640" y="4114800"/>
            <a:ext cx="5669280" cy="1371600"/>
          </a:xfrm>
          <a:prstGeom prst="roundRect">
            <a:avLst>
              <a:gd name="adj" fmla="val 5333"/>
            </a:avLst>
          </a:prstGeom>
          <a:solidFill>
            <a:schemeClr val="bg2"/>
          </a:solidFill>
          <a:ln/>
        </p:spPr>
      </p:sp>
      <p:sp>
        <p:nvSpPr>
          <p:cNvPr id="18" name="Shape 16"/>
          <p:cNvSpPr/>
          <p:nvPr/>
        </p:nvSpPr>
        <p:spPr>
          <a:xfrm>
            <a:off x="731520" y="4297680"/>
            <a:ext cx="438912" cy="438912"/>
          </a:xfrm>
          <a:prstGeom prst="ellipse">
            <a:avLst/>
          </a:prstGeom>
          <a:solidFill>
            <a:schemeClr val="accent2"/>
          </a:solidFill>
          <a:ln w="12700">
            <a:solidFill>
              <a:schemeClr val="accent2"/>
            </a:solidFill>
            <a:prstDash val="solid"/>
          </a:ln>
        </p:spPr>
      </p:sp>
      <p:sp>
        <p:nvSpPr>
          <p:cNvPr id="19" name="Text 17"/>
          <p:cNvSpPr txBox="1"/>
          <p:nvPr/>
        </p:nvSpPr>
        <p:spPr>
          <a:xfrm>
            <a:off x="731520" y="429768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0" name="Text 18"/>
          <p:cNvSpPr txBox="1"/>
          <p:nvPr/>
        </p:nvSpPr>
        <p:spPr>
          <a:xfrm>
            <a:off x="1371600" y="4224528"/>
            <a:ext cx="4663440" cy="292608"/>
          </a:xfrm>
          <a:prstGeom prst="rect">
            <a:avLst/>
          </a:prstGeom>
          <a:noFill/>
          <a:ln/>
        </p:spPr>
        <p:txBody>
          <a:bodyPr wrap="square" lIns="0" tIns="0" rIns="0" bIns="0" rtlCol="0" anchor="t"/>
          <a:lstStyle/>
          <a:p>
            <a:pPr indent="0" marL="0">
              <a:buNone/>
            </a:pPr>
            <a:r>
              <a:rPr lang="en-US" sz="1500" b="1" dirty="0">
                <a:solidFill>
                  <a:schemeClr val="tx2"/>
                </a:solidFill>
              </a:rPr>
              <a:t>Headless session layer</a:t>
            </a:r>
            <a:endParaRPr lang="en-US" sz="1500" dirty="0"/>
          </a:p>
        </p:txBody>
      </p:sp>
      <p:sp>
        <p:nvSpPr>
          <p:cNvPr id="21" name="Text 19"/>
          <p:cNvSpPr txBox="1"/>
          <p:nvPr/>
        </p:nvSpPr>
        <p:spPr>
          <a:xfrm>
            <a:off x="1371600" y="4535424"/>
            <a:ext cx="4663440" cy="914400"/>
          </a:xfrm>
          <a:prstGeom prst="rect">
            <a:avLst/>
          </a:prstGeom>
          <a:noFill/>
          <a:ln/>
        </p:spPr>
        <p:txBody>
          <a:bodyPr wrap="square" lIns="0" tIns="0" rIns="0" bIns="0" rtlCol="0" anchor="t"/>
          <a:lstStyle/>
          <a:p>
            <a:pPr indent="0" marL="0">
              <a:buNone/>
            </a:pPr>
            <a:r>
              <a:rPr lang="en-US" sz="1300" dirty="0">
                <a:solidFill>
                  <a:schemeClr val="tx1"/>
                </a:solidFill>
              </a:rPr>
              <a:t>Drives session logic through reflection: generates and steps through complete sessions so labels, task sequences, scoring and text layout are verified in bulk</a:t>
            </a:r>
            <a:endParaRPr lang="en-US" sz="1300" dirty="0"/>
          </a:p>
        </p:txBody>
      </p:sp>
      <p:sp>
        <p:nvSpPr>
          <p:cNvPr id="22" name="Text 20"/>
          <p:cNvSpPr txBox="1"/>
          <p:nvPr/>
        </p:nvSpPr>
        <p:spPr>
          <a:xfrm>
            <a:off x="6583680" y="1463040"/>
            <a:ext cx="5059375" cy="365760"/>
          </a:xfrm>
          <a:prstGeom prst="rect">
            <a:avLst/>
          </a:prstGeom>
          <a:noFill/>
          <a:ln/>
        </p:spPr>
        <p:txBody>
          <a:bodyPr wrap="square" lIns="0" tIns="0" rIns="0" bIns="0" rtlCol="0" anchor="t"/>
          <a:lstStyle/>
          <a:p>
            <a:pPr indent="0" marL="0">
              <a:buNone/>
            </a:pPr>
            <a:r>
              <a:rPr lang="en-US" sz="1600" b="1" dirty="0">
                <a:solidFill>
                  <a:schemeClr val="tx2"/>
                </a:solidFill>
              </a:rPr>
              <a:t>Data provenance (Sec. 4)</a:t>
            </a:r>
            <a:endParaRPr lang="en-US" sz="1600" dirty="0"/>
          </a:p>
        </p:txBody>
      </p:sp>
      <p:sp>
        <p:nvSpPr>
          <p:cNvPr id="23" name="Text 21"/>
          <p:cNvSpPr txBox="1"/>
          <p:nvPr/>
        </p:nvSpPr>
        <p:spPr>
          <a:xfrm>
            <a:off x="6583680" y="1920240"/>
            <a:ext cx="5059375" cy="42062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System A counts are exact: enumerated from the component verification list and cross-checked against the task configuration file</a:t>
            </a:r>
            <a:endParaRPr lang="en-US" sz="1400" dirty="0"/>
          </a:p>
          <a:p>
            <a:pPr marL="203200" indent="-203200">
              <a:spcAft>
                <a:spcPts val="800"/>
              </a:spcAft>
              <a:buSzPct val="100000"/>
              <a:buChar char="•"/>
            </a:pPr>
            <a:r>
              <a:rPr lang="en-US" sz="1400" dirty="0">
                <a:solidFill>
                  <a:schemeClr val="tx1"/>
                </a:solidFill>
              </a:rPr>
              <a:t>Rack composition enumerated from the tagged tool set in the deployed scene</a:t>
            </a:r>
            <a:endParaRPr lang="en-US" sz="1400" dirty="0"/>
          </a:p>
          <a:p>
            <a:pPr marL="203200" indent="-203200">
              <a:spcAft>
                <a:spcPts val="800"/>
              </a:spcAft>
              <a:buSzPct val="100000"/>
              <a:buChar char="•"/>
            </a:pPr>
            <a:r>
              <a:rPr lang="en-US" sz="1400" dirty="0">
                <a:solidFill>
                  <a:schemeClr val="tx1"/>
                </a:solidFill>
              </a:rPr>
              <a:t>Interaction component counts: census over every object in the scene, including inactive objects</a:t>
            </a:r>
            <a:endParaRPr lang="en-US" sz="1400" dirty="0"/>
          </a:p>
          <a:p>
            <a:pPr marL="203200" indent="-203200">
              <a:spcAft>
                <a:spcPts val="800"/>
              </a:spcAft>
              <a:buSzPct val="100000"/>
              <a:buChar char="•"/>
            </a:pPr>
            <a:r>
              <a:rPr lang="en-US" sz="1400" dirty="0">
                <a:solidFill>
                  <a:schemeClr val="tx1"/>
                </a:solidFill>
              </a:rPr>
              <a:t>System B scene: 458 mesh instances, 2,106,767 triangles, 63 materials (1,172,734 triangles in the 88 tools)</a:t>
            </a:r>
            <a:endParaRPr lang="en-US" sz="1400" dirty="0"/>
          </a:p>
          <a:p>
            <a:pPr marL="203200" indent="-203200">
              <a:spcAft>
                <a:spcPts val="800"/>
              </a:spcAft>
              <a:buSzPct val="100000"/>
              <a:buChar char="•"/>
            </a:pPr>
            <a:r>
              <a:rPr lang="en-US" sz="1400" dirty="0">
                <a:solidFill>
                  <a:schemeClr val="tx1"/>
                </a:solidFill>
              </a:rPr>
              <a:t>No human participant data collected; all results are properties of the software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BACKUP · TASK MODELS IN DETAIL</a:t>
            </a:r>
            <a:endParaRPr lang="en-US" sz="1200" dirty="0"/>
          </a:p>
        </p:txBody>
      </p:sp>
      <p:sp>
        <p:nvSpPr>
          <p:cNvPr id="3" name="Text 0"/>
          <p:cNvSpPr/>
          <p:nvPr>
            <p:ph idx="101"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Component manifest and task-generation rules</a:t>
            </a:r>
            <a:endParaRPr lang="en-US" sz="3000" dirty="0"/>
          </a:p>
        </p:txBody>
      </p:sp>
      <p:graphicFrame>
        <p:nvGraphicFramePr>
          <p:cNvPr id="4" name="Chart 0" descr=""/>
          <p:cNvGraphicFramePr/>
          <p:nvPr/>
        </p:nvGraphicFramePr>
        <p:xfrm>
          <a:off x="548640" y="1371600"/>
          <a:ext cx="548640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5074920"/>
            <a:ext cx="5486400" cy="1097280"/>
          </a:xfrm>
          <a:prstGeom prst="roundRect">
            <a:avLst>
              <a:gd name="adj" fmla="val 6667"/>
            </a:avLst>
          </a:prstGeom>
          <a:solidFill>
            <a:schemeClr val="bg2"/>
          </a:solidFill>
          <a:ln/>
        </p:spPr>
      </p:sp>
      <p:sp>
        <p:nvSpPr>
          <p:cNvPr id="6" name="Text 3"/>
          <p:cNvSpPr txBox="1"/>
          <p:nvPr/>
        </p:nvSpPr>
        <p:spPr>
          <a:xfrm>
            <a:off x="731520" y="5120640"/>
            <a:ext cx="5120640" cy="1005840"/>
          </a:xfrm>
          <a:prstGeom prst="rect">
            <a:avLst/>
          </a:prstGeom>
          <a:noFill/>
          <a:ln/>
        </p:spPr>
        <p:txBody>
          <a:bodyPr wrap="square" lIns="0" tIns="0" rIns="0" bIns="0" rtlCol="0" anchor="ctr"/>
          <a:lstStyle/>
          <a:p>
            <a:pPr indent="0" marL="0">
              <a:buNone/>
            </a:pPr>
            <a:r>
              <a:rPr lang="en-US" sz="1300" b="1" dirty="0">
                <a:solidFill>
                  <a:schemeClr val="tx2"/>
                </a:solidFill>
              </a:rPr>
              <a:t>JSON step entry: </a:t>
            </a:r>
            <a:pPr indent="0" marL="0">
              <a:buNone/>
            </a:pPr>
            <a:r>
              <a:rPr lang="en-US" sz="1300" dirty="0">
                <a:solidFill>
                  <a:schemeClr val="tx1"/>
                </a:solidFill>
              </a:rPr>
              <a:t>step index · part name · action (place / insert / fasten / remove) · insertion direction. 24 of 26 parts belong to groups of geometrically identical members.</a:t>
            </a:r>
            <a:endParaRPr lang="en-US" sz="1300" dirty="0"/>
          </a:p>
        </p:txBody>
      </p:sp>
      <p:sp>
        <p:nvSpPr>
          <p:cNvPr id="7" name="Text 4"/>
          <p:cNvSpPr txBox="1"/>
          <p:nvPr/>
        </p:nvSpPr>
        <p:spPr>
          <a:xfrm>
            <a:off x="6492240" y="1463040"/>
            <a:ext cx="5150815" cy="365760"/>
          </a:xfrm>
          <a:prstGeom prst="rect">
            <a:avLst/>
          </a:prstGeom>
          <a:noFill/>
          <a:ln/>
        </p:spPr>
        <p:txBody>
          <a:bodyPr wrap="square" lIns="0" tIns="0" rIns="0" bIns="0" rtlCol="0" anchor="t"/>
          <a:lstStyle/>
          <a:p>
            <a:pPr indent="0" marL="0">
              <a:buNone/>
            </a:pPr>
            <a:r>
              <a:rPr lang="en-US" sz="1600" b="1" dirty="0">
                <a:solidFill>
                  <a:schemeClr val="tx2"/>
                </a:solidFill>
              </a:rPr>
              <a:t>System B job generation (seeded)</a:t>
            </a:r>
            <a:endParaRPr lang="en-US" sz="1600" dirty="0"/>
          </a:p>
        </p:txBody>
      </p:sp>
      <p:sp>
        <p:nvSpPr>
          <p:cNvPr id="8" name="Text 5"/>
          <p:cNvSpPr txBox="1"/>
          <p:nvPr/>
        </p:nvSpPr>
        <p:spPr>
          <a:xfrm>
            <a:off x="6492240" y="1874520"/>
            <a:ext cx="5150815" cy="23774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Coverage: every playable family appears at least once</a:t>
            </a:r>
            <a:endParaRPr lang="en-US" sz="1400" dirty="0"/>
          </a:p>
          <a:p>
            <a:pPr marL="203200" indent="-203200">
              <a:spcAft>
                <a:spcPts val="600"/>
              </a:spcAft>
              <a:buSzPct val="100000"/>
              <a:buChar char="•"/>
            </a:pPr>
            <a:r>
              <a:rPr lang="en-US" sz="1400" dirty="0">
                <a:solidFill>
                  <a:schemeClr val="tx1"/>
                </a:solidFill>
              </a:rPr>
              <a:t>Interleaving: identical neighbouring families separated after shuffling</a:t>
            </a:r>
            <a:endParaRPr lang="en-US" sz="1400" dirty="0"/>
          </a:p>
          <a:p>
            <a:pPr marL="203200" indent="-203200">
              <a:spcAft>
                <a:spcPts val="600"/>
              </a:spcAft>
              <a:buSzPct val="100000"/>
              <a:buChar char="•"/>
            </a:pPr>
            <a:r>
              <a:rPr lang="en-US" sz="1400" dirty="0">
                <a:solidFill>
                  <a:schemeClr val="tx1"/>
                </a:solidFill>
              </a:rPr>
              <a:t>No recurrence of a size within a fixed number of jobs</a:t>
            </a:r>
            <a:endParaRPr lang="en-US" sz="1400" dirty="0"/>
          </a:p>
          <a:p>
            <a:pPr marL="203200" indent="-203200">
              <a:spcAft>
                <a:spcPts val="600"/>
              </a:spcAft>
              <a:buSzPct val="100000"/>
              <a:buChar char="•"/>
            </a:pPr>
            <a:r>
              <a:rPr lang="en-US" sz="1400" dirty="0">
                <a:solidFill>
                  <a:schemeClr val="tx1"/>
                </a:solidFill>
              </a:rPr>
              <a:t>Assessment list uses the training list as an exclusion set</a:t>
            </a:r>
            <a:endParaRPr lang="en-US" sz="1400" dirty="0"/>
          </a:p>
          <a:p>
            <a:pPr marL="203200" indent="-203200">
              <a:spcAft>
                <a:spcPts val="600"/>
              </a:spcAft>
              <a:buSzPct val="100000"/>
              <a:buChar char="•"/>
            </a:pPr>
            <a:r>
              <a:rPr lang="en-US" sz="1400" dirty="0">
                <a:solidFill>
                  <a:schemeClr val="tx1"/>
                </a:solidFill>
              </a:rPr>
              <a:t>Same seed → same session, so an instructor can reissue it</a:t>
            </a:r>
            <a:endParaRPr lang="en-US" sz="1400" dirty="0"/>
          </a:p>
        </p:txBody>
      </p:sp>
      <p:sp>
        <p:nvSpPr>
          <p:cNvPr id="9" name="Text 6"/>
          <p:cNvSpPr txBox="1"/>
          <p:nvPr/>
        </p:nvSpPr>
        <p:spPr>
          <a:xfrm>
            <a:off x="6492240" y="4343400"/>
            <a:ext cx="5150815" cy="365760"/>
          </a:xfrm>
          <a:prstGeom prst="rect">
            <a:avLst/>
          </a:prstGeom>
          <a:noFill/>
          <a:ln/>
        </p:spPr>
        <p:txBody>
          <a:bodyPr wrap="square" lIns="0" tIns="0" rIns="0" bIns="0" rtlCol="0" anchor="t"/>
          <a:lstStyle/>
          <a:p>
            <a:pPr indent="0" marL="0">
              <a:buNone/>
            </a:pPr>
            <a:r>
              <a:rPr lang="en-US" sz="1600" b="1" dirty="0">
                <a:solidFill>
                  <a:schemeClr val="tx2"/>
                </a:solidFill>
              </a:rPr>
              <a:t>Assessment capture</a:t>
            </a:r>
            <a:endParaRPr lang="en-US" sz="1600" dirty="0"/>
          </a:p>
        </p:txBody>
      </p:sp>
      <p:sp>
        <p:nvSpPr>
          <p:cNvPr id="10" name="Text 7"/>
          <p:cNvSpPr txBox="1"/>
          <p:nvPr/>
        </p:nvSpPr>
        <p:spPr>
          <a:xfrm>
            <a:off x="6492240" y="4754880"/>
            <a:ext cx="5150815" cy="14630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Grasp state of every tool polled for a rising edge → one event per pickup</a:t>
            </a:r>
            <a:endParaRPr lang="en-US" sz="1400" dirty="0"/>
          </a:p>
          <a:p>
            <a:pPr marL="203200" indent="-203200">
              <a:spcAft>
                <a:spcPts val="600"/>
              </a:spcAft>
              <a:buSzPct val="100000"/>
              <a:buChar char="•"/>
            </a:pPr>
            <a:r>
              <a:rPr lang="en-US" sz="1400" dirty="0">
                <a:solidFill>
                  <a:schemeClr val="tx1"/>
                </a:solidFill>
              </a:rPr>
              <a:t>Weights 60 / 20 / 10 / 10: efficiency smallest, since rewarding speed on a torque operation would reinforce the wrong behaviour</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IEOM 2026 XR Trainers">
  <a:themeElements>
    <a:clrScheme name="IEOM 2026 XR Trainers">
      <a:dk1>
        <a:srgbClr val="1A1F2B"/>
      </a:dk1>
      <a:lt1>
        <a:srgbClr val="FFFFFF"/>
      </a:lt1>
      <a:dk2>
        <a:srgbClr val="16324F"/>
      </a:dk2>
      <a:lt2>
        <a:srgbClr val="EEF2F5"/>
      </a:lt2>
      <a:accent1>
        <a:srgbClr val="D9701A"/>
      </a:accent1>
      <a:accent2>
        <a:srgbClr val="1B8A84"/>
      </a:accent2>
      <a:accent3>
        <a:srgbClr val="5B6B7C"/>
      </a:accent3>
      <a:accent4>
        <a:srgbClr val="B23A48"/>
      </a:accent4>
      <a:accent5>
        <a:srgbClr val="F2B33D"/>
      </a:accent5>
      <a:accent6>
        <a:srgbClr val="8A99A8"/>
      </a:accent6>
      <a:hlink>
        <a:srgbClr val="1B6FA8"/>
      </a:hlink>
      <a:folHlink>
        <a:srgbClr val="6B4C9A"/>
      </a:folHlink>
    </a:clrScheme>
    <a:fontScheme name="IEOM 2026 XR Traine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Two VR Competency Trainers on a Common XR Platform</dc:title>
  <dc:subject>IEOM 2026 Bangalore</dc:subject>
  <dc:creator>V Vasu, Binet N B, Mula Hruthik</dc:creator>
  <cp:lastModifiedBy>V Vasu, Binet N B, Mula Hruthik</cp:lastModifiedBy>
  <cp:revision>1</cp:revision>
  <dcterms:created xsi:type="dcterms:W3CDTF">2026-10-27T08:39:52Z</dcterms:created>
  <dcterms:modified xsi:type="dcterms:W3CDTF">2026-10-27T08:39:52Z</dcterms:modified>
</cp:coreProperties>
</file>